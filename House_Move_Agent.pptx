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6923acea-2c84-9b14-5539-e0bb9da4e5e1}">
          <p14:sldIdLst>
            <p14:sldId id="256"/>
          </p14:sldIdLst>
        </p14:section>
        <p14:section name="Problem and solution" id="{4c2a3e03-4446-291e-a762-1aa9d5089aa4}">
          <p14:sldIdLst>
            <p14:sldId id="257"/>
            <p14:sldId id="258"/>
            <p14:sldId id="259"/>
          </p14:sldIdLst>
        </p14:section>
        <p14:section name="The two AI moments" id="{c944c1eb-4848-9a0c-6e48-df6403e2c2b3}">
          <p14:sldIdLst>
            <p14:sldId id="260"/>
            <p14:sldId id="261"/>
          </p14:sldIdLst>
        </p14:section>
        <p14:section name="How it works" id="{a9c8074b-71c7-25a6-5cf6-4badad5de0db}">
          <p14:sldIdLst>
            <p14:sldId id="262"/>
            <p14:sldId id="263"/>
            <p14:sldId id="264"/>
            <p14:sldId id="265"/>
            <p14:sldId id="266"/>
            <p14:sldId id="267"/>
          </p14:sldIdLst>
        </p14:section>
        <p14:section name="Results and next steps" id="{f50098be-5d4a-a6bf-8b38-6a2020ad43b7}">
          <p14:sldIdLst>
            <p14:sldId id="268"/>
            <p14:sldId id="269"/>
            <p14:sldId id="270"/>
            <p14:sldId id="27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1F4E4A"/>
                </a:solidFill>
                <a:latin typeface="+mj-lt"/>
              </a:defRPr>
            </a:pPr>
            <a:r>
              <a:rPr sz="1600" b="0" i="0" u="none" strike="noStrike">
                <a:solidFill>
                  <a:srgbClr val="1F4E4A"/>
                </a:solidFill>
                <a:latin typeface="+mj-lt"/>
              </a:rPr>
              <a:t>Live demo run: 17 tasks re-sorted</a:t>
            </a:r>
          </a:p>
        </c:rich>
      </c:tx>
      <c:layout/>
      <c:overlay val="0"/>
    </c:title>
    <c:autoTitleDeleted val="0"/>
    <c:plotArea>
      <c:layout/>
      <c:barChart>
        <c:barDir val="bar"/>
        <c:grouping val="clustered"/>
        <c:varyColors val="0"/>
        <c:ser>
          <c:idx val="0"/>
          <c:order val="0"/>
          <c:tx>
            <c:strRef>
              <c:f>Sheet1!$B$1</c:f>
              <c:strCache>
                <c:ptCount val="1"/>
                <c:pt idx="0">
                  <c:v>Tasks</c:v>
                </c:pt>
              </c:strCache>
            </c:strRef>
          </c:tx>
          <c:spPr>
            <a:solidFill>
              <a:srgbClr val="2F7D6D"/>
            </a:solidFill>
            <a:effectLst/>
          </c:spPr>
          <c:invertIfNegative val="0"/>
          <c:dLbls>
            <c:numFmt formatCode="#,##0" sourceLinked="0"/>
            <c:txPr>
              <a:bodyPr/>
              <a:lstStyle/>
              <a:p>
                <a:pPr>
                  <a:defRPr b="0" i="0" strike="noStrike" sz="1400" u="none">
                    <a:solidFill>
                      <a:srgbClr val="1E2B2A"/>
                    </a:solidFill>
                    <a:latin typeface="+mn-lt"/>
                  </a:defRPr>
                </a:pPr>
              </a:p>
            </c:txPr>
            <c:showLegendKey val="0"/>
            <c:showVal val="1"/>
            <c:showCatName val="0"/>
            <c:showSerName val="0"/>
            <c:showPercent val="0"/>
            <c:showBubbleSize val="0"/>
            <c:showLeaderLines val="0"/>
          </c:dLbls>
          <c:cat>
            <c:multiLvlStrRef>
              <c:f>Sheet1!$A$2:$A$5</c:f>
              <c:multiLvlStrCache>
                <c:ptCount val="4"/>
                <c:lvl>
                  <c:pt idx="0">
                    <c:v>Already sent: correction drafted</c:v>
                  </c:pt>
                  <c:pt idx="1">
                    <c:v>Bookings to move (broadband, post, bank)</c:v>
                  </c:pt>
                  <c:pt idx="2">
                    <c:v>Not sent yet: updated automatically</c:v>
                  </c:pt>
                  <c:pt idx="3">
                    <c:v>Unchanged (tied to exchange)</c:v>
                  </c:pt>
                </c:lvl>
              </c:multiLvlStrCache>
            </c:multiLvlStrRef>
          </c:cat>
          <c:val>
            <c:numRef>
              <c:f>Sheet1!$B$2:$B$5</c:f>
              <c:numCache>
                <c:formatCode>General</c:formatCode>
                <c:ptCount val="4"/>
                <c:pt idx="0">
                  <c:v>13</c:v>
                </c:pt>
                <c:pt idx="1">
                  <c:v>3</c:v>
                </c:pt>
                <c:pt idx="2">
                  <c:v>0</c:v>
                </c:pt>
                <c:pt idx="3">
                  <c:v>1</c:v>
                </c:pt>
              </c:numCache>
            </c:numRef>
          </c:val>
        </c:ser>
        <c:dLbls>
          <c:numFmt formatCode="#,##0" sourceLinked="0"/>
          <c:txPr>
            <a:bodyPr/>
            <a:lstStyle/>
            <a:p>
              <a:pPr>
                <a:defRPr b="0" i="0" strike="noStrike" sz="1400" u="none">
                  <a:solidFill>
                    <a:srgbClr val="1E2B2A"/>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400" b="0" i="0" u="none" strike="noStrike">
                <a:solidFill>
                  <a:srgbClr val="1E2B2A"/>
                </a:solidFill>
                <a:latin typeface="+mn-lt"/>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with the customer moment: the mortgage completes, and now there are 15 to 30 organisations to tell. This assistant finds them from the customer's own payments, plans and drafts everything, and sends nothing without approval.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Fines are real and sourced: DVLA up to £1,000 for licence and log book; councils can charge £70 for not notifying. Banks see the cost as servicing contacts after the move.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journey left to right. The approval step is the hinge: everything before it is preparation, everything after it acts only on what the customer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agents and rules behind both doors. The bank route is the strongest because the bank already holds the payments and the references; standalone shows the product works for everyone.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Code first tidies descriptors (references and DD markers stripped) and groups them; the LLM then classifies and infers life facts. The highlighted rows are the inferences a checklist cannot make.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from a live run after everything had been sent. Each task keeps its status, draft and history; only its dates are recomputed, then code decides what needs a correction or a rebooking.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to 'is this just a checklist?': the checklist parts are deliberately code, so they are auditable; the AI does the parts a checklist cannot.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Pipeline steps (profile, discovery, obligations, timeline, comms, tracker) are called in order; the four specialists use AAOSA delegation. Show the nsflow graph during the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 LLM agents and 26 coded tools. The coordinator is the only agent the customer talks to. Pipeline agents are called in order; the four specialists use AAOSA. Every deadline, fee, send and date change runs through a coded tool, not the LLM.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control is enforced in code and replayed as an attack in test_session_security.py: forged approved state is discarded, another customer's record will not open, tampered tokens are refused. Approvals, imports and deletions need a one-time code the customer types; middleware records their real message and the tool checks it, so an LLM or an injected provider reply cannot approve. Next fix: move reply handling into an agent with no send tools.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Without these rules a Belfast to Leeds move would have been told to contact 'Belfast council tax', which does not exist: Northern Ireland uses domestic rates.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public data, no API keys. GP practices and phone numbers come live from the NHS; schools from the Department for Education's register, rebuilt daily if needed.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number is from the repository: agents and tools in the network file, rules in obligations_rules.json, tests from pytest.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explicit that these are pilot metrics. The insurance offer is opt-in, labelled indicative and never pre-selected.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Banking is first because it restores the strongest feature, automatic account references, for customers of any bank.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order: discovery, live council lookup, the dated plan with local contacts, drafts and approval, the date slip, a provider reply, the audit trail.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1828800"/>
            <a:ext cx="6949440" cy="1463040"/>
          </a:xfrm>
          <a:prstGeom prst="rect">
            <a:avLst/>
          </a:prstGeom>
          <a:noFill/>
          <a:ln/>
        </p:spPr>
        <p:txBody>
          <a:bodyPr wrap="square" rtlCol="0"/>
          <a:lstStyle>
            <a:lvl1pPr indent="0" marL="0">
              <a:buNone/>
              <a:defRPr lang="en-US" sz="5400" b="1" dirty="0">
                <a:solidFill>
                  <a:schemeClr val="bg1"/>
                </a:solidFill>
              </a:defRPr>
            </a:lvl1pPr>
          </a:lstStyle>
          <a:p>
            <a:pPr indent="0" marL="0">
              <a:buNone/>
            </a:pPr>
            <a:endParaRPr lang="en-US" sz="5400" dirty="0"/>
          </a:p>
        </p:txBody>
      </p:sp>
      <p:sp>
        <p:nvSpPr>
          <p:cNvPr id="3" name="Text 0"/>
          <p:cNvSpPr/>
          <p:nvPr>
            <p:ph idx="101" type="body" hasCustomPrompt="1"/>
          </p:nvPr>
        </p:nvSpPr>
        <p:spPr>
          <a:xfrm>
            <a:off x="731520" y="3429000"/>
            <a:ext cx="6766560" cy="1463040"/>
          </a:xfrm>
          <a:prstGeom prst="rect">
            <a:avLst/>
          </a:prstGeom>
          <a:noFill/>
          <a:ln/>
        </p:spPr>
        <p:txBody>
          <a:bodyPr wrap="square" rtlCol="0"/>
          <a:lstStyle>
            <a:lvl1pPr indent="0" marL="0">
              <a:buNone/>
              <a:defRPr lang="en-US" sz="2200" dirty="0">
                <a:solidFill>
                  <a:schemeClr val="accent4"/>
                </a:solidFill>
              </a:defRPr>
            </a:lvl1pPr>
          </a:lstStyle>
          <a:p>
            <a:pPr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lstStyle>
            <a:lvl1pPr indent="0" marL="0">
              <a:buNone/>
              <a:defRPr lang="en-US" sz="3400" b="1" dirty="0">
                <a:solidFill>
                  <a:schemeClr val="tx2"/>
                </a:solidFill>
              </a:defRPr>
            </a:lvl1pPr>
          </a:lstStyle>
          <a:p>
            <a:pPr indent="0" marL="0">
              <a:buNone/>
            </a:pPr>
            <a:endParaRPr lang="en-US" sz="3400" dirty="0"/>
          </a:p>
        </p:txBody>
      </p:sp>
      <p:sp>
        <p:nvSpPr>
          <p:cNvPr id="3" name="Text 0"/>
          <p:cNvSpPr/>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chemeClr val="accent6"/>
                </a:solidFill>
              </a:rPr>
              <a:t>House Move Agent  ·  Neuro SAN hackathon  ·  synthetic data only</a:t>
            </a:r>
            <a:endParaRPr lang="en-US" sz="10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slideLayout" Target="../slideLayouts/slideLayout3.xml"/><Relationship Id="rId8"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3.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3.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slideLayout" Target="../slideLayouts/slideLayout3.xml"/><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slideLayout" Target="../slideLayouts/slideLayout3.xml"/><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731520" y="1828800"/>
            <a:ext cx="6949440" cy="1463040"/>
          </a:xfrm>
          <a:prstGeom prst="rect">
            <a:avLst/>
          </a:prstGeom>
          <a:noFill/>
          <a:ln/>
        </p:spPr>
        <p:txBody>
          <a:bodyPr wrap="square" lIns="0" tIns="0" rIns="0" bIns="0" rtlCol="0" anchor="b"/>
          <a:lstStyle/>
          <a:p>
            <a:pPr indent="0" marL="0">
              <a:buNone/>
            </a:pPr>
            <a:r>
              <a:rPr lang="en-US" sz="5400" b="1" dirty="0">
                <a:solidFill>
                  <a:schemeClr val="bg1"/>
                </a:solidFill>
              </a:rPr>
              <a:t>House Move Agent</a:t>
            </a:r>
            <a:endParaRPr lang="en-US" sz="5400" dirty="0"/>
          </a:p>
        </p:txBody>
      </p:sp>
      <p:sp>
        <p:nvSpPr>
          <p:cNvPr id="3" name="Text 0"/>
          <p:cNvSpPr/>
          <p:nvPr>
            <p:ph idx="101" type="body" hasCustomPrompt="1"/>
          </p:nvPr>
        </p:nvSpPr>
        <p:spPr>
          <a:xfrm>
            <a:off x="731520" y="3429000"/>
            <a:ext cx="6766560" cy="1463040"/>
          </a:xfrm>
          <a:prstGeom prst="rect">
            <a:avLst/>
          </a:prstGeom>
          <a:noFill/>
          <a:ln/>
        </p:spPr>
        <p:txBody>
          <a:bodyPr wrap="square" lIns="0" tIns="0" rIns="0" bIns="0" rtlCol="0" anchor="t"/>
          <a:lstStyle/>
          <a:p>
            <a:pPr indent="0" marL="0">
              <a:buNone/>
            </a:pPr>
            <a:r>
              <a:rPr lang="en-US" sz="2200" dirty="0">
                <a:solidFill>
                  <a:schemeClr val="accent4"/>
                </a:solidFill>
              </a:rPr>
              <a:t>Tell everyone you're moving: on time, in the right order, and only with your approval</a:t>
            </a:r>
            <a:endParaRPr lang="en-US" sz="2200" dirty="0"/>
          </a:p>
        </p:txBody>
      </p:sp>
      <p:sp>
        <p:nvSpPr>
          <p:cNvPr id="4" name="Text 2"/>
          <p:cNvSpPr txBox="1"/>
          <p:nvPr/>
        </p:nvSpPr>
        <p:spPr>
          <a:xfrm>
            <a:off x="731520" y="5852160"/>
            <a:ext cx="7315200" cy="365760"/>
          </a:xfrm>
          <a:prstGeom prst="rect">
            <a:avLst/>
          </a:prstGeom>
          <a:noFill/>
          <a:ln/>
        </p:spPr>
        <p:txBody>
          <a:bodyPr wrap="square" lIns="0" tIns="0" rIns="0" bIns="0" rtlCol="0" anchor="ctr"/>
          <a:lstStyle/>
          <a:p>
            <a:pPr indent="0" marL="0">
              <a:buNone/>
            </a:pPr>
            <a:r>
              <a:rPr lang="en-US" sz="1400" dirty="0">
                <a:solidFill>
                  <a:schemeClr val="bg2"/>
                </a:solidFill>
              </a:rPr>
              <a:t>Multi-agent assistant built on Neuro SAN  ·  13 agents  ·  synthetic data</a:t>
            </a:r>
            <a:endParaRPr lang="en-US" sz="1400" dirty="0"/>
          </a:p>
        </p:txBody>
      </p:sp>
      <p:sp>
        <p:nvSpPr>
          <p:cNvPr id="5" name="hero circle"/>
          <p:cNvSpPr/>
          <p:nvPr/>
        </p:nvSpPr>
        <p:spPr>
          <a:xfrm>
            <a:off x="8503920" y="1463040"/>
            <a:ext cx="3108960" cy="3108960"/>
          </a:xfrm>
          <a:prstGeom prst="ellipse">
            <a:avLst/>
          </a:prstGeom>
          <a:solidFill>
            <a:schemeClr val="accent1"/>
          </a:solidFill>
          <a:ln/>
        </p:spPr>
      </p:sp>
      <p:pic>
        <p:nvPicPr>
          <p:cNvPr id="6" name="hero icon" descr="preencoded.png">    </p:cNvPr>
          <p:cNvPicPr>
            <a:picLocks noChangeAspect="1"/>
          </p:cNvPicPr>
          <p:nvPr/>
        </p:nvPicPr>
        <p:blipFill>
          <a:blip r:embed="rId1"/>
          <a:stretch>
            <a:fillRect/>
          </a:stretch>
        </p:blipFill>
        <p:spPr>
          <a:xfrm>
            <a:off x="9235440" y="2148840"/>
            <a:ext cx="1645920" cy="164592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indent="0" marL="0">
              <a:buNone/>
            </a:pPr>
            <a:r>
              <a:rPr lang="en-US" sz="3400" b="1" dirty="0">
                <a:solidFill>
                  <a:schemeClr val="tx2"/>
                </a:solidFill>
              </a:rPr>
              <a:t>Moving home means telling 15 to 30 organisations</a:t>
            </a:r>
            <a:endParaRPr lang="en-US" sz="3400" dirty="0"/>
          </a:p>
        </p:txBody>
      </p:sp>
      <p:sp>
        <p:nvSpPr>
          <p:cNvPr id="3" name="stat card 1"/>
          <p:cNvSpPr/>
          <p:nvPr/>
        </p:nvSpPr>
        <p:spPr>
          <a:xfrm>
            <a:off x="548640" y="1554480"/>
            <a:ext cx="3474720" cy="2926080"/>
          </a:xfrm>
          <a:prstGeom prst="roundRect">
            <a:avLst>
              <a:gd name="adj" fmla="val 3750"/>
            </a:avLst>
          </a:prstGeom>
          <a:solidFill>
            <a:schemeClr val="bg2"/>
          </a:solidFill>
          <a:ln/>
        </p:spPr>
      </p:sp>
      <p:sp>
        <p:nvSpPr>
          <p:cNvPr id="4" name="stat 1"/>
          <p:cNvSpPr txBox="1"/>
          <p:nvPr/>
        </p:nvSpPr>
        <p:spPr>
          <a:xfrm>
            <a:off x="822960" y="1783080"/>
            <a:ext cx="2926080" cy="1280160"/>
          </a:xfrm>
          <a:prstGeom prst="rect">
            <a:avLst/>
          </a:prstGeom>
          <a:noFill/>
          <a:ln/>
        </p:spPr>
        <p:txBody>
          <a:bodyPr wrap="square" lIns="0" tIns="0" rIns="0" bIns="0" rtlCol="0" anchor="ctr"/>
          <a:lstStyle/>
          <a:p>
            <a:pPr indent="0" marL="0">
              <a:buNone/>
            </a:pPr>
            <a:r>
              <a:rPr lang="en-US" sz="6000" b="1" dirty="0">
                <a:solidFill>
                  <a:schemeClr val="accent2"/>
                </a:solidFill>
                <a:latin typeface="Cambria" pitchFamily="34" charset="0"/>
                <a:ea typeface="Cambria" pitchFamily="34" charset="-122"/>
                <a:cs typeface="Cambria" pitchFamily="34" charset="-120"/>
              </a:rPr>
              <a:t>15–30</a:t>
            </a:r>
            <a:endParaRPr lang="en-US" sz="6000" dirty="0"/>
          </a:p>
        </p:txBody>
      </p:sp>
      <p:sp>
        <p:nvSpPr>
          <p:cNvPr id="5" name="Text 3"/>
          <p:cNvSpPr txBox="1"/>
          <p:nvPr/>
        </p:nvSpPr>
        <p:spPr>
          <a:xfrm>
            <a:off x="822960" y="3154680"/>
            <a:ext cx="2926080" cy="1097280"/>
          </a:xfrm>
          <a:prstGeom prst="rect">
            <a:avLst/>
          </a:prstGeom>
          <a:noFill/>
          <a:ln/>
        </p:spPr>
        <p:txBody>
          <a:bodyPr wrap="square" lIns="0" tIns="0" rIns="0" bIns="0" rtlCol="0" anchor="t"/>
          <a:lstStyle/>
          <a:p>
            <a:pPr indent="0" marL="0">
              <a:buNone/>
            </a:pPr>
            <a:r>
              <a:rPr lang="en-US" sz="1800" dirty="0">
                <a:solidFill>
                  <a:schemeClr val="tx1"/>
                </a:solidFill>
              </a:rPr>
              <a:t>organisations to tell about a move</a:t>
            </a:r>
            <a:endParaRPr lang="en-US" sz="1800" dirty="0"/>
          </a:p>
        </p:txBody>
      </p:sp>
      <p:sp>
        <p:nvSpPr>
          <p:cNvPr id="6" name="stat card 2"/>
          <p:cNvSpPr/>
          <p:nvPr/>
        </p:nvSpPr>
        <p:spPr>
          <a:xfrm>
            <a:off x="4297680" y="1554480"/>
            <a:ext cx="3474720" cy="2926080"/>
          </a:xfrm>
          <a:prstGeom prst="roundRect">
            <a:avLst>
              <a:gd name="adj" fmla="val 3750"/>
            </a:avLst>
          </a:prstGeom>
          <a:solidFill>
            <a:schemeClr val="bg2"/>
          </a:solidFill>
          <a:ln/>
        </p:spPr>
      </p:sp>
      <p:sp>
        <p:nvSpPr>
          <p:cNvPr id="7" name="stat 2"/>
          <p:cNvSpPr txBox="1"/>
          <p:nvPr/>
        </p:nvSpPr>
        <p:spPr>
          <a:xfrm>
            <a:off x="4572000" y="1783080"/>
            <a:ext cx="2926080" cy="1280160"/>
          </a:xfrm>
          <a:prstGeom prst="rect">
            <a:avLst/>
          </a:prstGeom>
          <a:noFill/>
          <a:ln/>
        </p:spPr>
        <p:txBody>
          <a:bodyPr wrap="square" lIns="0" tIns="0" rIns="0" bIns="0" rtlCol="0" anchor="ctr"/>
          <a:lstStyle/>
          <a:p>
            <a:pPr indent="0" marL="0">
              <a:buNone/>
            </a:pPr>
            <a:r>
              <a:rPr lang="en-US" sz="6000" b="1" dirty="0">
                <a:solidFill>
                  <a:schemeClr val="accent1"/>
                </a:solidFill>
                <a:latin typeface="Cambria" pitchFamily="34" charset="0"/>
                <a:ea typeface="Cambria" pitchFamily="34" charset="-122"/>
                <a:cs typeface="Cambria" pitchFamily="34" charset="-120"/>
              </a:rPr>
              <a:t>£1,000</a:t>
            </a:r>
            <a:endParaRPr lang="en-US" sz="6000" dirty="0"/>
          </a:p>
        </p:txBody>
      </p:sp>
      <p:sp>
        <p:nvSpPr>
          <p:cNvPr id="8" name="Text 6"/>
          <p:cNvSpPr txBox="1"/>
          <p:nvPr/>
        </p:nvSpPr>
        <p:spPr>
          <a:xfrm>
            <a:off x="4572000" y="3154680"/>
            <a:ext cx="2926080" cy="1097280"/>
          </a:xfrm>
          <a:prstGeom prst="rect">
            <a:avLst/>
          </a:prstGeom>
          <a:noFill/>
          <a:ln/>
        </p:spPr>
        <p:txBody>
          <a:bodyPr wrap="square" lIns="0" tIns="0" rIns="0" bIns="0" rtlCol="0" anchor="t"/>
          <a:lstStyle/>
          <a:p>
            <a:pPr indent="0" marL="0">
              <a:buNone/>
            </a:pPr>
            <a:r>
              <a:rPr lang="en-US" sz="1800" dirty="0">
                <a:solidFill>
                  <a:schemeClr val="tx1"/>
                </a:solidFill>
              </a:rPr>
              <a:t>maximum fine for not telling DVLA your new address</a:t>
            </a:r>
            <a:endParaRPr lang="en-US" sz="1800" dirty="0"/>
          </a:p>
        </p:txBody>
      </p:sp>
      <p:sp>
        <p:nvSpPr>
          <p:cNvPr id="9" name="stat card 3"/>
          <p:cNvSpPr/>
          <p:nvPr/>
        </p:nvSpPr>
        <p:spPr>
          <a:xfrm>
            <a:off x="8046720" y="1554480"/>
            <a:ext cx="3474720" cy="2926080"/>
          </a:xfrm>
          <a:prstGeom prst="roundRect">
            <a:avLst>
              <a:gd name="adj" fmla="val 3750"/>
            </a:avLst>
          </a:prstGeom>
          <a:solidFill>
            <a:schemeClr val="bg2"/>
          </a:solidFill>
          <a:ln/>
        </p:spPr>
      </p:sp>
      <p:sp>
        <p:nvSpPr>
          <p:cNvPr id="10" name="stat 3"/>
          <p:cNvSpPr txBox="1"/>
          <p:nvPr/>
        </p:nvSpPr>
        <p:spPr>
          <a:xfrm>
            <a:off x="8321040" y="1783080"/>
            <a:ext cx="2926080" cy="1280160"/>
          </a:xfrm>
          <a:prstGeom prst="rect">
            <a:avLst/>
          </a:prstGeom>
          <a:noFill/>
          <a:ln/>
        </p:spPr>
        <p:txBody>
          <a:bodyPr wrap="square" lIns="0" tIns="0" rIns="0" bIns="0" rtlCol="0" anchor="ctr"/>
          <a:lstStyle/>
          <a:p>
            <a:pPr indent="0" marL="0">
              <a:buNone/>
            </a:pPr>
            <a:r>
              <a:rPr lang="en-US" sz="6000" b="1" dirty="0">
                <a:solidFill>
                  <a:schemeClr val="accent5"/>
                </a:solidFill>
                <a:latin typeface="Cambria" pitchFamily="34" charset="0"/>
                <a:ea typeface="Cambria" pitchFamily="34" charset="-122"/>
                <a:cs typeface="Cambria" pitchFamily="34" charset="-120"/>
              </a:rPr>
              <a:t>£70</a:t>
            </a:r>
            <a:endParaRPr lang="en-US" sz="6000" dirty="0"/>
          </a:p>
        </p:txBody>
      </p:sp>
      <p:sp>
        <p:nvSpPr>
          <p:cNvPr id="11" name="Text 9"/>
          <p:cNvSpPr txBox="1"/>
          <p:nvPr/>
        </p:nvSpPr>
        <p:spPr>
          <a:xfrm>
            <a:off x="8321040" y="3154680"/>
            <a:ext cx="2926080" cy="1097280"/>
          </a:xfrm>
          <a:prstGeom prst="rect">
            <a:avLst/>
          </a:prstGeom>
          <a:noFill/>
          <a:ln/>
        </p:spPr>
        <p:txBody>
          <a:bodyPr wrap="square" lIns="0" tIns="0" rIns="0" bIns="0" rtlCol="0" anchor="t"/>
          <a:lstStyle/>
          <a:p>
            <a:pPr indent="0" marL="0">
              <a:buNone/>
            </a:pPr>
            <a:r>
              <a:rPr lang="en-US" sz="1800" dirty="0">
                <a:solidFill>
                  <a:schemeClr val="tx1"/>
                </a:solidFill>
              </a:rPr>
              <a:t>council tax penalty for not notifying a move</a:t>
            </a:r>
            <a:endParaRPr lang="en-US" sz="1800" dirty="0"/>
          </a:p>
        </p:txBody>
      </p:sp>
      <p:sp>
        <p:nvSpPr>
          <p:cNvPr id="12" name="Text 10"/>
          <p:cNvSpPr txBox="1"/>
          <p:nvPr/>
        </p:nvSpPr>
        <p:spPr>
          <a:xfrm>
            <a:off x="548640" y="4846320"/>
            <a:ext cx="11064240" cy="731520"/>
          </a:xfrm>
          <a:prstGeom prst="rect">
            <a:avLst/>
          </a:prstGeom>
          <a:noFill/>
          <a:ln/>
        </p:spPr>
        <p:txBody>
          <a:bodyPr wrap="square" lIns="0" tIns="0" rIns="0" bIns="0" rtlCol="0" anchor="ctr"/>
          <a:lstStyle/>
          <a:p>
            <a:pPr indent="0" marL="0">
              <a:buNone/>
            </a:pPr>
            <a:r>
              <a:rPr lang="en-US" sz="1800" dirty="0">
                <a:solidFill>
                  <a:schemeClr val="tx1"/>
                </a:solidFill>
              </a:rPr>
              <a:t>People forget some, find out late, and then call their bank and providers to fix the gaps. Some of those gaps are legal obligations.</a:t>
            </a:r>
            <a:endParaRPr lang="en-US" sz="1800" dirty="0"/>
          </a:p>
        </p:txBody>
      </p:sp>
      <p:sp>
        <p:nvSpPr>
          <p:cNvPr id="13" name="Text 11"/>
          <p:cNvSpPr txBox="1"/>
          <p:nvPr/>
        </p:nvSpPr>
        <p:spPr>
          <a:xfrm>
            <a:off x="548640" y="5760720"/>
            <a:ext cx="11064240" cy="320040"/>
          </a:xfrm>
          <a:prstGeom prst="rect">
            <a:avLst/>
          </a:prstGeom>
          <a:noFill/>
          <a:ln/>
        </p:spPr>
        <p:txBody>
          <a:bodyPr wrap="square" lIns="0" tIns="0" rIns="0" bIns="0" rtlCol="0" anchor="ctr"/>
          <a:lstStyle/>
          <a:p>
            <a:pPr indent="0" marL="0">
              <a:buNone/>
            </a:pPr>
            <a:r>
              <a:rPr lang="en-US" sz="1100" dirty="0">
                <a:solidFill>
                  <a:schemeClr val="accent6"/>
                </a:solidFill>
              </a:rPr>
              <a:t>Sources: gov.uk (DVLA), Local Government Finance Act 1992 Sch. 3 (legislation.gov.uk)</a:t>
            </a:r>
            <a:endParaRPr lang="en-US" sz="11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indent="0" marL="0">
              <a:buNone/>
            </a:pPr>
            <a:r>
              <a:rPr lang="en-US" sz="3400" b="1" dirty="0">
                <a:solidFill>
                  <a:schemeClr val="tx2"/>
                </a:solidFill>
              </a:rPr>
              <a:t>One conversation, six steps</a:t>
            </a:r>
            <a:endParaRPr lang="en-US" sz="3400" dirty="0"/>
          </a:p>
        </p:txBody>
      </p:sp>
      <p:sp>
        <p:nvSpPr>
          <p:cNvPr id="3" name="Discover circle"/>
          <p:cNvSpPr/>
          <p:nvPr/>
        </p:nvSpPr>
        <p:spPr>
          <a:xfrm>
            <a:off x="960120" y="1600200"/>
            <a:ext cx="914400" cy="914400"/>
          </a:xfrm>
          <a:prstGeom prst="ellipse">
            <a:avLst/>
          </a:prstGeom>
          <a:solidFill>
            <a:schemeClr val="accent2"/>
          </a:solidFill>
          <a:ln/>
        </p:spPr>
      </p:sp>
      <p:pic>
        <p:nvPicPr>
          <p:cNvPr id="4" name="Discover icon" descr="preencoded.png">    </p:cNvPr>
          <p:cNvPicPr>
            <a:picLocks noChangeAspect="1"/>
          </p:cNvPicPr>
          <p:nvPr/>
        </p:nvPicPr>
        <p:blipFill>
          <a:blip r:embed="rId1"/>
          <a:stretch>
            <a:fillRect/>
          </a:stretch>
        </p:blipFill>
        <p:spPr>
          <a:xfrm>
            <a:off x="1188720" y="1828800"/>
            <a:ext cx="457200" cy="457200"/>
          </a:xfrm>
          <a:prstGeom prst="rect">
            <a:avLst/>
          </a:prstGeom>
        </p:spPr>
      </p:pic>
      <p:sp>
        <p:nvSpPr>
          <p:cNvPr id="5" name="Text 2"/>
          <p:cNvSpPr txBox="1"/>
          <p:nvPr/>
        </p:nvSpPr>
        <p:spPr>
          <a:xfrm>
            <a:off x="548640" y="2697480"/>
            <a:ext cx="1737360" cy="457200"/>
          </a:xfrm>
          <a:prstGeom prst="rect">
            <a:avLst/>
          </a:prstGeom>
          <a:noFill/>
          <a:ln/>
        </p:spPr>
        <p:txBody>
          <a:bodyPr wrap="square" lIns="0" tIns="0" rIns="0" bIns="0" rtlCol="0" anchor="ctr"/>
          <a:lstStyle/>
          <a:p>
            <a:pPr algn="ctr" indent="0" marL="0">
              <a:buNone/>
            </a:pPr>
            <a:r>
              <a:rPr lang="en-US" sz="1800" b="1" dirty="0">
                <a:solidFill>
                  <a:schemeClr val="tx2"/>
                </a:solidFill>
              </a:rPr>
              <a:t>1. Discover</a:t>
            </a:r>
            <a:endParaRPr lang="en-US" sz="1800" dirty="0"/>
          </a:p>
        </p:txBody>
      </p:sp>
      <p:sp>
        <p:nvSpPr>
          <p:cNvPr id="6" name="Text 3"/>
          <p:cNvSpPr txBox="1"/>
          <p:nvPr/>
        </p:nvSpPr>
        <p:spPr>
          <a:xfrm>
            <a:off x="548640" y="3200400"/>
            <a:ext cx="1737360" cy="1645920"/>
          </a:xfrm>
          <a:prstGeom prst="rect">
            <a:avLst/>
          </a:prstGeom>
          <a:noFill/>
          <a:ln/>
        </p:spPr>
        <p:txBody>
          <a:bodyPr wrap="square" lIns="0" tIns="0" rIns="0" bIns="0" rtlCol="0" anchor="t"/>
          <a:lstStyle/>
          <a:p>
            <a:pPr algn="ctr" indent="0" marL="0">
              <a:buNone/>
            </a:pPr>
            <a:r>
              <a:rPr lang="en-US" sz="1400" dirty="0">
                <a:solidFill>
                  <a:schemeClr val="tx1"/>
                </a:solidFill>
              </a:rPr>
              <a:t>Finds who you pay from your own transactions, including the ones you forgot</a:t>
            </a:r>
            <a:endParaRPr lang="en-US" sz="1400" dirty="0"/>
          </a:p>
        </p:txBody>
      </p:sp>
      <p:sp>
        <p:nvSpPr>
          <p:cNvPr id="7" name="Plan circle"/>
          <p:cNvSpPr/>
          <p:nvPr/>
        </p:nvSpPr>
        <p:spPr>
          <a:xfrm>
            <a:off x="2834640" y="1600200"/>
            <a:ext cx="914400" cy="914400"/>
          </a:xfrm>
          <a:prstGeom prst="ellipse">
            <a:avLst/>
          </a:prstGeom>
          <a:solidFill>
            <a:schemeClr val="accent2"/>
          </a:solidFill>
          <a:ln/>
        </p:spPr>
      </p:sp>
      <p:pic>
        <p:nvPicPr>
          <p:cNvPr id="8" name="Plan icon" descr="preencoded.png">    </p:cNvPr>
          <p:cNvPicPr>
            <a:picLocks noChangeAspect="1"/>
          </p:cNvPicPr>
          <p:nvPr/>
        </p:nvPicPr>
        <p:blipFill>
          <a:blip r:embed="rId2"/>
          <a:stretch>
            <a:fillRect/>
          </a:stretch>
        </p:blipFill>
        <p:spPr>
          <a:xfrm>
            <a:off x="3063240" y="1828800"/>
            <a:ext cx="457200" cy="457200"/>
          </a:xfrm>
          <a:prstGeom prst="rect">
            <a:avLst/>
          </a:prstGeom>
        </p:spPr>
      </p:pic>
      <p:sp>
        <p:nvSpPr>
          <p:cNvPr id="9" name="Text 5"/>
          <p:cNvSpPr txBox="1"/>
          <p:nvPr/>
        </p:nvSpPr>
        <p:spPr>
          <a:xfrm>
            <a:off x="2423160" y="2697480"/>
            <a:ext cx="1737360" cy="457200"/>
          </a:xfrm>
          <a:prstGeom prst="rect">
            <a:avLst/>
          </a:prstGeom>
          <a:noFill/>
          <a:ln/>
        </p:spPr>
        <p:txBody>
          <a:bodyPr wrap="square" lIns="0" tIns="0" rIns="0" bIns="0" rtlCol="0" anchor="ctr"/>
          <a:lstStyle/>
          <a:p>
            <a:pPr algn="ctr" indent="0" marL="0">
              <a:buNone/>
            </a:pPr>
            <a:r>
              <a:rPr lang="en-US" sz="1800" b="1" dirty="0">
                <a:solidFill>
                  <a:schemeClr val="tx2"/>
                </a:solidFill>
              </a:rPr>
              <a:t>2. Plan</a:t>
            </a:r>
            <a:endParaRPr lang="en-US" sz="1800" dirty="0"/>
          </a:p>
        </p:txBody>
      </p:sp>
      <p:sp>
        <p:nvSpPr>
          <p:cNvPr id="10" name="Text 6"/>
          <p:cNvSpPr txBox="1"/>
          <p:nvPr/>
        </p:nvSpPr>
        <p:spPr>
          <a:xfrm>
            <a:off x="2423160" y="3200400"/>
            <a:ext cx="1737360" cy="1645920"/>
          </a:xfrm>
          <a:prstGeom prst="rect">
            <a:avLst/>
          </a:prstGeom>
          <a:noFill/>
          <a:ln/>
        </p:spPr>
        <p:txBody>
          <a:bodyPr wrap="square" lIns="0" tIns="0" rIns="0" bIns="0" rtlCol="0" anchor="t"/>
          <a:lstStyle/>
          <a:p>
            <a:pPr algn="ctr" indent="0" marL="0">
              <a:buNone/>
            </a:pPr>
            <a:r>
              <a:rPr lang="en-US" sz="1400" dirty="0">
                <a:solidFill>
                  <a:schemeClr val="tx1"/>
                </a:solidFill>
              </a:rPr>
              <a:t>Dated tasks from sourced rules, in UK working days</a:t>
            </a:r>
            <a:endParaRPr lang="en-US" sz="1400" dirty="0"/>
          </a:p>
        </p:txBody>
      </p:sp>
      <p:sp>
        <p:nvSpPr>
          <p:cNvPr id="11" name="Draft circle"/>
          <p:cNvSpPr/>
          <p:nvPr/>
        </p:nvSpPr>
        <p:spPr>
          <a:xfrm>
            <a:off x="4709160" y="1600200"/>
            <a:ext cx="914400" cy="914400"/>
          </a:xfrm>
          <a:prstGeom prst="ellipse">
            <a:avLst/>
          </a:prstGeom>
          <a:solidFill>
            <a:schemeClr val="accent2"/>
          </a:solidFill>
          <a:ln/>
        </p:spPr>
      </p:sp>
      <p:pic>
        <p:nvPicPr>
          <p:cNvPr id="12" name="Draft icon" descr="preencoded.png">    </p:cNvPr>
          <p:cNvPicPr>
            <a:picLocks noChangeAspect="1"/>
          </p:cNvPicPr>
          <p:nvPr/>
        </p:nvPicPr>
        <p:blipFill>
          <a:blip r:embed="rId3"/>
          <a:stretch>
            <a:fillRect/>
          </a:stretch>
        </p:blipFill>
        <p:spPr>
          <a:xfrm>
            <a:off x="4937760" y="1828800"/>
            <a:ext cx="457200" cy="457200"/>
          </a:xfrm>
          <a:prstGeom prst="rect">
            <a:avLst/>
          </a:prstGeom>
        </p:spPr>
      </p:pic>
      <p:sp>
        <p:nvSpPr>
          <p:cNvPr id="13" name="Text 8"/>
          <p:cNvSpPr txBox="1"/>
          <p:nvPr/>
        </p:nvSpPr>
        <p:spPr>
          <a:xfrm>
            <a:off x="4297680" y="2697480"/>
            <a:ext cx="1737360" cy="457200"/>
          </a:xfrm>
          <a:prstGeom prst="rect">
            <a:avLst/>
          </a:prstGeom>
          <a:noFill/>
          <a:ln/>
        </p:spPr>
        <p:txBody>
          <a:bodyPr wrap="square" lIns="0" tIns="0" rIns="0" bIns="0" rtlCol="0" anchor="ctr"/>
          <a:lstStyle/>
          <a:p>
            <a:pPr algn="ctr" indent="0" marL="0">
              <a:buNone/>
            </a:pPr>
            <a:r>
              <a:rPr lang="en-US" sz="1800" b="1" dirty="0">
                <a:solidFill>
                  <a:schemeClr val="tx2"/>
                </a:solidFill>
              </a:rPr>
              <a:t>3. Draft</a:t>
            </a:r>
            <a:endParaRPr lang="en-US" sz="1800" dirty="0"/>
          </a:p>
        </p:txBody>
      </p:sp>
      <p:sp>
        <p:nvSpPr>
          <p:cNvPr id="14" name="Text 9"/>
          <p:cNvSpPr txBox="1"/>
          <p:nvPr/>
        </p:nvSpPr>
        <p:spPr>
          <a:xfrm>
            <a:off x="4297680" y="3200400"/>
            <a:ext cx="1737360" cy="1645920"/>
          </a:xfrm>
          <a:prstGeom prst="rect">
            <a:avLst/>
          </a:prstGeom>
          <a:noFill/>
          <a:ln/>
        </p:spPr>
        <p:txBody>
          <a:bodyPr wrap="square" lIns="0" tIns="0" rIns="0" bIns="0" rtlCol="0" anchor="t"/>
          <a:lstStyle/>
          <a:p>
            <a:pPr algn="ctr" indent="0" marL="0">
              <a:buNone/>
            </a:pPr>
            <a:r>
              <a:rPr lang="en-US" sz="1400" dirty="0">
                <a:solidFill>
                  <a:schemeClr val="tx1"/>
                </a:solidFill>
              </a:rPr>
              <a:t>A ready-to-send message or form for every organisation</a:t>
            </a:r>
            <a:endParaRPr lang="en-US" sz="1400" dirty="0"/>
          </a:p>
        </p:txBody>
      </p:sp>
      <p:sp>
        <p:nvSpPr>
          <p:cNvPr id="15" name="Approve circle"/>
          <p:cNvSpPr/>
          <p:nvPr/>
        </p:nvSpPr>
        <p:spPr>
          <a:xfrm>
            <a:off x="6583680" y="1600200"/>
            <a:ext cx="914400" cy="914400"/>
          </a:xfrm>
          <a:prstGeom prst="ellipse">
            <a:avLst/>
          </a:prstGeom>
          <a:solidFill>
            <a:schemeClr val="accent1"/>
          </a:solidFill>
          <a:ln/>
        </p:spPr>
      </p:sp>
      <p:pic>
        <p:nvPicPr>
          <p:cNvPr id="16" name="Approve icon" descr="preencoded.png">    </p:cNvPr>
          <p:cNvPicPr>
            <a:picLocks noChangeAspect="1"/>
          </p:cNvPicPr>
          <p:nvPr/>
        </p:nvPicPr>
        <p:blipFill>
          <a:blip r:embed="rId4"/>
          <a:stretch>
            <a:fillRect/>
          </a:stretch>
        </p:blipFill>
        <p:spPr>
          <a:xfrm>
            <a:off x="6812280" y="1828800"/>
            <a:ext cx="457200" cy="457200"/>
          </a:xfrm>
          <a:prstGeom prst="rect">
            <a:avLst/>
          </a:prstGeom>
        </p:spPr>
      </p:pic>
      <p:sp>
        <p:nvSpPr>
          <p:cNvPr id="17" name="Text 11"/>
          <p:cNvSpPr txBox="1"/>
          <p:nvPr/>
        </p:nvSpPr>
        <p:spPr>
          <a:xfrm>
            <a:off x="6172200" y="2697480"/>
            <a:ext cx="1737360" cy="457200"/>
          </a:xfrm>
          <a:prstGeom prst="rect">
            <a:avLst/>
          </a:prstGeom>
          <a:noFill/>
          <a:ln/>
        </p:spPr>
        <p:txBody>
          <a:bodyPr wrap="square" lIns="0" tIns="0" rIns="0" bIns="0" rtlCol="0" anchor="ctr"/>
          <a:lstStyle/>
          <a:p>
            <a:pPr algn="ctr" indent="0" marL="0">
              <a:buNone/>
            </a:pPr>
            <a:r>
              <a:rPr lang="en-US" sz="1800" b="1" dirty="0">
                <a:solidFill>
                  <a:schemeClr val="tx2"/>
                </a:solidFill>
              </a:rPr>
              <a:t>4. Approve</a:t>
            </a:r>
            <a:endParaRPr lang="en-US" sz="1800" dirty="0"/>
          </a:p>
        </p:txBody>
      </p:sp>
      <p:sp>
        <p:nvSpPr>
          <p:cNvPr id="18" name="Text 12"/>
          <p:cNvSpPr txBox="1"/>
          <p:nvPr/>
        </p:nvSpPr>
        <p:spPr>
          <a:xfrm>
            <a:off x="6172200" y="3200400"/>
            <a:ext cx="1737360" cy="1645920"/>
          </a:xfrm>
          <a:prstGeom prst="rect">
            <a:avLst/>
          </a:prstGeom>
          <a:noFill/>
          <a:ln/>
        </p:spPr>
        <p:txBody>
          <a:bodyPr wrap="square" lIns="0" tIns="0" rIns="0" bIns="0" rtlCol="0" anchor="t"/>
          <a:lstStyle/>
          <a:p>
            <a:pPr algn="ctr" indent="0" marL="0">
              <a:buNone/>
            </a:pPr>
            <a:r>
              <a:rPr lang="en-US" sz="1400" dirty="0">
                <a:solidFill>
                  <a:schemeClr val="tx1"/>
                </a:solidFill>
              </a:rPr>
              <a:t>You confirm with a one-time code you type yourself</a:t>
            </a:r>
            <a:endParaRPr lang="en-US" sz="1400" dirty="0"/>
          </a:p>
        </p:txBody>
      </p:sp>
      <p:sp>
        <p:nvSpPr>
          <p:cNvPr id="19" name="Track circle"/>
          <p:cNvSpPr/>
          <p:nvPr/>
        </p:nvSpPr>
        <p:spPr>
          <a:xfrm>
            <a:off x="8458200" y="1600200"/>
            <a:ext cx="914400" cy="914400"/>
          </a:xfrm>
          <a:prstGeom prst="ellipse">
            <a:avLst/>
          </a:prstGeom>
          <a:solidFill>
            <a:schemeClr val="accent5"/>
          </a:solidFill>
          <a:ln/>
        </p:spPr>
      </p:sp>
      <p:pic>
        <p:nvPicPr>
          <p:cNvPr id="20" name="Track icon" descr="preencoded.png">    </p:cNvPr>
          <p:cNvPicPr>
            <a:picLocks noChangeAspect="1"/>
          </p:cNvPicPr>
          <p:nvPr/>
        </p:nvPicPr>
        <p:blipFill>
          <a:blip r:embed="rId5"/>
          <a:stretch>
            <a:fillRect/>
          </a:stretch>
        </p:blipFill>
        <p:spPr>
          <a:xfrm>
            <a:off x="8686800" y="1828800"/>
            <a:ext cx="457200" cy="457200"/>
          </a:xfrm>
          <a:prstGeom prst="rect">
            <a:avLst/>
          </a:prstGeom>
        </p:spPr>
      </p:pic>
      <p:sp>
        <p:nvSpPr>
          <p:cNvPr id="21" name="Text 14"/>
          <p:cNvSpPr txBox="1"/>
          <p:nvPr/>
        </p:nvSpPr>
        <p:spPr>
          <a:xfrm>
            <a:off x="8046720" y="2697480"/>
            <a:ext cx="1737360" cy="457200"/>
          </a:xfrm>
          <a:prstGeom prst="rect">
            <a:avLst/>
          </a:prstGeom>
          <a:noFill/>
          <a:ln/>
        </p:spPr>
        <p:txBody>
          <a:bodyPr wrap="square" lIns="0" tIns="0" rIns="0" bIns="0" rtlCol="0" anchor="ctr"/>
          <a:lstStyle/>
          <a:p>
            <a:pPr algn="ctr" indent="0" marL="0">
              <a:buNone/>
            </a:pPr>
            <a:r>
              <a:rPr lang="en-US" sz="1800" b="1" dirty="0">
                <a:solidFill>
                  <a:schemeClr val="tx2"/>
                </a:solidFill>
              </a:rPr>
              <a:t>5. Track</a:t>
            </a:r>
            <a:endParaRPr lang="en-US" sz="1800" dirty="0"/>
          </a:p>
        </p:txBody>
      </p:sp>
      <p:sp>
        <p:nvSpPr>
          <p:cNvPr id="22" name="Text 15"/>
          <p:cNvSpPr txBox="1"/>
          <p:nvPr/>
        </p:nvSpPr>
        <p:spPr>
          <a:xfrm>
            <a:off x="8046720" y="3200400"/>
            <a:ext cx="1737360" cy="1645920"/>
          </a:xfrm>
          <a:prstGeom prst="rect">
            <a:avLst/>
          </a:prstGeom>
          <a:noFill/>
          <a:ln/>
        </p:spPr>
        <p:txBody>
          <a:bodyPr wrap="square" lIns="0" tIns="0" rIns="0" bIns="0" rtlCol="0" anchor="t"/>
          <a:lstStyle/>
          <a:p>
            <a:pPr algn="ctr" indent="0" marL="0">
              <a:buNone/>
            </a:pPr>
            <a:r>
              <a:rPr lang="en-US" sz="1400" dirty="0">
                <a:solidFill>
                  <a:schemeClr val="tx1"/>
                </a:solidFill>
              </a:rPr>
              <a:t>Sends, replies and replans when the date moves</a:t>
            </a:r>
            <a:endParaRPr lang="en-US" sz="1400" dirty="0"/>
          </a:p>
        </p:txBody>
      </p:sp>
      <p:sp>
        <p:nvSpPr>
          <p:cNvPr id="23" name="Local contacts circle"/>
          <p:cNvSpPr/>
          <p:nvPr/>
        </p:nvSpPr>
        <p:spPr>
          <a:xfrm>
            <a:off x="10332720" y="1600200"/>
            <a:ext cx="914400" cy="914400"/>
          </a:xfrm>
          <a:prstGeom prst="ellipse">
            <a:avLst/>
          </a:prstGeom>
          <a:solidFill>
            <a:schemeClr val="accent5"/>
          </a:solidFill>
          <a:ln/>
        </p:spPr>
      </p:sp>
      <p:pic>
        <p:nvPicPr>
          <p:cNvPr id="24" name="Local contacts icon" descr="preencoded.png">    </p:cNvPr>
          <p:cNvPicPr>
            <a:picLocks noChangeAspect="1"/>
          </p:cNvPicPr>
          <p:nvPr/>
        </p:nvPicPr>
        <p:blipFill>
          <a:blip r:embed="rId6"/>
          <a:stretch>
            <a:fillRect/>
          </a:stretch>
        </p:blipFill>
        <p:spPr>
          <a:xfrm>
            <a:off x="10561320" y="1828800"/>
            <a:ext cx="457200" cy="457200"/>
          </a:xfrm>
          <a:prstGeom prst="rect">
            <a:avLst/>
          </a:prstGeom>
        </p:spPr>
      </p:pic>
      <p:sp>
        <p:nvSpPr>
          <p:cNvPr id="25" name="Text 17"/>
          <p:cNvSpPr txBox="1"/>
          <p:nvPr/>
        </p:nvSpPr>
        <p:spPr>
          <a:xfrm>
            <a:off x="9921240" y="2697480"/>
            <a:ext cx="1737360" cy="457200"/>
          </a:xfrm>
          <a:prstGeom prst="rect">
            <a:avLst/>
          </a:prstGeom>
          <a:noFill/>
          <a:ln/>
        </p:spPr>
        <p:txBody>
          <a:bodyPr wrap="square" lIns="0" tIns="0" rIns="0" bIns="0" rtlCol="0" anchor="ctr"/>
          <a:lstStyle/>
          <a:p>
            <a:pPr algn="ctr" indent="0" marL="0">
              <a:buNone/>
            </a:pPr>
            <a:r>
              <a:rPr lang="en-US" sz="1800" b="1" dirty="0">
                <a:solidFill>
                  <a:schemeClr val="tx2"/>
                </a:solidFill>
              </a:rPr>
              <a:t>6. Local contacts</a:t>
            </a:r>
            <a:endParaRPr lang="en-US" sz="1800" dirty="0"/>
          </a:p>
        </p:txBody>
      </p:sp>
      <p:sp>
        <p:nvSpPr>
          <p:cNvPr id="26" name="Text 18"/>
          <p:cNvSpPr txBox="1"/>
          <p:nvPr/>
        </p:nvSpPr>
        <p:spPr>
          <a:xfrm>
            <a:off x="9921240" y="3200400"/>
            <a:ext cx="1737360" cy="1645920"/>
          </a:xfrm>
          <a:prstGeom prst="rect">
            <a:avLst/>
          </a:prstGeom>
          <a:noFill/>
          <a:ln/>
        </p:spPr>
        <p:txBody>
          <a:bodyPr wrap="square" lIns="0" tIns="0" rIns="0" bIns="0" rtlCol="0" anchor="t"/>
          <a:lstStyle/>
          <a:p>
            <a:pPr algn="ctr" indent="0" marL="0">
              <a:buNone/>
            </a:pPr>
            <a:r>
              <a:rPr lang="en-US" sz="1400" dirty="0">
                <a:solidFill>
                  <a:schemeClr val="tx1"/>
                </a:solidFill>
              </a:rPr>
              <a:t>Nearby GPs, schools and water companies at the new home</a:t>
            </a:r>
            <a:endParaRPr lang="en-US" sz="1400" dirty="0"/>
          </a:p>
        </p:txBody>
      </p:sp>
      <p:sp>
        <p:nvSpPr>
          <p:cNvPr id="27" name="principle band"/>
          <p:cNvSpPr/>
          <p:nvPr/>
        </p:nvSpPr>
        <p:spPr>
          <a:xfrm>
            <a:off x="548640" y="5074920"/>
            <a:ext cx="11064240" cy="868680"/>
          </a:xfrm>
          <a:prstGeom prst="roundRect">
            <a:avLst>
              <a:gd name="adj" fmla="val 12632"/>
            </a:avLst>
          </a:prstGeom>
          <a:solidFill>
            <a:schemeClr val="bg2"/>
          </a:solidFill>
          <a:ln/>
        </p:spPr>
      </p:sp>
      <p:sp>
        <p:nvSpPr>
          <p:cNvPr id="28" name="Text 20"/>
          <p:cNvSpPr txBox="1"/>
          <p:nvPr/>
        </p:nvSpPr>
        <p:spPr>
          <a:xfrm>
            <a:off x="822960" y="5120640"/>
            <a:ext cx="10607040" cy="777240"/>
          </a:xfrm>
          <a:prstGeom prst="rect">
            <a:avLst/>
          </a:prstGeom>
          <a:noFill/>
          <a:ln/>
        </p:spPr>
        <p:txBody>
          <a:bodyPr wrap="square" lIns="0" tIns="0" rIns="0" bIns="0" rtlCol="0" anchor="ctr"/>
          <a:lstStyle/>
          <a:p>
            <a:pPr indent="0" marL="0">
              <a:buNone/>
            </a:pPr>
            <a:r>
              <a:rPr lang="en-US" sz="1800" b="1" dirty="0">
                <a:solidFill>
                  <a:schemeClr val="tx2"/>
                </a:solidFill>
              </a:rPr>
              <a:t>Principle: </a:t>
            </a:r>
            <a:pPr indent="0" marL="0">
              <a:buNone/>
            </a:pPr>
            <a:r>
              <a:rPr lang="en-US" sz="1800" dirty="0">
                <a:solidFill>
                  <a:schemeClr val="tx1"/>
                </a:solidFill>
              </a:rPr>
              <a:t>AI where judgement is needed; rules and code wherever a deadline, fee or legal duty is involved.</a:t>
            </a:r>
            <a:endParaRPr lang="en-US" sz="18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indent="0" marL="0">
              <a:buNone/>
            </a:pPr>
            <a:r>
              <a:rPr lang="en-US" sz="3400" b="1" dirty="0">
                <a:solidFill>
                  <a:schemeClr val="tx2"/>
                </a:solidFill>
              </a:rPr>
              <a:t>Two ways in: bank customer or standalone</a:t>
            </a:r>
            <a:endParaRPr lang="en-US" sz="3400" dirty="0"/>
          </a:p>
        </p:txBody>
      </p:sp>
      <p:sp>
        <p:nvSpPr>
          <p:cNvPr id="3" name="Bank customer card"/>
          <p:cNvSpPr/>
          <p:nvPr/>
        </p:nvSpPr>
        <p:spPr>
          <a:xfrm>
            <a:off x="548640" y="1463040"/>
            <a:ext cx="5394960" cy="4480560"/>
          </a:xfrm>
          <a:prstGeom prst="roundRect">
            <a:avLst>
              <a:gd name="adj" fmla="val 2449"/>
            </a:avLst>
          </a:prstGeom>
          <a:solidFill>
            <a:schemeClr val="bg2"/>
          </a:solidFill>
          <a:ln/>
        </p:spPr>
      </p:sp>
      <p:sp>
        <p:nvSpPr>
          <p:cNvPr id="4" name="Bank customer circle"/>
          <p:cNvSpPr/>
          <p:nvPr/>
        </p:nvSpPr>
        <p:spPr>
          <a:xfrm>
            <a:off x="868680" y="1737360"/>
            <a:ext cx="822960" cy="822960"/>
          </a:xfrm>
          <a:prstGeom prst="ellipse">
            <a:avLst/>
          </a:prstGeom>
          <a:solidFill>
            <a:schemeClr val="accent2"/>
          </a:solidFill>
          <a:ln/>
        </p:spPr>
      </p:sp>
      <p:pic>
        <p:nvPicPr>
          <p:cNvPr id="5" name="Bank customer icon" descr="preencoded.png">    </p:cNvPr>
          <p:cNvPicPr>
            <a:picLocks noChangeAspect="1"/>
          </p:cNvPicPr>
          <p:nvPr/>
        </p:nvPicPr>
        <p:blipFill>
          <a:blip r:embed="rId1"/>
          <a:stretch>
            <a:fillRect/>
          </a:stretch>
        </p:blipFill>
        <p:spPr>
          <a:xfrm>
            <a:off x="1074420" y="1943100"/>
            <a:ext cx="411480" cy="411480"/>
          </a:xfrm>
          <a:prstGeom prst="rect">
            <a:avLst/>
          </a:prstGeom>
        </p:spPr>
      </p:pic>
      <p:sp>
        <p:nvSpPr>
          <p:cNvPr id="6" name="Text 3"/>
          <p:cNvSpPr txBox="1"/>
          <p:nvPr/>
        </p:nvSpPr>
        <p:spPr>
          <a:xfrm>
            <a:off x="1874520" y="1737360"/>
            <a:ext cx="3840480" cy="457200"/>
          </a:xfrm>
          <a:prstGeom prst="rect">
            <a:avLst/>
          </a:prstGeom>
          <a:noFill/>
          <a:ln/>
        </p:spPr>
        <p:txBody>
          <a:bodyPr wrap="square" lIns="0" tIns="0" rIns="0" bIns="0" rtlCol="0" anchor="ctr"/>
          <a:lstStyle/>
          <a:p>
            <a:pPr indent="0" marL="0">
              <a:buNone/>
            </a:pPr>
            <a:r>
              <a:rPr lang="en-US" sz="2400" b="1" dirty="0">
                <a:solidFill>
                  <a:schemeClr val="tx2"/>
                </a:solidFill>
              </a:rPr>
              <a:t>Bank customer</a:t>
            </a:r>
            <a:endParaRPr lang="en-US" sz="2400" dirty="0"/>
          </a:p>
        </p:txBody>
      </p:sp>
      <p:sp>
        <p:nvSpPr>
          <p:cNvPr id="7" name="Text 4"/>
          <p:cNvSpPr txBox="1"/>
          <p:nvPr/>
        </p:nvSpPr>
        <p:spPr>
          <a:xfrm>
            <a:off x="1874520" y="2194560"/>
            <a:ext cx="3840480" cy="411480"/>
          </a:xfrm>
          <a:prstGeom prst="rect">
            <a:avLst/>
          </a:prstGeom>
          <a:noFill/>
          <a:ln/>
        </p:spPr>
        <p:txBody>
          <a:bodyPr wrap="square" lIns="0" tIns="0" rIns="0" bIns="0" rtlCol="0" anchor="ctr"/>
          <a:lstStyle/>
          <a:p>
            <a:pPr indent="0" marL="0">
              <a:buNone/>
            </a:pPr>
            <a:r>
              <a:rPr lang="en-US" sz="1500" i="1" dirty="0">
                <a:solidFill>
                  <a:schemeClr val="accent6"/>
                </a:solidFill>
              </a:rPr>
              <a:t>Starts when the mortgage completion date is set</a:t>
            </a:r>
            <a:endParaRPr lang="en-US" sz="1500" dirty="0"/>
          </a:p>
        </p:txBody>
      </p:sp>
      <p:sp>
        <p:nvSpPr>
          <p:cNvPr id="8" name="Text 5"/>
          <p:cNvSpPr txBox="1"/>
          <p:nvPr/>
        </p:nvSpPr>
        <p:spPr>
          <a:xfrm>
            <a:off x="914400" y="2926080"/>
            <a:ext cx="4754880" cy="2743200"/>
          </a:xfrm>
          <a:prstGeom prst="rect">
            <a:avLst/>
          </a:prstGeom>
          <a:noFill/>
          <a:ln/>
        </p:spPr>
        <p:txBody>
          <a:bodyPr wrap="square" lIns="0" tIns="0" rIns="0" bIns="0" rtlCol="0" anchor="t"/>
          <a:lstStyle/>
          <a:p>
            <a:pPr marL="342900" indent="-342900">
              <a:spcAft>
                <a:spcPts val="1000"/>
              </a:spcAft>
              <a:buSzPct val="100000"/>
              <a:buChar char="•"/>
            </a:pPr>
            <a:r>
              <a:rPr lang="en-US" sz="1700" dirty="0">
                <a:solidFill>
                  <a:schemeClr val="tx1"/>
                </a:solidFill>
              </a:rPr>
              <a:t>Profile, 90 days of transactions and Direct Debit references from the bank</a:t>
            </a:r>
            <a:endParaRPr lang="en-US" sz="1700" dirty="0"/>
          </a:p>
          <a:p>
            <a:pPr marL="342900" indent="-342900">
              <a:spcAft>
                <a:spcPts val="1000"/>
              </a:spcAft>
              <a:buSzPct val="100000"/>
              <a:buChar char="•"/>
            </a:pPr>
            <a:r>
              <a:rPr lang="en-US" sz="1700" dirty="0">
                <a:solidFill>
                  <a:schemeClr val="tx1"/>
                </a:solidFill>
              </a:rPr>
              <a:t>Account and policy numbers filled in automatically</a:t>
            </a:r>
            <a:endParaRPr lang="en-US" sz="1700" dirty="0"/>
          </a:p>
          <a:p>
            <a:pPr marL="342900" indent="-342900">
              <a:spcAft>
                <a:spcPts val="1000"/>
              </a:spcAft>
              <a:buSzPct val="100000"/>
              <a:buChar char="•"/>
            </a:pPr>
            <a:r>
              <a:rPr lang="en-US" sz="1700" dirty="0">
                <a:solidFill>
                  <a:schemeClr val="tx1"/>
                </a:solidFill>
              </a:rPr>
              <a:t>The bank updates its own records directly</a:t>
            </a:r>
            <a:endParaRPr lang="en-US" sz="1700" dirty="0"/>
          </a:p>
        </p:txBody>
      </p:sp>
      <p:sp>
        <p:nvSpPr>
          <p:cNvPr id="9" name="Standalone card"/>
          <p:cNvSpPr/>
          <p:nvPr/>
        </p:nvSpPr>
        <p:spPr>
          <a:xfrm>
            <a:off x="6217920" y="1463040"/>
            <a:ext cx="5394960" cy="4480560"/>
          </a:xfrm>
          <a:prstGeom prst="roundRect">
            <a:avLst>
              <a:gd name="adj" fmla="val 2449"/>
            </a:avLst>
          </a:prstGeom>
          <a:solidFill>
            <a:schemeClr val="bg2"/>
          </a:solidFill>
          <a:ln/>
        </p:spPr>
      </p:sp>
      <p:sp>
        <p:nvSpPr>
          <p:cNvPr id="10" name="Standalone circle"/>
          <p:cNvSpPr/>
          <p:nvPr/>
        </p:nvSpPr>
        <p:spPr>
          <a:xfrm>
            <a:off x="6537960" y="1737360"/>
            <a:ext cx="822960" cy="822960"/>
          </a:xfrm>
          <a:prstGeom prst="ellipse">
            <a:avLst/>
          </a:prstGeom>
          <a:solidFill>
            <a:schemeClr val="accent1"/>
          </a:solidFill>
          <a:ln/>
        </p:spPr>
      </p:sp>
      <p:pic>
        <p:nvPicPr>
          <p:cNvPr id="11" name="Standalone icon" descr="preencoded.png">    </p:cNvPr>
          <p:cNvPicPr>
            <a:picLocks noChangeAspect="1"/>
          </p:cNvPicPr>
          <p:nvPr/>
        </p:nvPicPr>
        <p:blipFill>
          <a:blip r:embed="rId2"/>
          <a:stretch>
            <a:fillRect/>
          </a:stretch>
        </p:blipFill>
        <p:spPr>
          <a:xfrm>
            <a:off x="6743700" y="1943100"/>
            <a:ext cx="411480" cy="411480"/>
          </a:xfrm>
          <a:prstGeom prst="rect">
            <a:avLst/>
          </a:prstGeom>
        </p:spPr>
      </p:pic>
      <p:sp>
        <p:nvSpPr>
          <p:cNvPr id="12" name="Text 8"/>
          <p:cNvSpPr txBox="1"/>
          <p:nvPr/>
        </p:nvSpPr>
        <p:spPr>
          <a:xfrm>
            <a:off x="7543800" y="1737360"/>
            <a:ext cx="3840480" cy="457200"/>
          </a:xfrm>
          <a:prstGeom prst="rect">
            <a:avLst/>
          </a:prstGeom>
          <a:noFill/>
          <a:ln/>
        </p:spPr>
        <p:txBody>
          <a:bodyPr wrap="square" lIns="0" tIns="0" rIns="0" bIns="0" rtlCol="0" anchor="ctr"/>
          <a:lstStyle/>
          <a:p>
            <a:pPr indent="0" marL="0">
              <a:buNone/>
            </a:pPr>
            <a:r>
              <a:rPr lang="en-US" sz="2400" b="1" dirty="0">
                <a:solidFill>
                  <a:schemeClr val="tx2"/>
                </a:solidFill>
              </a:rPr>
              <a:t>Standalone</a:t>
            </a:r>
            <a:endParaRPr lang="en-US" sz="2400" dirty="0"/>
          </a:p>
        </p:txBody>
      </p:sp>
      <p:sp>
        <p:nvSpPr>
          <p:cNvPr id="13" name="Text 9"/>
          <p:cNvSpPr txBox="1"/>
          <p:nvPr/>
        </p:nvSpPr>
        <p:spPr>
          <a:xfrm>
            <a:off x="7543800" y="2194560"/>
            <a:ext cx="3840480" cy="411480"/>
          </a:xfrm>
          <a:prstGeom prst="rect">
            <a:avLst/>
          </a:prstGeom>
          <a:noFill/>
          <a:ln/>
        </p:spPr>
        <p:txBody>
          <a:bodyPr wrap="square" lIns="0" tIns="0" rIns="0" bIns="0" rtlCol="0" anchor="ctr"/>
          <a:lstStyle/>
          <a:p>
            <a:pPr indent="0" marL="0">
              <a:buNone/>
            </a:pPr>
            <a:r>
              <a:rPr lang="en-US" sz="1500" i="1" dirty="0">
                <a:solidFill>
                  <a:schemeClr val="accent6"/>
                </a:solidFill>
              </a:rPr>
              <a:t>Anyone moving, customer or not</a:t>
            </a:r>
            <a:endParaRPr lang="en-US" sz="1500" dirty="0"/>
          </a:p>
        </p:txBody>
      </p:sp>
      <p:sp>
        <p:nvSpPr>
          <p:cNvPr id="14" name="Text 10"/>
          <p:cNvSpPr txBox="1"/>
          <p:nvPr/>
        </p:nvSpPr>
        <p:spPr>
          <a:xfrm>
            <a:off x="6583680" y="2926080"/>
            <a:ext cx="4754880" cy="2743200"/>
          </a:xfrm>
          <a:prstGeom prst="rect">
            <a:avLst/>
          </a:prstGeom>
          <a:noFill/>
          <a:ln/>
        </p:spPr>
        <p:txBody>
          <a:bodyPr wrap="square" lIns="0" tIns="0" rIns="0" bIns="0" rtlCol="0" anchor="t"/>
          <a:lstStyle/>
          <a:p>
            <a:pPr marL="342900" indent="-342900">
              <a:spcAft>
                <a:spcPts val="1000"/>
              </a:spcAft>
              <a:buSzPct val="100000"/>
              <a:buChar char="•"/>
            </a:pPr>
            <a:r>
              <a:rPr lang="en-US" sz="1700" dirty="0">
                <a:solidFill>
                  <a:schemeClr val="tx1"/>
                </a:solidFill>
              </a:rPr>
              <a:t>Short chat, plus a statement upload (CSV or OFX) or a list of providers</a:t>
            </a:r>
            <a:endParaRPr lang="en-US" sz="1700" dirty="0"/>
          </a:p>
          <a:p>
            <a:pPr marL="342900" indent="-342900">
              <a:spcAft>
                <a:spcPts val="1000"/>
              </a:spcAft>
              <a:buSzPct val="100000"/>
              <a:buChar char="•"/>
            </a:pPr>
            <a:r>
              <a:rPr lang="en-US" sz="1700" dirty="0">
                <a:solidFill>
                  <a:schemeClr val="tx1"/>
                </a:solidFill>
              </a:rPr>
              <a:t>Personal details from a secure form, encrypted in SQLite</a:t>
            </a:r>
            <a:endParaRPr lang="en-US" sz="1700" dirty="0"/>
          </a:p>
          <a:p>
            <a:pPr marL="342900" indent="-342900">
              <a:spcAft>
                <a:spcPts val="1000"/>
              </a:spcAft>
              <a:buSzPct val="100000"/>
              <a:buChar char="•"/>
            </a:pPr>
            <a:r>
              <a:rPr lang="en-US" sz="1700" dirty="0">
                <a:solidFill>
                  <a:schemeClr val="tx1"/>
                </a:solidFill>
              </a:rPr>
              <a:t>Resume any time with a case reference; delete on request</a:t>
            </a:r>
            <a:endParaRPr lang="en-US" sz="17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indent="0" marL="0">
              <a:buNone/>
            </a:pPr>
            <a:r>
              <a:rPr lang="en-US" sz="3400" b="1" dirty="0">
                <a:solidFill>
                  <a:schemeClr val="tx2"/>
                </a:solidFill>
              </a:rPr>
              <a:t>AI moment 1: finding who you pay, and what it implies</a:t>
            </a:r>
            <a:endParaRPr lang="en-US" sz="3400" dirty="0"/>
          </a:p>
        </p:txBody>
      </p:sp>
      <p:sp>
        <p:nvSpPr>
          <p:cNvPr id="3" name="Text 1"/>
          <p:cNvSpPr txBox="1"/>
          <p:nvPr/>
        </p:nvSpPr>
        <p:spPr>
          <a:xfrm>
            <a:off x="548640" y="1371600"/>
            <a:ext cx="4754880" cy="411480"/>
          </a:xfrm>
          <a:prstGeom prst="rect">
            <a:avLst/>
          </a:prstGeom>
          <a:noFill/>
          <a:ln/>
        </p:spPr>
        <p:txBody>
          <a:bodyPr wrap="square" lIns="0" tIns="0" rIns="0" bIns="0" rtlCol="0" anchor="ctr"/>
          <a:lstStyle/>
          <a:p>
            <a:pPr indent="0" marL="0">
              <a:buNone/>
            </a:pPr>
            <a:r>
              <a:rPr lang="en-US" sz="1800" b="1" dirty="0">
                <a:solidFill>
                  <a:schemeClr val="accent6"/>
                </a:solidFill>
              </a:rPr>
              <a:t>Bank transactions</a:t>
            </a:r>
            <a:endParaRPr lang="en-US" sz="1800" dirty="0"/>
          </a:p>
        </p:txBody>
      </p:sp>
      <p:sp>
        <p:nvSpPr>
          <p:cNvPr id="4" name="Text 2"/>
          <p:cNvSpPr txBox="1"/>
          <p:nvPr/>
        </p:nvSpPr>
        <p:spPr>
          <a:xfrm>
            <a:off x="6492240" y="1371600"/>
            <a:ext cx="5120640" cy="411480"/>
          </a:xfrm>
          <a:prstGeom prst="rect">
            <a:avLst/>
          </a:prstGeom>
          <a:noFill/>
          <a:ln/>
        </p:spPr>
        <p:txBody>
          <a:bodyPr wrap="square" lIns="0" tIns="0" rIns="0" bIns="0" rtlCol="0" anchor="ctr"/>
          <a:lstStyle/>
          <a:p>
            <a:pPr indent="0" marL="0">
              <a:buNone/>
            </a:pPr>
            <a:r>
              <a:rPr lang="en-US" sz="1800" b="1" dirty="0">
                <a:solidFill>
                  <a:schemeClr val="accent6"/>
                </a:solidFill>
              </a:rPr>
              <a:t>What the agents found</a:t>
            </a:r>
            <a:endParaRPr lang="en-US" sz="1800" dirty="0"/>
          </a:p>
        </p:txBody>
      </p:sp>
      <p:sp>
        <p:nvSpPr>
          <p:cNvPr id="5" name="raw 1"/>
          <p:cNvSpPr/>
          <p:nvPr/>
        </p:nvSpPr>
        <p:spPr>
          <a:xfrm>
            <a:off x="548640" y="1874520"/>
            <a:ext cx="4754880" cy="603504"/>
          </a:xfrm>
          <a:prstGeom prst="roundRect">
            <a:avLst>
              <a:gd name="adj" fmla="val 18182"/>
            </a:avLst>
          </a:prstGeom>
          <a:solidFill>
            <a:schemeClr val="bg2"/>
          </a:solidFill>
          <a:ln/>
        </p:spPr>
      </p:sp>
      <p:sp>
        <p:nvSpPr>
          <p:cNvPr id="6" name="Text 4"/>
          <p:cNvSpPr txBox="1"/>
          <p:nvPr/>
        </p:nvSpPr>
        <p:spPr>
          <a:xfrm>
            <a:off x="731520" y="1874520"/>
            <a:ext cx="4480560" cy="603504"/>
          </a:xfrm>
          <a:prstGeom prst="rect">
            <a:avLst/>
          </a:prstGeom>
          <a:noFill/>
          <a:ln/>
        </p:spPr>
        <p:txBody>
          <a:bodyPr wrap="square" lIns="0" tIns="0" rIns="0" bIns="0" rtlCol="0" anchor="ctr"/>
          <a:lstStyle/>
          <a:p>
            <a:pPr indent="0" marL="0">
              <a:buNone/>
            </a:pPr>
            <a:r>
              <a:rPr lang="en-US" sz="1500" dirty="0">
                <a:solidFill>
                  <a:schemeClr val="tx1"/>
                </a:solidFill>
                <a:latin typeface="Courier New" pitchFamily="34" charset="0"/>
                <a:ea typeface="Courier New" pitchFamily="34" charset="-122"/>
                <a:cs typeface="Courier New" pitchFamily="34" charset="-120"/>
              </a:rPr>
              <a:t>BRIGHTWATT EN DD 0034X1274</a:t>
            </a:r>
            <a:endParaRPr lang="en-US" sz="1500" dirty="0"/>
          </a:p>
        </p:txBody>
      </p:sp>
      <p:sp>
        <p:nvSpPr>
          <p:cNvPr id="7" name="found 1"/>
          <p:cNvSpPr/>
          <p:nvPr/>
        </p:nvSpPr>
        <p:spPr>
          <a:xfrm>
            <a:off x="6492240" y="1874520"/>
            <a:ext cx="5120640" cy="603504"/>
          </a:xfrm>
          <a:prstGeom prst="roundRect">
            <a:avLst>
              <a:gd name="adj" fmla="val 18182"/>
            </a:avLst>
          </a:prstGeom>
          <a:solidFill>
            <a:schemeClr val="bg2"/>
          </a:solidFill>
          <a:ln/>
        </p:spPr>
      </p:sp>
      <p:sp>
        <p:nvSpPr>
          <p:cNvPr id="8" name="Text 6"/>
          <p:cNvSpPr txBox="1"/>
          <p:nvPr/>
        </p:nvSpPr>
        <p:spPr>
          <a:xfrm>
            <a:off x="6675120" y="1874520"/>
            <a:ext cx="4846320" cy="603504"/>
          </a:xfrm>
          <a:prstGeom prst="rect">
            <a:avLst/>
          </a:prstGeom>
          <a:noFill/>
          <a:ln/>
        </p:spPr>
        <p:txBody>
          <a:bodyPr wrap="square" lIns="0" tIns="0" rIns="0" bIns="0" rtlCol="0" anchor="ctr"/>
          <a:lstStyle/>
          <a:p>
            <a:pPr indent="0" marL="0">
              <a:buNone/>
            </a:pPr>
            <a:r>
              <a:rPr lang="en-US" sz="1500" b="1" dirty="0">
                <a:solidFill>
                  <a:schemeClr val="tx2"/>
                </a:solidFill>
              </a:rPr>
              <a:t>Brightwatt Energy</a:t>
            </a:r>
            <a:pPr indent="0" marL="0">
              <a:buNone/>
            </a:pPr>
            <a:r>
              <a:rPr lang="en-US" sz="1500" dirty="0">
                <a:solidFill>
                  <a:schemeClr val="tx1"/>
                </a:solidFill>
              </a:rPr>
              <a:t>  ·  energy supplier</a:t>
            </a:r>
            <a:endParaRPr lang="en-US" sz="1500" dirty="0"/>
          </a:p>
        </p:txBody>
      </p:sp>
      <p:sp>
        <p:nvSpPr>
          <p:cNvPr id="9" name="raw 2"/>
          <p:cNvSpPr/>
          <p:nvPr/>
        </p:nvSpPr>
        <p:spPr>
          <a:xfrm>
            <a:off x="548640" y="2624328"/>
            <a:ext cx="4754880" cy="603504"/>
          </a:xfrm>
          <a:prstGeom prst="roundRect">
            <a:avLst>
              <a:gd name="adj" fmla="val 18182"/>
            </a:avLst>
          </a:prstGeom>
          <a:solidFill>
            <a:schemeClr val="bg2"/>
          </a:solidFill>
          <a:ln/>
        </p:spPr>
      </p:sp>
      <p:sp>
        <p:nvSpPr>
          <p:cNvPr id="10" name="Text 8"/>
          <p:cNvSpPr txBox="1"/>
          <p:nvPr/>
        </p:nvSpPr>
        <p:spPr>
          <a:xfrm>
            <a:off x="731520" y="2624328"/>
            <a:ext cx="4480560" cy="603504"/>
          </a:xfrm>
          <a:prstGeom prst="rect">
            <a:avLst/>
          </a:prstGeom>
          <a:noFill/>
          <a:ln/>
        </p:spPr>
        <p:txBody>
          <a:bodyPr wrap="square" lIns="0" tIns="0" rIns="0" bIns="0" rtlCol="0" anchor="ctr"/>
          <a:lstStyle/>
          <a:p>
            <a:pPr indent="0" marL="0">
              <a:buNone/>
            </a:pPr>
            <a:r>
              <a:rPr lang="en-US" sz="1500" dirty="0">
                <a:solidFill>
                  <a:schemeClr val="tx1"/>
                </a:solidFill>
                <a:latin typeface="Courier New" pitchFamily="34" charset="0"/>
                <a:ea typeface="Courier New" pitchFamily="34" charset="-122"/>
                <a:cs typeface="Courier New" pitchFamily="34" charset="-120"/>
              </a:rPr>
              <a:t>NVW WATER SVCS 1074205</a:t>
            </a:r>
            <a:endParaRPr lang="en-US" sz="1500" dirty="0"/>
          </a:p>
        </p:txBody>
      </p:sp>
      <p:sp>
        <p:nvSpPr>
          <p:cNvPr id="11" name="found 2"/>
          <p:cNvSpPr/>
          <p:nvPr/>
        </p:nvSpPr>
        <p:spPr>
          <a:xfrm>
            <a:off x="6492240" y="2624328"/>
            <a:ext cx="5120640" cy="603504"/>
          </a:xfrm>
          <a:prstGeom prst="roundRect">
            <a:avLst>
              <a:gd name="adj" fmla="val 18182"/>
            </a:avLst>
          </a:prstGeom>
          <a:solidFill>
            <a:schemeClr val="bg2"/>
          </a:solidFill>
          <a:ln/>
        </p:spPr>
      </p:sp>
      <p:sp>
        <p:nvSpPr>
          <p:cNvPr id="12" name="Text 10"/>
          <p:cNvSpPr txBox="1"/>
          <p:nvPr/>
        </p:nvSpPr>
        <p:spPr>
          <a:xfrm>
            <a:off x="6675120" y="2624328"/>
            <a:ext cx="4846320" cy="603504"/>
          </a:xfrm>
          <a:prstGeom prst="rect">
            <a:avLst/>
          </a:prstGeom>
          <a:noFill/>
          <a:ln/>
        </p:spPr>
        <p:txBody>
          <a:bodyPr wrap="square" lIns="0" tIns="0" rIns="0" bIns="0" rtlCol="0" anchor="ctr"/>
          <a:lstStyle/>
          <a:p>
            <a:pPr indent="0" marL="0">
              <a:buNone/>
            </a:pPr>
            <a:r>
              <a:rPr lang="en-US" sz="1500" b="1" dirty="0">
                <a:solidFill>
                  <a:schemeClr val="tx2"/>
                </a:solidFill>
              </a:rPr>
              <a:t>NVW Water Services</a:t>
            </a:r>
            <a:pPr indent="0" marL="0">
              <a:buNone/>
            </a:pPr>
            <a:r>
              <a:rPr lang="en-US" sz="1500" dirty="0">
                <a:solidFill>
                  <a:schemeClr val="tx1"/>
                </a:solidFill>
              </a:rPr>
              <a:t>  ·  water company</a:t>
            </a:r>
            <a:endParaRPr lang="en-US" sz="1500" dirty="0"/>
          </a:p>
        </p:txBody>
      </p:sp>
      <p:sp>
        <p:nvSpPr>
          <p:cNvPr id="13" name="raw 3"/>
          <p:cNvSpPr/>
          <p:nvPr/>
        </p:nvSpPr>
        <p:spPr>
          <a:xfrm>
            <a:off x="548640" y="3374136"/>
            <a:ext cx="4754880" cy="603504"/>
          </a:xfrm>
          <a:prstGeom prst="roundRect">
            <a:avLst>
              <a:gd name="adj" fmla="val 18182"/>
            </a:avLst>
          </a:prstGeom>
          <a:solidFill>
            <a:schemeClr val="bg2"/>
          </a:solidFill>
          <a:ln/>
        </p:spPr>
      </p:sp>
      <p:sp>
        <p:nvSpPr>
          <p:cNvPr id="14" name="Text 12"/>
          <p:cNvSpPr txBox="1"/>
          <p:nvPr/>
        </p:nvSpPr>
        <p:spPr>
          <a:xfrm>
            <a:off x="731520" y="3374136"/>
            <a:ext cx="4480560" cy="603504"/>
          </a:xfrm>
          <a:prstGeom prst="rect">
            <a:avLst/>
          </a:prstGeom>
          <a:noFill/>
          <a:ln/>
        </p:spPr>
        <p:txBody>
          <a:bodyPr wrap="square" lIns="0" tIns="0" rIns="0" bIns="0" rtlCol="0" anchor="ctr"/>
          <a:lstStyle/>
          <a:p>
            <a:pPr indent="0" marL="0">
              <a:buNone/>
            </a:pPr>
            <a:r>
              <a:rPr lang="en-US" sz="1500" dirty="0">
                <a:solidFill>
                  <a:schemeClr val="tx1"/>
                </a:solidFill>
                <a:latin typeface="Courier New" pitchFamily="34" charset="0"/>
                <a:ea typeface="Courier New" pitchFamily="34" charset="-122"/>
                <a:cs typeface="Courier New" pitchFamily="34" charset="-120"/>
              </a:rPr>
              <a:t>DVLA-VEH TAX 2274101</a:t>
            </a:r>
            <a:endParaRPr lang="en-US" sz="1500" dirty="0"/>
          </a:p>
        </p:txBody>
      </p:sp>
      <p:sp>
        <p:nvSpPr>
          <p:cNvPr id="15" name="found 3"/>
          <p:cNvSpPr/>
          <p:nvPr/>
        </p:nvSpPr>
        <p:spPr>
          <a:xfrm>
            <a:off x="6492240" y="3374136"/>
            <a:ext cx="5120640" cy="603504"/>
          </a:xfrm>
          <a:prstGeom prst="roundRect">
            <a:avLst>
              <a:gd name="adj" fmla="val 18182"/>
            </a:avLst>
          </a:prstGeom>
          <a:solidFill>
            <a:schemeClr val="accent4"/>
          </a:solidFill>
          <a:ln/>
        </p:spPr>
      </p:sp>
      <p:sp>
        <p:nvSpPr>
          <p:cNvPr id="16" name="Text 14"/>
          <p:cNvSpPr txBox="1"/>
          <p:nvPr/>
        </p:nvSpPr>
        <p:spPr>
          <a:xfrm>
            <a:off x="6675120" y="3374136"/>
            <a:ext cx="4846320" cy="603504"/>
          </a:xfrm>
          <a:prstGeom prst="rect">
            <a:avLst/>
          </a:prstGeom>
          <a:noFill/>
          <a:ln/>
        </p:spPr>
        <p:txBody>
          <a:bodyPr wrap="square" lIns="0" tIns="0" rIns="0" bIns="0" rtlCol="0" anchor="ctr"/>
          <a:lstStyle/>
          <a:p>
            <a:pPr indent="0" marL="0">
              <a:buNone/>
            </a:pPr>
            <a:r>
              <a:rPr lang="en-US" sz="1500" b="1" dirty="0">
                <a:solidFill>
                  <a:schemeClr val="tx2"/>
                </a:solidFill>
              </a:rPr>
              <a:t>DVLA vehicle tax</a:t>
            </a:r>
            <a:pPr indent="0" marL="0">
              <a:buNone/>
            </a:pPr>
            <a:r>
              <a:rPr lang="en-US" sz="1500" dirty="0">
                <a:solidFill>
                  <a:schemeClr val="tx1"/>
                </a:solidFill>
              </a:rPr>
              <a:t>  ·  has a car: log book and licence</a:t>
            </a:r>
            <a:endParaRPr lang="en-US" sz="1500" dirty="0"/>
          </a:p>
        </p:txBody>
      </p:sp>
      <p:sp>
        <p:nvSpPr>
          <p:cNvPr id="17" name="raw 4"/>
          <p:cNvSpPr/>
          <p:nvPr/>
        </p:nvSpPr>
        <p:spPr>
          <a:xfrm>
            <a:off x="548640" y="4123944"/>
            <a:ext cx="4754880" cy="603504"/>
          </a:xfrm>
          <a:prstGeom prst="roundRect">
            <a:avLst>
              <a:gd name="adj" fmla="val 18182"/>
            </a:avLst>
          </a:prstGeom>
          <a:solidFill>
            <a:schemeClr val="bg2"/>
          </a:solidFill>
          <a:ln/>
        </p:spPr>
      </p:sp>
      <p:sp>
        <p:nvSpPr>
          <p:cNvPr id="18" name="Text 16"/>
          <p:cNvSpPr txBox="1"/>
          <p:nvPr/>
        </p:nvSpPr>
        <p:spPr>
          <a:xfrm>
            <a:off x="731520" y="4123944"/>
            <a:ext cx="4480560" cy="603504"/>
          </a:xfrm>
          <a:prstGeom prst="rect">
            <a:avLst/>
          </a:prstGeom>
          <a:noFill/>
          <a:ln/>
        </p:spPr>
        <p:txBody>
          <a:bodyPr wrap="square" lIns="0" tIns="0" rIns="0" bIns="0" rtlCol="0" anchor="ctr"/>
          <a:lstStyle/>
          <a:p>
            <a:pPr indent="0" marL="0">
              <a:buNone/>
            </a:pPr>
            <a:r>
              <a:rPr lang="en-US" sz="1500" dirty="0">
                <a:solidFill>
                  <a:schemeClr val="tx1"/>
                </a:solidFill>
                <a:latin typeface="Courier New" pitchFamily="34" charset="0"/>
                <a:ea typeface="Courier New" pitchFamily="34" charset="-122"/>
                <a:cs typeface="Courier New" pitchFamily="34" charset="-120"/>
              </a:rPr>
              <a:t>PAWSURE LTD 4110415 PETPOL</a:t>
            </a:r>
            <a:endParaRPr lang="en-US" sz="1500" dirty="0"/>
          </a:p>
        </p:txBody>
      </p:sp>
      <p:sp>
        <p:nvSpPr>
          <p:cNvPr id="19" name="found 4"/>
          <p:cNvSpPr/>
          <p:nvPr/>
        </p:nvSpPr>
        <p:spPr>
          <a:xfrm>
            <a:off x="6492240" y="4123944"/>
            <a:ext cx="5120640" cy="603504"/>
          </a:xfrm>
          <a:prstGeom prst="roundRect">
            <a:avLst>
              <a:gd name="adj" fmla="val 18182"/>
            </a:avLst>
          </a:prstGeom>
          <a:solidFill>
            <a:schemeClr val="accent4"/>
          </a:solidFill>
          <a:ln/>
        </p:spPr>
      </p:sp>
      <p:sp>
        <p:nvSpPr>
          <p:cNvPr id="20" name="Text 18"/>
          <p:cNvSpPr txBox="1"/>
          <p:nvPr/>
        </p:nvSpPr>
        <p:spPr>
          <a:xfrm>
            <a:off x="6675120" y="4123944"/>
            <a:ext cx="4846320" cy="603504"/>
          </a:xfrm>
          <a:prstGeom prst="rect">
            <a:avLst/>
          </a:prstGeom>
          <a:noFill/>
          <a:ln/>
        </p:spPr>
        <p:txBody>
          <a:bodyPr wrap="square" lIns="0" tIns="0" rIns="0" bIns="0" rtlCol="0" anchor="ctr"/>
          <a:lstStyle/>
          <a:p>
            <a:pPr indent="0" marL="0">
              <a:buNone/>
            </a:pPr>
            <a:r>
              <a:rPr lang="en-US" sz="1500" b="1" dirty="0">
                <a:solidFill>
                  <a:schemeClr val="tx2"/>
                </a:solidFill>
              </a:rPr>
              <a:t>Pawsure pet insurance</a:t>
            </a:r>
            <a:pPr indent="0" marL="0">
              <a:buNone/>
            </a:pPr>
            <a:r>
              <a:rPr lang="en-US" sz="1500" dirty="0">
                <a:solidFill>
                  <a:schemeClr val="tx1"/>
                </a:solidFill>
              </a:rPr>
              <a:t>  ·  has a pet: update the microchip</a:t>
            </a:r>
            <a:endParaRPr lang="en-US" sz="1500" dirty="0"/>
          </a:p>
        </p:txBody>
      </p:sp>
      <p:sp>
        <p:nvSpPr>
          <p:cNvPr id="21" name="raw 5"/>
          <p:cNvSpPr/>
          <p:nvPr/>
        </p:nvSpPr>
        <p:spPr>
          <a:xfrm>
            <a:off x="548640" y="4873752"/>
            <a:ext cx="4754880" cy="603504"/>
          </a:xfrm>
          <a:prstGeom prst="roundRect">
            <a:avLst>
              <a:gd name="adj" fmla="val 18182"/>
            </a:avLst>
          </a:prstGeom>
          <a:solidFill>
            <a:schemeClr val="bg2"/>
          </a:solidFill>
          <a:ln/>
        </p:spPr>
      </p:sp>
      <p:sp>
        <p:nvSpPr>
          <p:cNvPr id="22" name="Text 20"/>
          <p:cNvSpPr txBox="1"/>
          <p:nvPr/>
        </p:nvSpPr>
        <p:spPr>
          <a:xfrm>
            <a:off x="731520" y="4873752"/>
            <a:ext cx="4480560" cy="603504"/>
          </a:xfrm>
          <a:prstGeom prst="rect">
            <a:avLst/>
          </a:prstGeom>
          <a:noFill/>
          <a:ln/>
        </p:spPr>
        <p:txBody>
          <a:bodyPr wrap="square" lIns="0" tIns="0" rIns="0" bIns="0" rtlCol="0" anchor="ctr"/>
          <a:lstStyle/>
          <a:p>
            <a:pPr indent="0" marL="0">
              <a:buNone/>
            </a:pPr>
            <a:r>
              <a:rPr lang="en-US" sz="1500" dirty="0">
                <a:solidFill>
                  <a:schemeClr val="tx1"/>
                </a:solidFill>
                <a:latin typeface="Courier New" pitchFamily="34" charset="0"/>
                <a:ea typeface="Courier New" pitchFamily="34" charset="-122"/>
                <a:cs typeface="Courier New" pitchFamily="34" charset="-120"/>
              </a:rPr>
              <a:t>LITTLE ACORNS NURSERY SO</a:t>
            </a:r>
            <a:endParaRPr lang="en-US" sz="1500" dirty="0"/>
          </a:p>
        </p:txBody>
      </p:sp>
      <p:sp>
        <p:nvSpPr>
          <p:cNvPr id="23" name="found 5"/>
          <p:cNvSpPr/>
          <p:nvPr/>
        </p:nvSpPr>
        <p:spPr>
          <a:xfrm>
            <a:off x="6492240" y="4873752"/>
            <a:ext cx="5120640" cy="603504"/>
          </a:xfrm>
          <a:prstGeom prst="roundRect">
            <a:avLst>
              <a:gd name="adj" fmla="val 18182"/>
            </a:avLst>
          </a:prstGeom>
          <a:solidFill>
            <a:schemeClr val="accent4"/>
          </a:solidFill>
          <a:ln/>
        </p:spPr>
      </p:sp>
      <p:sp>
        <p:nvSpPr>
          <p:cNvPr id="24" name="Text 22"/>
          <p:cNvSpPr txBox="1"/>
          <p:nvPr/>
        </p:nvSpPr>
        <p:spPr>
          <a:xfrm>
            <a:off x="6675120" y="4873752"/>
            <a:ext cx="4846320" cy="603504"/>
          </a:xfrm>
          <a:prstGeom prst="rect">
            <a:avLst/>
          </a:prstGeom>
          <a:noFill/>
          <a:ln/>
        </p:spPr>
        <p:txBody>
          <a:bodyPr wrap="square" lIns="0" tIns="0" rIns="0" bIns="0" rtlCol="0" anchor="ctr"/>
          <a:lstStyle/>
          <a:p>
            <a:pPr indent="0" marL="0">
              <a:buNone/>
            </a:pPr>
            <a:r>
              <a:rPr lang="en-US" sz="1500" b="1" dirty="0">
                <a:solidFill>
                  <a:schemeClr val="tx2"/>
                </a:solidFill>
              </a:rPr>
              <a:t>Little Acorns Nursery</a:t>
            </a:r>
            <a:pPr indent="0" marL="0">
              <a:buNone/>
            </a:pPr>
            <a:r>
              <a:rPr lang="en-US" sz="1500" dirty="0">
                <a:solidFill>
                  <a:schemeClr val="tx1"/>
                </a:solidFill>
              </a:rPr>
              <a:t>  ·  young child: give notice</a:t>
            </a:r>
            <a:endParaRPr lang="en-US" sz="1500" dirty="0"/>
          </a:p>
        </p:txBody>
      </p:sp>
      <p:sp>
        <p:nvSpPr>
          <p:cNvPr id="25" name="arrow"/>
          <p:cNvSpPr/>
          <p:nvPr/>
        </p:nvSpPr>
        <p:spPr>
          <a:xfrm>
            <a:off x="5532120" y="3154680"/>
            <a:ext cx="731520" cy="548640"/>
          </a:xfrm>
          <a:prstGeom prst="rightArrow">
            <a:avLst/>
          </a:prstGeom>
          <a:solidFill>
            <a:schemeClr val="accent1"/>
          </a:solidFill>
          <a:ln/>
        </p:spPr>
      </p:sp>
      <p:sp>
        <p:nvSpPr>
          <p:cNvPr id="26" name="Text 24"/>
          <p:cNvSpPr txBox="1"/>
          <p:nvPr/>
        </p:nvSpPr>
        <p:spPr>
          <a:xfrm>
            <a:off x="548640" y="5669280"/>
            <a:ext cx="11064240" cy="548640"/>
          </a:xfrm>
          <a:prstGeom prst="rect">
            <a:avLst/>
          </a:prstGeom>
          <a:noFill/>
          <a:ln/>
        </p:spPr>
        <p:txBody>
          <a:bodyPr wrap="square" lIns="0" tIns="0" rIns="0" bIns="0" rtlCol="0" anchor="ctr"/>
          <a:lstStyle/>
          <a:p>
            <a:pPr indent="0" marL="0">
              <a:buNone/>
            </a:pPr>
            <a:r>
              <a:rPr lang="en-US" sz="1600" i="1" dirty="0">
                <a:solidFill>
                  <a:schemeClr val="tx2"/>
                </a:solidFill>
              </a:rPr>
              <a:t>Demo customer: 12 providers found, including the forgotten pet insurance. Anything below 70% confidence is asked, not assumed.</a:t>
            </a:r>
            <a:endParaRPr lang="en-US" sz="16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indent="0" marL="0">
              <a:buNone/>
            </a:pPr>
            <a:r>
              <a:rPr lang="en-US" sz="3400" b="1" dirty="0">
                <a:solidFill>
                  <a:schemeClr val="tx2"/>
                </a:solidFill>
              </a:rPr>
              <a:t>AI moment 2: when completion slips, the plan fixes itself</a:t>
            </a:r>
            <a:endParaRPr lang="en-US" sz="3400" dirty="0"/>
          </a:p>
        </p:txBody>
      </p:sp>
      <p:sp>
        <p:nvSpPr>
          <p:cNvPr id="3" name="date card"/>
          <p:cNvSpPr/>
          <p:nvPr/>
        </p:nvSpPr>
        <p:spPr>
          <a:xfrm>
            <a:off x="548640" y="1463040"/>
            <a:ext cx="4023360" cy="4206240"/>
          </a:xfrm>
          <a:prstGeom prst="roundRect">
            <a:avLst>
              <a:gd name="adj" fmla="val 2727"/>
            </a:avLst>
          </a:prstGeom>
          <a:solidFill>
            <a:schemeClr val="tx2"/>
          </a:solidFill>
          <a:ln/>
        </p:spPr>
      </p:sp>
      <p:sp>
        <p:nvSpPr>
          <p:cNvPr id="4" name="Text 2"/>
          <p:cNvSpPr txBox="1"/>
          <p:nvPr/>
        </p:nvSpPr>
        <p:spPr>
          <a:xfrm>
            <a:off x="822960" y="1691640"/>
            <a:ext cx="3474720" cy="411480"/>
          </a:xfrm>
          <a:prstGeom prst="rect">
            <a:avLst/>
          </a:prstGeom>
          <a:noFill/>
          <a:ln/>
        </p:spPr>
        <p:txBody>
          <a:bodyPr wrap="square" lIns="0" tIns="0" rIns="0" bIns="0" rtlCol="0" anchor="ctr"/>
          <a:lstStyle/>
          <a:p>
            <a:pPr indent="0" marL="0">
              <a:buNone/>
            </a:pPr>
            <a:r>
              <a:rPr lang="en-US" sz="1800" dirty="0">
                <a:solidFill>
                  <a:schemeClr val="accent4"/>
                </a:solidFill>
              </a:rPr>
              <a:t>Completion moved</a:t>
            </a:r>
            <a:endParaRPr lang="en-US" sz="1800" dirty="0"/>
          </a:p>
        </p:txBody>
      </p:sp>
      <p:sp>
        <p:nvSpPr>
          <p:cNvPr id="5" name="Text 3"/>
          <p:cNvSpPr txBox="1"/>
          <p:nvPr/>
        </p:nvSpPr>
        <p:spPr>
          <a:xfrm>
            <a:off x="822960" y="2194560"/>
            <a:ext cx="3474720" cy="822960"/>
          </a:xfrm>
          <a:prstGeom prst="rect">
            <a:avLst/>
          </a:prstGeom>
          <a:noFill/>
          <a:ln/>
        </p:spPr>
        <p:txBody>
          <a:bodyPr wrap="square" lIns="0" tIns="0" rIns="0" bIns="0" rtlCol="0" anchor="ctr"/>
          <a:lstStyle/>
          <a:p>
            <a:pPr indent="0" marL="0">
              <a:buNone/>
            </a:pPr>
            <a:r>
              <a:rPr lang="en-US" sz="4400" b="1" strike="sngStrike" dirty="0">
                <a:solidFill>
                  <a:schemeClr val="bg2"/>
                </a:solidFill>
                <a:latin typeface="Cambria" pitchFamily="34" charset="0"/>
                <a:ea typeface="Cambria" pitchFamily="34" charset="-122"/>
                <a:cs typeface="Cambria" pitchFamily="34" charset="-120"/>
              </a:rPr>
              <a:t>27 Nov</a:t>
            </a:r>
            <a:endParaRPr lang="en-US" sz="4400" dirty="0"/>
          </a:p>
        </p:txBody>
      </p:sp>
      <p:sp>
        <p:nvSpPr>
          <p:cNvPr id="6" name="Text 4"/>
          <p:cNvSpPr txBox="1"/>
          <p:nvPr/>
        </p:nvSpPr>
        <p:spPr>
          <a:xfrm>
            <a:off x="822960" y="3017520"/>
            <a:ext cx="3474720" cy="822960"/>
          </a:xfrm>
          <a:prstGeom prst="rect">
            <a:avLst/>
          </a:prstGeom>
          <a:noFill/>
          <a:ln/>
        </p:spPr>
        <p:txBody>
          <a:bodyPr wrap="square" lIns="0" tIns="0" rIns="0" bIns="0" rtlCol="0" anchor="ctr"/>
          <a:lstStyle/>
          <a:p>
            <a:pPr indent="0" marL="0">
              <a:buNone/>
            </a:pPr>
            <a:r>
              <a:rPr lang="en-US" sz="5400" b="1" dirty="0">
                <a:solidFill>
                  <a:schemeClr val="accent4"/>
                </a:solidFill>
                <a:latin typeface="Cambria" pitchFamily="34" charset="0"/>
                <a:ea typeface="Cambria" pitchFamily="34" charset="-122"/>
                <a:cs typeface="Cambria" pitchFamily="34" charset="-120"/>
              </a:rPr>
              <a:t>11 Dec</a:t>
            </a:r>
            <a:endParaRPr lang="en-US" sz="5400" dirty="0"/>
          </a:p>
        </p:txBody>
      </p:sp>
      <p:sp>
        <p:nvSpPr>
          <p:cNvPr id="7" name="Text 5"/>
          <p:cNvSpPr txBox="1"/>
          <p:nvPr/>
        </p:nvSpPr>
        <p:spPr>
          <a:xfrm>
            <a:off x="822960" y="4114800"/>
            <a:ext cx="3474720" cy="1280160"/>
          </a:xfrm>
          <a:prstGeom prst="rect">
            <a:avLst/>
          </a:prstGeom>
          <a:noFill/>
          <a:ln/>
        </p:spPr>
        <p:txBody>
          <a:bodyPr wrap="square" lIns="0" tIns="0" rIns="0" bIns="0" rtlCol="0" anchor="t"/>
          <a:lstStyle/>
          <a:p>
            <a:pPr indent="0" marL="0">
              <a:buNone/>
            </a:pPr>
            <a:r>
              <a:rPr lang="en-US" sz="1600" dirty="0">
                <a:solidFill>
                  <a:schemeClr val="bg1"/>
                </a:solidFill>
              </a:rPr>
              <a:t>Dates come from code. The agent never works them out itself.</a:t>
            </a:r>
            <a:endParaRPr lang="en-US" sz="1600" dirty="0"/>
          </a:p>
        </p:txBody>
      </p:sp>
      <p:graphicFrame>
        <p:nvGraphicFramePr>
          <p:cNvPr id="8" name="Chart 0" descr=""/>
          <p:cNvGraphicFramePr/>
          <p:nvPr/>
        </p:nvGraphicFramePr>
        <p:xfrm>
          <a:off x="4937760" y="1371600"/>
          <a:ext cx="6675120" cy="4389120"/>
        </p:xfrm>
        <a:graphic xmlns:a="http://schemas.openxmlformats.org/drawingml/2006/main">
          <a:graphicData uri="http://schemas.openxmlformats.org/drawingml/2006/chart">
            <c:chart xmlns:c="http://schemas.openxmlformats.org/drawingml/2006/chart" r:id="rId1"/>
          </a:graphicData>
        </a:graphic>
      </p:graphicFrame>
      <p:sp>
        <p:nvSpPr>
          <p:cNvPr id="9" name="Text 6"/>
          <p:cNvSpPr txBox="1"/>
          <p:nvPr/>
        </p:nvSpPr>
        <p:spPr>
          <a:xfrm>
            <a:off x="548640" y="5806440"/>
            <a:ext cx="11064240" cy="457200"/>
          </a:xfrm>
          <a:prstGeom prst="rect">
            <a:avLst/>
          </a:prstGeom>
          <a:noFill/>
          <a:ln/>
        </p:spPr>
        <p:txBody>
          <a:bodyPr wrap="square" lIns="0" tIns="0" rIns="0" bIns="0" rtlCol="0" anchor="ctr"/>
          <a:lstStyle/>
          <a:p>
            <a:pPr indent="0" marL="0">
              <a:buNone/>
            </a:pPr>
            <a:r>
              <a:rPr lang="en-US" sz="1600" i="1" dirty="0">
                <a:solidFill>
                  <a:schemeClr val="tx2"/>
                </a:solidFill>
              </a:rPr>
              <a:t>Then: correction drafts for approval, and a provider reply ("please confirm your meter serial") handled automatically.</a:t>
            </a:r>
            <a:endParaRPr lang="en-US" sz="16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indent="0" marL="0">
              <a:buNone/>
            </a:pPr>
            <a:r>
              <a:rPr lang="en-US" sz="3400" b="1" dirty="0">
                <a:solidFill>
                  <a:schemeClr val="tx2"/>
                </a:solidFill>
              </a:rPr>
              <a:t>AI only where it adds value</a:t>
            </a:r>
            <a:endParaRPr lang="en-US" sz="3400" dirty="0"/>
          </a:p>
        </p:txBody>
      </p:sp>
      <p:sp>
        <p:nvSpPr>
          <p:cNvPr id="3" name="Rules and code card"/>
          <p:cNvSpPr/>
          <p:nvPr/>
        </p:nvSpPr>
        <p:spPr>
          <a:xfrm>
            <a:off x="548640" y="1417320"/>
            <a:ext cx="5394960" cy="3886200"/>
          </a:xfrm>
          <a:prstGeom prst="roundRect">
            <a:avLst>
              <a:gd name="adj" fmla="val 2824"/>
            </a:avLst>
          </a:prstGeom>
          <a:solidFill>
            <a:schemeClr val="bg2"/>
          </a:solidFill>
          <a:ln/>
        </p:spPr>
      </p:sp>
      <p:sp>
        <p:nvSpPr>
          <p:cNvPr id="4" name="Rules and code circle"/>
          <p:cNvSpPr/>
          <p:nvPr/>
        </p:nvSpPr>
        <p:spPr>
          <a:xfrm>
            <a:off x="822960" y="1645920"/>
            <a:ext cx="731520" cy="731520"/>
          </a:xfrm>
          <a:prstGeom prst="ellipse">
            <a:avLst/>
          </a:prstGeom>
          <a:solidFill>
            <a:schemeClr val="accent5"/>
          </a:solidFill>
          <a:ln/>
        </p:spPr>
      </p:sp>
      <p:pic>
        <p:nvPicPr>
          <p:cNvPr id="5" name="Rules and code icon" descr="preencoded.png">    </p:cNvPr>
          <p:cNvPicPr>
            <a:picLocks noChangeAspect="1"/>
          </p:cNvPicPr>
          <p:nvPr/>
        </p:nvPicPr>
        <p:blipFill>
          <a:blip r:embed="rId1"/>
          <a:stretch>
            <a:fillRect/>
          </a:stretch>
        </p:blipFill>
        <p:spPr>
          <a:xfrm>
            <a:off x="1005840" y="1828800"/>
            <a:ext cx="365760" cy="365760"/>
          </a:xfrm>
          <a:prstGeom prst="rect">
            <a:avLst/>
          </a:prstGeom>
        </p:spPr>
      </p:pic>
      <p:sp>
        <p:nvSpPr>
          <p:cNvPr id="6" name="Text 3"/>
          <p:cNvSpPr txBox="1"/>
          <p:nvPr/>
        </p:nvSpPr>
        <p:spPr>
          <a:xfrm>
            <a:off x="1737360" y="1737360"/>
            <a:ext cx="3931920" cy="548640"/>
          </a:xfrm>
          <a:prstGeom prst="rect">
            <a:avLst/>
          </a:prstGeom>
          <a:noFill/>
          <a:ln/>
        </p:spPr>
        <p:txBody>
          <a:bodyPr wrap="square" lIns="0" tIns="0" rIns="0" bIns="0" rtlCol="0" anchor="ctr"/>
          <a:lstStyle/>
          <a:p>
            <a:pPr indent="0" marL="0">
              <a:buNone/>
            </a:pPr>
            <a:r>
              <a:rPr lang="en-US" sz="2400" b="1" dirty="0">
                <a:solidFill>
                  <a:schemeClr val="tx2"/>
                </a:solidFill>
              </a:rPr>
              <a:t>Rules and code</a:t>
            </a:r>
            <a:endParaRPr lang="en-US" sz="2400" dirty="0"/>
          </a:p>
        </p:txBody>
      </p:sp>
      <p:sp>
        <p:nvSpPr>
          <p:cNvPr id="7" name="Text 4"/>
          <p:cNvSpPr txBox="1"/>
          <p:nvPr/>
        </p:nvSpPr>
        <p:spPr>
          <a:xfrm>
            <a:off x="868680" y="2606040"/>
            <a:ext cx="4846320" cy="256032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chemeClr val="tx1"/>
                </a:solidFill>
              </a:rPr>
              <a:t>Which obligations apply (23 rules, each with a source)</a:t>
            </a:r>
            <a:endParaRPr lang="en-US" sz="1600" dirty="0"/>
          </a:p>
          <a:p>
            <a:pPr marL="342900" indent="-342900">
              <a:spcAft>
                <a:spcPts val="600"/>
              </a:spcAft>
              <a:buSzPct val="100000"/>
              <a:buChar char="•"/>
            </a:pPr>
            <a:r>
              <a:rPr lang="en-US" sz="1600" dirty="0">
                <a:solidFill>
                  <a:schemeClr val="tx1"/>
                </a:solidFill>
              </a:rPr>
              <a:t>Deadlines in working days, per nation</a:t>
            </a:r>
            <a:endParaRPr lang="en-US" sz="1600" dirty="0"/>
          </a:p>
          <a:p>
            <a:pPr marL="342900" indent="-342900">
              <a:spcAft>
                <a:spcPts val="600"/>
              </a:spcAft>
              <a:buSzPct val="100000"/>
              <a:buChar char="•"/>
            </a:pPr>
            <a:r>
              <a:rPr lang="en-US" sz="1600" dirty="0">
                <a:solidFill>
                  <a:schemeClr val="tx1"/>
                </a:solidFill>
              </a:rPr>
              <a:t>Legal flags and penalties</a:t>
            </a:r>
            <a:endParaRPr lang="en-US" sz="1600" dirty="0"/>
          </a:p>
          <a:p>
            <a:pPr marL="342900" indent="-342900">
              <a:spcAft>
                <a:spcPts val="600"/>
              </a:spcAft>
              <a:buSzPct val="100000"/>
              <a:buChar char="•"/>
            </a:pPr>
            <a:r>
              <a:rPr lang="en-US" sz="1600" dirty="0">
                <a:solidFill>
                  <a:schemeClr val="tx1"/>
                </a:solidFill>
              </a:rPr>
              <a:t>The approval gate</a:t>
            </a:r>
            <a:endParaRPr lang="en-US" sz="1600" dirty="0"/>
          </a:p>
          <a:p>
            <a:pPr marL="342900" indent="-342900">
              <a:spcAft>
                <a:spcPts val="600"/>
              </a:spcAft>
              <a:buSzPct val="100000"/>
              <a:buChar char="•"/>
            </a:pPr>
            <a:r>
              <a:rPr lang="en-US" sz="1600" dirty="0">
                <a:solidFill>
                  <a:schemeClr val="tx1"/>
                </a:solidFill>
              </a:rPr>
              <a:t>What a date change means for each task</a:t>
            </a:r>
            <a:endParaRPr lang="en-US" sz="1600" dirty="0"/>
          </a:p>
          <a:p>
            <a:pPr marL="342900" indent="-342900">
              <a:spcAft>
                <a:spcPts val="600"/>
              </a:spcAft>
              <a:buSzPct val="100000"/>
              <a:buChar char="•"/>
            </a:pPr>
            <a:r>
              <a:rPr lang="en-US" sz="1600" dirty="0">
                <a:solidFill>
                  <a:schemeClr val="tx1"/>
                </a:solidFill>
              </a:rPr>
              <a:t>Audit log, encryption, statement parsing</a:t>
            </a:r>
            <a:endParaRPr lang="en-US" sz="1600" dirty="0"/>
          </a:p>
        </p:txBody>
      </p:sp>
      <p:sp>
        <p:nvSpPr>
          <p:cNvPr id="8" name="LLM agents card"/>
          <p:cNvSpPr/>
          <p:nvPr/>
        </p:nvSpPr>
        <p:spPr>
          <a:xfrm>
            <a:off x="6217920" y="1417320"/>
            <a:ext cx="5394960" cy="3886200"/>
          </a:xfrm>
          <a:prstGeom prst="roundRect">
            <a:avLst>
              <a:gd name="adj" fmla="val 2824"/>
            </a:avLst>
          </a:prstGeom>
          <a:solidFill>
            <a:schemeClr val="bg2"/>
          </a:solidFill>
          <a:ln/>
        </p:spPr>
      </p:sp>
      <p:sp>
        <p:nvSpPr>
          <p:cNvPr id="9" name="LLM agents circle"/>
          <p:cNvSpPr/>
          <p:nvPr/>
        </p:nvSpPr>
        <p:spPr>
          <a:xfrm>
            <a:off x="6492240" y="1645920"/>
            <a:ext cx="731520" cy="731520"/>
          </a:xfrm>
          <a:prstGeom prst="ellipse">
            <a:avLst/>
          </a:prstGeom>
          <a:solidFill>
            <a:schemeClr val="accent2"/>
          </a:solidFill>
          <a:ln/>
        </p:spPr>
      </p:sp>
      <p:pic>
        <p:nvPicPr>
          <p:cNvPr id="10" name="LLM agents icon" descr="preencoded.png">    </p:cNvPr>
          <p:cNvPicPr>
            <a:picLocks noChangeAspect="1"/>
          </p:cNvPicPr>
          <p:nvPr/>
        </p:nvPicPr>
        <p:blipFill>
          <a:blip r:embed="rId2"/>
          <a:stretch>
            <a:fillRect/>
          </a:stretch>
        </p:blipFill>
        <p:spPr>
          <a:xfrm>
            <a:off x="6675120" y="1828800"/>
            <a:ext cx="365760" cy="365760"/>
          </a:xfrm>
          <a:prstGeom prst="rect">
            <a:avLst/>
          </a:prstGeom>
        </p:spPr>
      </p:pic>
      <p:sp>
        <p:nvSpPr>
          <p:cNvPr id="11" name="Text 7"/>
          <p:cNvSpPr txBox="1"/>
          <p:nvPr/>
        </p:nvSpPr>
        <p:spPr>
          <a:xfrm>
            <a:off x="7406640" y="1737360"/>
            <a:ext cx="3931920" cy="548640"/>
          </a:xfrm>
          <a:prstGeom prst="rect">
            <a:avLst/>
          </a:prstGeom>
          <a:noFill/>
          <a:ln/>
        </p:spPr>
        <p:txBody>
          <a:bodyPr wrap="square" lIns="0" tIns="0" rIns="0" bIns="0" rtlCol="0" anchor="ctr"/>
          <a:lstStyle/>
          <a:p>
            <a:pPr indent="0" marL="0">
              <a:buNone/>
            </a:pPr>
            <a:r>
              <a:rPr lang="en-US" sz="2400" b="1" dirty="0">
                <a:solidFill>
                  <a:schemeClr val="tx2"/>
                </a:solidFill>
              </a:rPr>
              <a:t>LLM agents</a:t>
            </a:r>
            <a:endParaRPr lang="en-US" sz="2400" dirty="0"/>
          </a:p>
        </p:txBody>
      </p:sp>
      <p:sp>
        <p:nvSpPr>
          <p:cNvPr id="12" name="Text 8"/>
          <p:cNvSpPr txBox="1"/>
          <p:nvPr/>
        </p:nvSpPr>
        <p:spPr>
          <a:xfrm>
            <a:off x="6537960" y="2606040"/>
            <a:ext cx="4846320" cy="256032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chemeClr val="tx1"/>
                </a:solidFill>
              </a:rPr>
              <a:t>Messy descriptors into providers and life facts</a:t>
            </a:r>
            <a:endParaRPr lang="en-US" sz="1600" dirty="0"/>
          </a:p>
          <a:p>
            <a:pPr marL="342900" indent="-342900">
              <a:spcAft>
                <a:spcPts val="600"/>
              </a:spcAft>
              <a:buSzPct val="100000"/>
              <a:buChar char="•"/>
            </a:pPr>
            <a:r>
              <a:rPr lang="en-US" sz="1600" dirty="0">
                <a:solidFill>
                  <a:schemeClr val="tx1"/>
                </a:solidFill>
              </a:rPr>
              <a:t>Free-text answers into structured facts</a:t>
            </a:r>
            <a:endParaRPr lang="en-US" sz="1600" dirty="0"/>
          </a:p>
          <a:p>
            <a:pPr marL="342900" indent="-342900">
              <a:spcAft>
                <a:spcPts val="600"/>
              </a:spcAft>
              <a:buSzPct val="100000"/>
              <a:buChar char="•"/>
            </a:pPr>
            <a:r>
              <a:rPr lang="en-US" sz="1600" dirty="0">
                <a:solidFill>
                  <a:schemeClr val="tx1"/>
                </a:solidFill>
              </a:rPr>
              <a:t>Edge cases (letting the old home, joint owners)</a:t>
            </a:r>
            <a:endParaRPr lang="en-US" sz="1600" dirty="0"/>
          </a:p>
          <a:p>
            <a:pPr marL="342900" indent="-342900">
              <a:spcAft>
                <a:spcPts val="600"/>
              </a:spcAft>
              <a:buSzPct val="100000"/>
              <a:buChar char="•"/>
            </a:pPr>
            <a:r>
              <a:rPr lang="en-US" sz="1600" dirty="0">
                <a:solidFill>
                  <a:schemeClr val="tx1"/>
                </a:solidFill>
              </a:rPr>
              <a:t>A personal draft for each organisation</a:t>
            </a:r>
            <a:endParaRPr lang="en-US" sz="1600" dirty="0"/>
          </a:p>
          <a:p>
            <a:pPr marL="342900" indent="-342900">
              <a:spcAft>
                <a:spcPts val="600"/>
              </a:spcAft>
              <a:buSzPct val="100000"/>
              <a:buChar char="•"/>
            </a:pPr>
            <a:r>
              <a:rPr lang="en-US" sz="1600" dirty="0">
                <a:solidFill>
                  <a:schemeClr val="tx1"/>
                </a:solidFill>
              </a:rPr>
              <a:t>Reading provider replies</a:t>
            </a:r>
            <a:endParaRPr lang="en-US" sz="1600" dirty="0"/>
          </a:p>
          <a:p>
            <a:pPr marL="342900" indent="-342900">
              <a:spcAft>
                <a:spcPts val="600"/>
              </a:spcAft>
              <a:buSzPct val="100000"/>
              <a:buChar char="•"/>
            </a:pPr>
            <a:r>
              <a:rPr lang="en-US" sz="1600" dirty="0">
                <a:solidFill>
                  <a:schemeClr val="tx1"/>
                </a:solidFill>
              </a:rPr>
              <a:t>Explaining the plan in plain English</a:t>
            </a:r>
            <a:endParaRPr lang="en-US" sz="1600" dirty="0"/>
          </a:p>
        </p:txBody>
      </p:sp>
      <p:sp>
        <p:nvSpPr>
          <p:cNvPr id="13" name="Text 9"/>
          <p:cNvSpPr txBox="1"/>
          <p:nvPr/>
        </p:nvSpPr>
        <p:spPr>
          <a:xfrm>
            <a:off x="548640" y="5532120"/>
            <a:ext cx="11064240" cy="548640"/>
          </a:xfrm>
          <a:prstGeom prst="rect">
            <a:avLst/>
          </a:prstGeom>
          <a:noFill/>
          <a:ln/>
        </p:spPr>
        <p:txBody>
          <a:bodyPr wrap="square" lIns="0" tIns="0" rIns="0" bIns="0" rtlCol="0" anchor="ctr"/>
          <a:lstStyle/>
          <a:p>
            <a:pPr indent="0" marL="0">
              <a:buNone/>
            </a:pPr>
            <a:r>
              <a:rPr lang="en-US" sz="2200" b="1" dirty="0">
                <a:solidFill>
                  <a:schemeClr val="accent1"/>
                </a:solidFill>
                <a:latin typeface="Cambria" pitchFamily="34" charset="0"/>
                <a:ea typeface="Cambria" pitchFamily="34" charset="-122"/>
                <a:cs typeface="Cambria" pitchFamily="34" charset="-120"/>
              </a:rPr>
              <a:t>An LLM never invents a deadline, fee or legal obligation.</a:t>
            </a:r>
            <a:endParaRPr lang="en-US" sz="22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indent="0" marL="0">
              <a:buNone/>
            </a:pPr>
            <a:r>
              <a:rPr lang="en-US" sz="3400" b="1" dirty="0">
                <a:solidFill>
                  <a:schemeClr val="tx2"/>
                </a:solidFill>
              </a:rPr>
              <a:t>13 agents on Neuro SAN, 26 coded tools</a:t>
            </a:r>
            <a:endParaRPr lang="en-US" sz="3400" dirty="0"/>
          </a:p>
        </p:txBody>
      </p:sp>
      <p:sp>
        <p:nvSpPr>
          <p:cNvPr id="3" name="coordinator"/>
          <p:cNvSpPr/>
          <p:nvPr/>
        </p:nvSpPr>
        <p:spPr>
          <a:xfrm>
            <a:off x="4480560" y="2971800"/>
            <a:ext cx="3200400" cy="1005840"/>
          </a:xfrm>
          <a:prstGeom prst="roundRect">
            <a:avLst>
              <a:gd name="adj" fmla="val 10909"/>
            </a:avLst>
          </a:prstGeom>
          <a:solidFill>
            <a:schemeClr val="accent1"/>
          </a:solidFill>
          <a:ln/>
        </p:spPr>
      </p:sp>
      <p:sp>
        <p:nvSpPr>
          <p:cNvPr id="4" name="Text 2"/>
          <p:cNvSpPr txBox="1"/>
          <p:nvPr/>
        </p:nvSpPr>
        <p:spPr>
          <a:xfrm>
            <a:off x="4480560" y="2971800"/>
            <a:ext cx="3200400" cy="1005840"/>
          </a:xfrm>
          <a:prstGeom prst="rect">
            <a:avLst/>
          </a:prstGeom>
          <a:noFill/>
          <a:ln/>
        </p:spPr>
        <p:txBody>
          <a:bodyPr wrap="square" lIns="0" tIns="0" rIns="0" bIns="0" rtlCol="0" anchor="ctr"/>
          <a:lstStyle/>
          <a:p>
            <a:pPr algn="ctr" indent="0" marL="0">
              <a:buNone/>
            </a:pPr>
            <a:r>
              <a:rPr lang="en-US" sz="1800" b="1" dirty="0">
                <a:solidFill>
                  <a:schemeClr val="bg1"/>
                </a:solidFill>
              </a:rPr>
              <a:t>move_coordinator</a:t>
            </a:r>
            <a:endParaRPr lang="en-US" sz="1800" dirty="0"/>
          </a:p>
          <a:p>
            <a:pPr algn="ctr" indent="0" marL="0">
              <a:buNone/>
            </a:pPr>
            <a:r>
              <a:rPr lang="en-US" sz="1400" dirty="0">
                <a:solidFill>
                  <a:schemeClr val="bg1"/>
                </a:solidFill>
              </a:rPr>
              <a:t>talks to the customer</a:t>
            </a:r>
            <a:endParaRPr lang="en-US" sz="1800" dirty="0"/>
          </a:p>
        </p:txBody>
      </p:sp>
      <p:sp>
        <p:nvSpPr>
          <p:cNvPr id="5" name="Intake and discovery"/>
          <p:cNvSpPr/>
          <p:nvPr/>
        </p:nvSpPr>
        <p:spPr>
          <a:xfrm>
            <a:off x="548640" y="1371600"/>
            <a:ext cx="3657600" cy="1371600"/>
          </a:xfrm>
          <a:prstGeom prst="roundRect">
            <a:avLst>
              <a:gd name="adj" fmla="val 8000"/>
            </a:avLst>
          </a:prstGeom>
          <a:solidFill>
            <a:schemeClr val="bg2"/>
          </a:solidFill>
          <a:ln/>
        </p:spPr>
      </p:sp>
      <p:sp>
        <p:nvSpPr>
          <p:cNvPr id="6" name="Text 4"/>
          <p:cNvSpPr txBox="1"/>
          <p:nvPr/>
        </p:nvSpPr>
        <p:spPr>
          <a:xfrm>
            <a:off x="731520" y="1371600"/>
            <a:ext cx="3291840" cy="1371600"/>
          </a:xfrm>
          <a:prstGeom prst="rect">
            <a:avLst/>
          </a:prstGeom>
          <a:noFill/>
          <a:ln/>
        </p:spPr>
        <p:txBody>
          <a:bodyPr wrap="square" lIns="0" tIns="0" rIns="0" bIns="0" rtlCol="0" anchor="ctr"/>
          <a:lstStyle/>
          <a:p>
            <a:pPr indent="0" marL="0">
              <a:buNone/>
            </a:pPr>
            <a:r>
              <a:rPr lang="en-US" sz="1800" b="1" dirty="0">
                <a:solidFill>
                  <a:schemeClr val="tx2"/>
                </a:solidFill>
              </a:rPr>
              <a:t>Intake and discovery</a:t>
            </a:r>
            <a:endParaRPr lang="en-US" sz="1800" dirty="0"/>
          </a:p>
          <a:p>
            <a:pPr indent="0" marL="0">
              <a:buNone/>
            </a:pPr>
            <a:r>
              <a:rPr lang="en-US" sz="1400" dirty="0">
                <a:solidFill>
                  <a:schemeClr val="tx1"/>
                </a:solidFill>
              </a:rPr>
              <a:t>intake · profile · discovery</a:t>
            </a:r>
            <a:endParaRPr lang="en-US" sz="1800" dirty="0"/>
          </a:p>
        </p:txBody>
      </p:sp>
      <p:sp>
        <p:nvSpPr>
          <p:cNvPr id="7" name="link 1"/>
          <p:cNvSpPr/>
          <p:nvPr/>
        </p:nvSpPr>
        <p:spPr>
          <a:xfrm>
            <a:off x="4206240" y="2057400"/>
            <a:ext cx="274320" cy="1051560"/>
          </a:xfrm>
          <a:prstGeom prst="line">
            <a:avLst/>
          </a:prstGeom>
          <a:noFill/>
          <a:ln w="19050">
            <a:solidFill>
              <a:schemeClr val="accent6"/>
            </a:solidFill>
            <a:prstDash val="solid"/>
          </a:ln>
        </p:spPr>
      </p:sp>
      <p:sp>
        <p:nvSpPr>
          <p:cNvPr id="8" name="Planning"/>
          <p:cNvSpPr/>
          <p:nvPr/>
        </p:nvSpPr>
        <p:spPr>
          <a:xfrm>
            <a:off x="7955280" y="1371600"/>
            <a:ext cx="3657600" cy="1371600"/>
          </a:xfrm>
          <a:prstGeom prst="roundRect">
            <a:avLst>
              <a:gd name="adj" fmla="val 8000"/>
            </a:avLst>
          </a:prstGeom>
          <a:solidFill>
            <a:schemeClr val="bg2"/>
          </a:solidFill>
          <a:ln/>
        </p:spPr>
      </p:sp>
      <p:sp>
        <p:nvSpPr>
          <p:cNvPr id="9" name="Text 7"/>
          <p:cNvSpPr txBox="1"/>
          <p:nvPr/>
        </p:nvSpPr>
        <p:spPr>
          <a:xfrm>
            <a:off x="8138160" y="1371600"/>
            <a:ext cx="3291840" cy="1371600"/>
          </a:xfrm>
          <a:prstGeom prst="rect">
            <a:avLst/>
          </a:prstGeom>
          <a:noFill/>
          <a:ln/>
        </p:spPr>
        <p:txBody>
          <a:bodyPr wrap="square" lIns="0" tIns="0" rIns="0" bIns="0" rtlCol="0" anchor="ctr"/>
          <a:lstStyle/>
          <a:p>
            <a:pPr indent="0" marL="0">
              <a:buNone/>
            </a:pPr>
            <a:r>
              <a:rPr lang="en-US" sz="1800" b="1" dirty="0">
                <a:solidFill>
                  <a:schemeClr val="tx2"/>
                </a:solidFill>
              </a:rPr>
              <a:t>Planning</a:t>
            </a:r>
            <a:endParaRPr lang="en-US" sz="1800" dirty="0"/>
          </a:p>
          <a:p>
            <a:pPr indent="0" marL="0">
              <a:buNone/>
            </a:pPr>
            <a:r>
              <a:rPr lang="en-US" sz="1400" dirty="0">
                <a:solidFill>
                  <a:schemeClr val="tx1"/>
                </a:solidFill>
              </a:rPr>
              <a:t>obligations · timeline · local services</a:t>
            </a:r>
            <a:endParaRPr lang="en-US" sz="1800" dirty="0"/>
          </a:p>
        </p:txBody>
      </p:sp>
      <p:sp>
        <p:nvSpPr>
          <p:cNvPr id="10" name="link 2"/>
          <p:cNvSpPr/>
          <p:nvPr/>
        </p:nvSpPr>
        <p:spPr>
          <a:xfrm flipV="1">
            <a:off x="7680960" y="2057400"/>
            <a:ext cx="274320" cy="1051560"/>
          </a:xfrm>
          <a:prstGeom prst="line">
            <a:avLst/>
          </a:prstGeom>
          <a:noFill/>
          <a:ln w="19050">
            <a:solidFill>
              <a:schemeClr val="accent6"/>
            </a:solidFill>
            <a:prstDash val="solid"/>
          </a:ln>
        </p:spPr>
      </p:sp>
      <p:sp>
        <p:nvSpPr>
          <p:cNvPr id="11" name="AAOSA specialists"/>
          <p:cNvSpPr/>
          <p:nvPr/>
        </p:nvSpPr>
        <p:spPr>
          <a:xfrm>
            <a:off x="548640" y="4480560"/>
            <a:ext cx="3657600" cy="1371600"/>
          </a:xfrm>
          <a:prstGeom prst="roundRect">
            <a:avLst>
              <a:gd name="adj" fmla="val 8000"/>
            </a:avLst>
          </a:prstGeom>
          <a:solidFill>
            <a:schemeClr val="bg2"/>
          </a:solidFill>
          <a:ln/>
        </p:spPr>
      </p:sp>
      <p:sp>
        <p:nvSpPr>
          <p:cNvPr id="12" name="Text 10"/>
          <p:cNvSpPr txBox="1"/>
          <p:nvPr/>
        </p:nvSpPr>
        <p:spPr>
          <a:xfrm>
            <a:off x="731520" y="4480560"/>
            <a:ext cx="3291840" cy="1371600"/>
          </a:xfrm>
          <a:prstGeom prst="rect">
            <a:avLst/>
          </a:prstGeom>
          <a:noFill/>
          <a:ln/>
        </p:spPr>
        <p:txBody>
          <a:bodyPr wrap="square" lIns="0" tIns="0" rIns="0" bIns="0" rtlCol="0" anchor="ctr"/>
          <a:lstStyle/>
          <a:p>
            <a:pPr indent="0" marL="0">
              <a:buNone/>
            </a:pPr>
            <a:r>
              <a:rPr lang="en-US" sz="1800" b="1" dirty="0">
                <a:solidFill>
                  <a:schemeClr val="tx2"/>
                </a:solidFill>
              </a:rPr>
              <a:t>AAOSA specialists</a:t>
            </a:r>
            <a:endParaRPr lang="en-US" sz="1800" dirty="0"/>
          </a:p>
          <a:p>
            <a:pPr indent="0" marL="0">
              <a:buNone/>
            </a:pPr>
            <a:r>
              <a:rPr lang="en-US" sz="1400" dirty="0">
                <a:solidFill>
                  <a:schemeClr val="tx1"/>
                </a:solidFill>
              </a:rPr>
              <a:t>government · home &amp; utilities · financial · health &amp; family</a:t>
            </a:r>
            <a:endParaRPr lang="en-US" sz="1800" dirty="0"/>
          </a:p>
        </p:txBody>
      </p:sp>
      <p:sp>
        <p:nvSpPr>
          <p:cNvPr id="13" name="link 3"/>
          <p:cNvSpPr/>
          <p:nvPr/>
        </p:nvSpPr>
        <p:spPr>
          <a:xfrm flipV="1">
            <a:off x="4206240" y="3840480"/>
            <a:ext cx="274320" cy="1325880"/>
          </a:xfrm>
          <a:prstGeom prst="line">
            <a:avLst/>
          </a:prstGeom>
          <a:noFill/>
          <a:ln w="19050">
            <a:solidFill>
              <a:schemeClr val="accent6"/>
            </a:solidFill>
            <a:prstDash val="solid"/>
          </a:ln>
        </p:spPr>
      </p:sp>
      <p:sp>
        <p:nvSpPr>
          <p:cNvPr id="14" name="Delivery"/>
          <p:cNvSpPr/>
          <p:nvPr/>
        </p:nvSpPr>
        <p:spPr>
          <a:xfrm>
            <a:off x="7955280" y="4480560"/>
            <a:ext cx="3657600" cy="1371600"/>
          </a:xfrm>
          <a:prstGeom prst="roundRect">
            <a:avLst>
              <a:gd name="adj" fmla="val 8000"/>
            </a:avLst>
          </a:prstGeom>
          <a:solidFill>
            <a:schemeClr val="bg2"/>
          </a:solidFill>
          <a:ln/>
        </p:spPr>
      </p:sp>
      <p:sp>
        <p:nvSpPr>
          <p:cNvPr id="15" name="Text 13"/>
          <p:cNvSpPr txBox="1"/>
          <p:nvPr/>
        </p:nvSpPr>
        <p:spPr>
          <a:xfrm>
            <a:off x="8138160" y="4480560"/>
            <a:ext cx="3291840" cy="1371600"/>
          </a:xfrm>
          <a:prstGeom prst="rect">
            <a:avLst/>
          </a:prstGeom>
          <a:noFill/>
          <a:ln/>
        </p:spPr>
        <p:txBody>
          <a:bodyPr wrap="square" lIns="0" tIns="0" rIns="0" bIns="0" rtlCol="0" anchor="ctr"/>
          <a:lstStyle/>
          <a:p>
            <a:pPr indent="0" marL="0">
              <a:buNone/>
            </a:pPr>
            <a:r>
              <a:rPr lang="en-US" sz="1800" b="1" dirty="0">
                <a:solidFill>
                  <a:schemeClr val="tx2"/>
                </a:solidFill>
              </a:rPr>
              <a:t>Delivery</a:t>
            </a:r>
            <a:endParaRPr lang="en-US" sz="1800" dirty="0"/>
          </a:p>
          <a:p>
            <a:pPr indent="0" marL="0">
              <a:buNone/>
            </a:pPr>
            <a:r>
              <a:rPr lang="en-US" sz="1400" dirty="0">
                <a:solidFill>
                  <a:schemeClr val="tx1"/>
                </a:solidFill>
              </a:rPr>
              <a:t>comms (drafts) · tracker (approve, send, replan, replies)</a:t>
            </a:r>
            <a:endParaRPr lang="en-US" sz="1800" dirty="0"/>
          </a:p>
        </p:txBody>
      </p:sp>
      <p:sp>
        <p:nvSpPr>
          <p:cNvPr id="16" name="link 4"/>
          <p:cNvSpPr/>
          <p:nvPr/>
        </p:nvSpPr>
        <p:spPr>
          <a:xfrm>
            <a:off x="7680960" y="3840480"/>
            <a:ext cx="274320" cy="1325880"/>
          </a:xfrm>
          <a:prstGeom prst="line">
            <a:avLst/>
          </a:prstGeom>
          <a:noFill/>
          <a:ln w="19050">
            <a:solidFill>
              <a:schemeClr val="accent6"/>
            </a:solidFill>
            <a:prstDash val="solid"/>
          </a:ln>
        </p:spPr>
      </p:sp>
      <p:sp>
        <p:nvSpPr>
          <p:cNvPr id="17" name="Text 15"/>
          <p:cNvSpPr txBox="1"/>
          <p:nvPr/>
        </p:nvSpPr>
        <p:spPr>
          <a:xfrm>
            <a:off x="548640" y="5989320"/>
            <a:ext cx="11064240" cy="411480"/>
          </a:xfrm>
          <a:prstGeom prst="rect">
            <a:avLst/>
          </a:prstGeom>
          <a:noFill/>
          <a:ln/>
        </p:spPr>
        <p:txBody>
          <a:bodyPr wrap="square" lIns="0" tIns="0" rIns="0" bIns="0" rtlCol="0" anchor="ctr"/>
          <a:lstStyle/>
          <a:p>
            <a:pPr indent="0" marL="0">
              <a:buNone/>
            </a:pPr>
            <a:r>
              <a:rPr lang="en-US" sz="1400" dirty="0">
                <a:solidFill>
                  <a:schemeClr val="accent6"/>
                </a:solidFill>
              </a:rPr>
              <a:t>Specialists use AAOSA: each says whether a task is theirs, then records how to do it. State lives in sly_data and a SQLite case store; tools read and write it, the LLM sees redacted views.</a:t>
            </a:r>
            <a:endParaRPr lang="en-US" sz="14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indent="0" marL="0">
              <a:buNone/>
            </a:pPr>
            <a:r>
              <a:rPr lang="en-US" sz="3400" b="1" dirty="0">
                <a:solidFill>
                  <a:schemeClr val="tx2"/>
                </a:solidFill>
              </a:rPr>
              <a:t>The agents, their jobs and main tools</a:t>
            </a:r>
            <a:endParaRPr lang="en-US" sz="3400" dirty="0"/>
          </a:p>
        </p:txBody>
      </p:sp>
      <p:graphicFrame>
        <p:nvGraphicFramePr>
          <p:cNvPr id="10" name="agents table"/>
          <p:cNvGraphicFramePr>
            <a:graphicFrameLocks noGrp="1"/>
          </p:cNvGraphicFramePr>
          <p:nvPr>
            <p:extLst>
              <p:ext uri="{D42A27DB-BD31-4B8C-83A1-F6EECF244321}">
                <p14:modId xmlns:p14="http://schemas.microsoft.com/office/powerpoint/2010/main" val="1579011935"/>
              </p:ext>
            </p:extLst>
          </p:nvPr>
        </p:nvGraphicFramePr>
        <p:xfrm>
          <a:off x="548640" y="1280160"/>
          <a:ext cx="11064240" cy="914400"/>
        </p:xfrm>
        <a:graphic>
          <a:graphicData uri="http://schemas.openxmlformats.org/drawingml/2006/table">
            <a:tbl>
              <a:tblPr/>
              <a:tblGrid>
                <a:gridCol w="2377440"/>
                <a:gridCol w="4114800"/>
                <a:gridCol w="4572000"/>
              </a:tblGrid>
              <a:tr h="329184">
                <a:tc>
                  <a:txBody>
                    <a:bodyPr/>
                    <a:lstStyle/>
                    <a:p>
                      <a:pPr indent="0" marL="0">
                        <a:buNone/>
                      </a:pPr>
                      <a:r>
                        <a:rPr lang="en-US" sz="1400" b="1" dirty="0">
                          <a:solidFill>
                            <a:schemeClr val="bg1"/>
                          </a:solidFill>
                        </a:rPr>
                        <a:t>Agent</a:t>
                      </a:r>
                      <a:endParaRPr lang="en-US" sz="1400" dirty="0"/>
                    </a:p>
                  </a:txBody>
                  <a:tcPr marL="73152" marR="73152" marT="0" marB="0" anchor="ctr">
                    <a:lnL w="0" cap="flat" cmpd="sng" algn="ctr">
                      <a:noFill/>
                    </a:lnL>
                    <a:lnR w="0" cap="flat" cmpd="sng" algn="ctr">
                      <a:noFill/>
                    </a:lnR>
                    <a:lnT w="0" cap="flat" cmpd="sng" algn="ctr">
                      <a:noFill/>
                    </a:lnT>
                    <a:lnB w="0" cap="flat" cmpd="sng" algn="ctr">
                      <a:noFill/>
                    </a:lnB>
                    <a:solidFill>
                      <a:schemeClr val="tx2"/>
                    </a:solidFill>
                  </a:tcPr>
                </a:tc>
                <a:tc>
                  <a:txBody>
                    <a:bodyPr/>
                    <a:lstStyle/>
                    <a:p>
                      <a:pPr indent="0" marL="0">
                        <a:buNone/>
                      </a:pPr>
                      <a:r>
                        <a:rPr lang="en-US" sz="1400" b="1" dirty="0">
                          <a:solidFill>
                            <a:schemeClr val="bg1"/>
                          </a:solidFill>
                        </a:rPr>
                        <a:t>Job</a:t>
                      </a:r>
                      <a:endParaRPr lang="en-US" sz="1400" dirty="0"/>
                    </a:p>
                  </a:txBody>
                  <a:tcPr marL="73152" marR="73152" marT="0" marB="0" anchor="ctr">
                    <a:lnL w="0" cap="flat" cmpd="sng" algn="ctr">
                      <a:noFill/>
                    </a:lnL>
                    <a:lnR w="0" cap="flat" cmpd="sng" algn="ctr">
                      <a:noFill/>
                    </a:lnR>
                    <a:lnT w="0" cap="flat" cmpd="sng" algn="ctr">
                      <a:noFill/>
                    </a:lnT>
                    <a:lnB w="0" cap="flat" cmpd="sng" algn="ctr">
                      <a:noFill/>
                    </a:lnB>
                    <a:solidFill>
                      <a:schemeClr val="tx2"/>
                    </a:solidFill>
                  </a:tcPr>
                </a:tc>
                <a:tc>
                  <a:txBody>
                    <a:bodyPr/>
                    <a:lstStyle/>
                    <a:p>
                      <a:pPr indent="0" marL="0">
                        <a:buNone/>
                      </a:pPr>
                      <a:r>
                        <a:rPr lang="en-US" sz="1400" b="1" dirty="0">
                          <a:solidFill>
                            <a:schemeClr val="bg1"/>
                          </a:solidFill>
                        </a:rPr>
                        <a:t>Main tools</a:t>
                      </a:r>
                      <a:endParaRPr lang="en-US" sz="1400" dirty="0"/>
                    </a:p>
                  </a:txBody>
                  <a:tcPr marL="73152" marR="73152" marT="0" marB="0" anchor="ctr">
                    <a:lnL w="0" cap="flat" cmpd="sng" algn="ctr">
                      <a:noFill/>
                    </a:lnL>
                    <a:lnR w="0" cap="flat" cmpd="sng" algn="ctr">
                      <a:noFill/>
                    </a:lnR>
                    <a:lnT w="0" cap="flat" cmpd="sng" algn="ctr">
                      <a:noFill/>
                    </a:lnT>
                    <a:lnB w="0" cap="flat" cmpd="sng" algn="ctr">
                      <a:noFill/>
                    </a:lnB>
                    <a:solidFill>
                      <a:schemeClr val="tx2"/>
                    </a:solidFill>
                  </a:tcPr>
                </a:tc>
              </a:tr>
              <a:tr h="329184">
                <a:tc>
                  <a:txBody>
                    <a:bodyPr/>
                    <a:lstStyle/>
                    <a:p>
                      <a:pPr indent="0" marL="0">
                        <a:buNone/>
                      </a:pPr>
                      <a:r>
                        <a:rPr lang="en-US" sz="1400" b="1" dirty="0">
                          <a:solidFill>
                            <a:schemeClr val="tx2"/>
                          </a:solidFill>
                        </a:rPr>
                        <a:t>move_coordinator</a:t>
                      </a:r>
                      <a:endParaRPr lang="en-US" sz="1400" dirty="0"/>
                    </a:p>
                  </a:txBody>
                  <a:tcPr marL="73152" marR="73152" marT="0" marB="0"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400" dirty="0">
                          <a:solidFill>
                            <a:schemeClr val="tx1"/>
                          </a:solidFill>
                        </a:rPr>
                        <a:t>Runs the conversation and the whole journey</a:t>
                      </a:r>
                      <a:endParaRPr lang="en-US" sz="1400" dirty="0"/>
                    </a:p>
                  </a:txBody>
                  <a:tcPr marL="73152" marR="73152" marT="0" marB="0"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400" dirty="0">
                          <a:solidFill>
                            <a:schemeClr val="accent5"/>
                          </a:solidFill>
                        </a:rPr>
                        <a:t>all 12 agents below</a:t>
                      </a:r>
                      <a:endParaRPr lang="en-US" sz="1400" dirty="0"/>
                    </a:p>
                  </a:txBody>
                  <a:tcPr marL="73152" marR="73152" marT="0" marB="0" anchor="ctr">
                    <a:lnL w="0" cap="flat" cmpd="sng" algn="ctr">
                      <a:noFill/>
                    </a:lnL>
                    <a:lnR w="0" cap="flat" cmpd="sng" algn="ctr">
                      <a:noFill/>
                    </a:lnR>
                    <a:lnT w="0" cap="flat" cmpd="sng" algn="ctr">
                      <a:noFill/>
                    </a:lnT>
                    <a:lnB w="0" cap="flat" cmpd="sng" algn="ctr">
                      <a:noFill/>
                    </a:lnB>
                    <a:solidFill>
                      <a:schemeClr val="bg2"/>
                    </a:solidFill>
                  </a:tcPr>
                </a:tc>
              </a:tr>
              <a:tr h="329184">
                <a:tc>
                  <a:txBody>
                    <a:bodyPr/>
                    <a:lstStyle/>
                    <a:p>
                      <a:pPr indent="0" marL="0">
                        <a:buNone/>
                      </a:pPr>
                      <a:r>
                        <a:rPr lang="en-US" sz="1400" b="1" dirty="0">
                          <a:solidFill>
                            <a:schemeClr val="tx2"/>
                          </a:solidFill>
                        </a:rPr>
                        <a:t>intake_agent</a:t>
                      </a:r>
                      <a:endParaRPr lang="en-US" sz="1400" dirty="0"/>
                    </a:p>
                  </a:txBody>
                  <a:tcPr marL="73152" marR="73152" marT="0" marB="0"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400" dirty="0">
                          <a:solidFill>
                            <a:schemeClr val="tx1"/>
                          </a:solidFill>
                        </a:rPr>
                        <a:t>Starts standalone cases; imports statements</a:t>
                      </a:r>
                      <a:endParaRPr lang="en-US" sz="1400" dirty="0"/>
                    </a:p>
                  </a:txBody>
                  <a:tcPr marL="73152" marR="73152" marT="0" marB="0"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400" dirty="0">
                          <a:solidFill>
                            <a:schemeClr val="accent5"/>
                          </a:solidFill>
                        </a:rPr>
                        <a:t>create_case, import_statement, add_manual_providers</a:t>
                      </a:r>
                      <a:endParaRPr lang="en-US" sz="1400" dirty="0"/>
                    </a:p>
                  </a:txBody>
                  <a:tcPr marL="73152" marR="73152" marT="0" marB="0" anchor="ctr">
                    <a:lnL w="0" cap="flat" cmpd="sng" algn="ctr">
                      <a:noFill/>
                    </a:lnL>
                    <a:lnR w="0" cap="flat" cmpd="sng" algn="ctr">
                      <a:noFill/>
                    </a:lnR>
                    <a:lnT w="0" cap="flat" cmpd="sng" algn="ctr">
                      <a:noFill/>
                    </a:lnT>
                    <a:lnB w="0" cap="flat" cmpd="sng" algn="ctr">
                      <a:noFill/>
                    </a:lnB>
                    <a:solidFill>
                      <a:schemeClr val="bg1"/>
                    </a:solidFill>
                  </a:tcPr>
                </a:tc>
              </a:tr>
              <a:tr h="329184">
                <a:tc>
                  <a:txBody>
                    <a:bodyPr/>
                    <a:lstStyle/>
                    <a:p>
                      <a:pPr indent="0" marL="0">
                        <a:buNone/>
                      </a:pPr>
                      <a:r>
                        <a:rPr lang="en-US" sz="1400" b="1" dirty="0">
                          <a:solidFill>
                            <a:schemeClr val="tx2"/>
                          </a:solidFill>
                        </a:rPr>
                        <a:t>profile_agent</a:t>
                      </a:r>
                      <a:endParaRPr lang="en-US" sz="1400" dirty="0"/>
                    </a:p>
                  </a:txBody>
                  <a:tcPr marL="73152" marR="73152" marT="0" marB="0"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400" dirty="0">
                          <a:solidFill>
                            <a:schemeClr val="tx1"/>
                          </a:solidFill>
                        </a:rPr>
                        <a:t>What we know, what is missing; resumes cases</a:t>
                      </a:r>
                      <a:endParaRPr lang="en-US" sz="1400" dirty="0"/>
                    </a:p>
                  </a:txBody>
                  <a:tcPr marL="73152" marR="73152" marT="0" marB="0"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400" dirty="0">
                          <a:solidFill>
                            <a:schemeClr val="accent5"/>
                          </a:solidFill>
                        </a:rPr>
                        <a:t>customer_profile_lookup</a:t>
                      </a:r>
                      <a:endParaRPr lang="en-US" sz="1400" dirty="0"/>
                    </a:p>
                  </a:txBody>
                  <a:tcPr marL="73152" marR="73152" marT="0" marB="0" anchor="ctr">
                    <a:lnL w="0" cap="flat" cmpd="sng" algn="ctr">
                      <a:noFill/>
                    </a:lnL>
                    <a:lnR w="0" cap="flat" cmpd="sng" algn="ctr">
                      <a:noFill/>
                    </a:lnR>
                    <a:lnT w="0" cap="flat" cmpd="sng" algn="ctr">
                      <a:noFill/>
                    </a:lnT>
                    <a:lnB w="0" cap="flat" cmpd="sng" algn="ctr">
                      <a:noFill/>
                    </a:lnB>
                    <a:solidFill>
                      <a:schemeClr val="bg2"/>
                    </a:solidFill>
                  </a:tcPr>
                </a:tc>
              </a:tr>
              <a:tr h="329184">
                <a:tc>
                  <a:txBody>
                    <a:bodyPr/>
                    <a:lstStyle/>
                    <a:p>
                      <a:pPr indent="0" marL="0">
                        <a:buNone/>
                      </a:pPr>
                      <a:r>
                        <a:rPr lang="en-US" sz="1400" b="1" dirty="0">
                          <a:solidFill>
                            <a:schemeClr val="tx2"/>
                          </a:solidFill>
                        </a:rPr>
                        <a:t>discovery_agent</a:t>
                      </a:r>
                      <a:endParaRPr lang="en-US" sz="1400" dirty="0"/>
                    </a:p>
                  </a:txBody>
                  <a:tcPr marL="73152" marR="73152" marT="0" marB="0"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400" dirty="0">
                          <a:solidFill>
                            <a:schemeClr val="tx1"/>
                          </a:solidFill>
                        </a:rPr>
                        <a:t>AI moment 1: providers and life facts</a:t>
                      </a:r>
                      <a:endParaRPr lang="en-US" sz="1400" dirty="0"/>
                    </a:p>
                  </a:txBody>
                  <a:tcPr marL="73152" marR="73152" marT="0" marB="0"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400" dirty="0">
                          <a:solidFill>
                            <a:schemeClr val="accent5"/>
                          </a:solidFill>
                        </a:rPr>
                        <a:t>get_transactions</a:t>
                      </a:r>
                      <a:endParaRPr lang="en-US" sz="1400" dirty="0"/>
                    </a:p>
                  </a:txBody>
                  <a:tcPr marL="73152" marR="73152" marT="0" marB="0" anchor="ctr">
                    <a:lnL w="0" cap="flat" cmpd="sng" algn="ctr">
                      <a:noFill/>
                    </a:lnL>
                    <a:lnR w="0" cap="flat" cmpd="sng" algn="ctr">
                      <a:noFill/>
                    </a:lnR>
                    <a:lnT w="0" cap="flat" cmpd="sng" algn="ctr">
                      <a:noFill/>
                    </a:lnT>
                    <a:lnB w="0" cap="flat" cmpd="sng" algn="ctr">
                      <a:noFill/>
                    </a:lnB>
                    <a:solidFill>
                      <a:schemeClr val="bg1"/>
                    </a:solidFill>
                  </a:tcPr>
                </a:tc>
              </a:tr>
              <a:tr h="329184">
                <a:tc>
                  <a:txBody>
                    <a:bodyPr/>
                    <a:lstStyle/>
                    <a:p>
                      <a:pPr indent="0" marL="0">
                        <a:buNone/>
                      </a:pPr>
                      <a:r>
                        <a:rPr lang="en-US" sz="1400" b="1" dirty="0">
                          <a:solidFill>
                            <a:schemeClr val="tx2"/>
                          </a:solidFill>
                        </a:rPr>
                        <a:t>obligations_agent</a:t>
                      </a:r>
                      <a:endParaRPr lang="en-US" sz="1400" dirty="0"/>
                    </a:p>
                  </a:txBody>
                  <a:tcPr marL="73152" marR="73152" marT="0" marB="0"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400" dirty="0">
                          <a:solidFill>
                            <a:schemeClr val="tx1"/>
                          </a:solidFill>
                        </a:rPr>
                        <a:t>Which organisations must be told</a:t>
                      </a:r>
                      <a:endParaRPr lang="en-US" sz="1400" dirty="0"/>
                    </a:p>
                  </a:txBody>
                  <a:tcPr marL="73152" marR="73152" marT="0" marB="0"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400" dirty="0">
                          <a:solidFill>
                            <a:schemeClr val="accent5"/>
                          </a:solidFill>
                        </a:rPr>
                        <a:t>obligations_rules, council_lookup (live)</a:t>
                      </a:r>
                      <a:endParaRPr lang="en-US" sz="1400" dirty="0"/>
                    </a:p>
                  </a:txBody>
                  <a:tcPr marL="73152" marR="73152" marT="0" marB="0" anchor="ctr">
                    <a:lnL w="0" cap="flat" cmpd="sng" algn="ctr">
                      <a:noFill/>
                    </a:lnL>
                    <a:lnR w="0" cap="flat" cmpd="sng" algn="ctr">
                      <a:noFill/>
                    </a:lnR>
                    <a:lnT w="0" cap="flat" cmpd="sng" algn="ctr">
                      <a:noFill/>
                    </a:lnT>
                    <a:lnB w="0" cap="flat" cmpd="sng" algn="ctr">
                      <a:noFill/>
                    </a:lnB>
                    <a:solidFill>
                      <a:schemeClr val="bg2"/>
                    </a:solidFill>
                  </a:tcPr>
                </a:tc>
              </a:tr>
              <a:tr h="329184">
                <a:tc>
                  <a:txBody>
                    <a:bodyPr/>
                    <a:lstStyle/>
                    <a:p>
                      <a:pPr indent="0" marL="0">
                        <a:buNone/>
                      </a:pPr>
                      <a:r>
                        <a:rPr lang="en-US" sz="1400" b="1" dirty="0">
                          <a:solidFill>
                            <a:schemeClr val="tx2"/>
                          </a:solidFill>
                        </a:rPr>
                        <a:t>timeline_agent</a:t>
                      </a:r>
                      <a:endParaRPr lang="en-US" sz="1400" dirty="0"/>
                    </a:p>
                  </a:txBody>
                  <a:tcPr marL="73152" marR="73152" marT="0" marB="0"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400" dirty="0">
                          <a:solidFill>
                            <a:schemeClr val="tx1"/>
                          </a:solidFill>
                        </a:rPr>
                        <a:t>Dated plan in UK working days</a:t>
                      </a:r>
                      <a:endParaRPr lang="en-US" sz="1400" dirty="0"/>
                    </a:p>
                  </a:txBody>
                  <a:tcPr marL="73152" marR="73152" marT="0" marB="0"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400" dirty="0">
                          <a:solidFill>
                            <a:schemeClr val="accent5"/>
                          </a:solidFill>
                        </a:rPr>
                        <a:t>build_timeline</a:t>
                      </a:r>
                      <a:endParaRPr lang="en-US" sz="1400" dirty="0"/>
                    </a:p>
                  </a:txBody>
                  <a:tcPr marL="73152" marR="73152" marT="0" marB="0" anchor="ctr">
                    <a:lnL w="0" cap="flat" cmpd="sng" algn="ctr">
                      <a:noFill/>
                    </a:lnL>
                    <a:lnR w="0" cap="flat" cmpd="sng" algn="ctr">
                      <a:noFill/>
                    </a:lnR>
                    <a:lnT w="0" cap="flat" cmpd="sng" algn="ctr">
                      <a:noFill/>
                    </a:lnT>
                    <a:lnB w="0" cap="flat" cmpd="sng" algn="ctr">
                      <a:noFill/>
                    </a:lnB>
                    <a:solidFill>
                      <a:schemeClr val="bg1"/>
                    </a:solidFill>
                  </a:tcPr>
                </a:tc>
              </a:tr>
              <a:tr h="329184">
                <a:tc>
                  <a:txBody>
                    <a:bodyPr/>
                    <a:lstStyle/>
                    <a:p>
                      <a:pPr indent="0" marL="0">
                        <a:buNone/>
                      </a:pPr>
                      <a:r>
                        <a:rPr lang="en-US" sz="1400" b="1" dirty="0">
                          <a:solidFill>
                            <a:schemeClr val="tx2"/>
                          </a:solidFill>
                        </a:rPr>
                        <a:t>local_services_agent</a:t>
                      </a:r>
                      <a:endParaRPr lang="en-US" sz="1400" dirty="0"/>
                    </a:p>
                  </a:txBody>
                  <a:tcPr marL="73152" marR="73152" marT="0" marB="0"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400" dirty="0">
                          <a:solidFill>
                            <a:schemeClr val="tx1"/>
                          </a:solidFill>
                        </a:rPr>
                        <a:t>GPs, schools and water at the new home</a:t>
                      </a:r>
                      <a:endParaRPr lang="en-US" sz="1400" dirty="0"/>
                    </a:p>
                  </a:txBody>
                  <a:tcPr marL="73152" marR="73152" marT="0" marB="0"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400" dirty="0">
                          <a:solidFill>
                            <a:schemeClr val="accent5"/>
                          </a:solidFill>
                        </a:rPr>
                        <a:t>gp_finder, school_finder, water_supplier_lookup</a:t>
                      </a:r>
                      <a:endParaRPr lang="en-US" sz="1400" dirty="0"/>
                    </a:p>
                  </a:txBody>
                  <a:tcPr marL="73152" marR="73152" marT="0" marB="0" anchor="ctr">
                    <a:lnL w="0" cap="flat" cmpd="sng" algn="ctr">
                      <a:noFill/>
                    </a:lnL>
                    <a:lnR w="0" cap="flat" cmpd="sng" algn="ctr">
                      <a:noFill/>
                    </a:lnR>
                    <a:lnT w="0" cap="flat" cmpd="sng" algn="ctr">
                      <a:noFill/>
                    </a:lnT>
                    <a:lnB w="0" cap="flat" cmpd="sng" algn="ctr">
                      <a:noFill/>
                    </a:lnB>
                    <a:solidFill>
                      <a:schemeClr val="bg2"/>
                    </a:solidFill>
                  </a:tcPr>
                </a:tc>
              </a:tr>
              <a:tr h="329184">
                <a:tc>
                  <a:txBody>
                    <a:bodyPr/>
                    <a:lstStyle/>
                    <a:p>
                      <a:pPr indent="0" marL="0">
                        <a:buNone/>
                      </a:pPr>
                      <a:r>
                        <a:rPr lang="en-US" sz="1400" b="1" dirty="0">
                          <a:solidFill>
                            <a:schemeClr val="tx2"/>
                          </a:solidFill>
                        </a:rPr>
                        <a:t>government_agent</a:t>
                      </a:r>
                      <a:endParaRPr lang="en-US" sz="1400" dirty="0"/>
                    </a:p>
                  </a:txBody>
                  <a:tcPr marL="73152" marR="73152" marT="0" marB="0" anchor="ctr">
                    <a:lnL w="0" cap="flat" cmpd="sng" algn="ctr">
                      <a:noFill/>
                    </a:lnL>
                    <a:lnR w="0" cap="flat" cmpd="sng" algn="ctr">
                      <a:noFill/>
                    </a:lnR>
                    <a:lnT w="0" cap="flat" cmpd="sng" algn="ctr">
                      <a:noFill/>
                    </a:lnT>
                    <a:lnB w="0" cap="flat" cmpd="sng" algn="ctr">
                      <a:noFill/>
                    </a:lnB>
                    <a:solidFill>
                      <a:schemeClr val="accent4"/>
                    </a:solidFill>
                  </a:tcPr>
                </a:tc>
                <a:tc>
                  <a:txBody>
                    <a:bodyPr/>
                    <a:lstStyle/>
                    <a:p>
                      <a:pPr indent="0" marL="0">
                        <a:buNone/>
                      </a:pPr>
                      <a:r>
                        <a:rPr lang="en-US" sz="1400" dirty="0">
                          <a:solidFill>
                            <a:schemeClr val="tx1"/>
                          </a:solidFill>
                        </a:rPr>
                        <a:t>DVLA, council tax or rates, electoral register</a:t>
                      </a:r>
                      <a:endParaRPr lang="en-US" sz="1400" dirty="0"/>
                    </a:p>
                  </a:txBody>
                  <a:tcPr marL="73152" marR="73152" marT="0" marB="0" anchor="ctr">
                    <a:lnL w="0" cap="flat" cmpd="sng" algn="ctr">
                      <a:noFill/>
                    </a:lnL>
                    <a:lnR w="0" cap="flat" cmpd="sng" algn="ctr">
                      <a:noFill/>
                    </a:lnR>
                    <a:lnT w="0" cap="flat" cmpd="sng" algn="ctr">
                      <a:noFill/>
                    </a:lnT>
                    <a:lnB w="0" cap="flat" cmpd="sng" algn="ctr">
                      <a:noFill/>
                    </a:lnB>
                    <a:solidFill>
                      <a:schemeClr val="accent4"/>
                    </a:solidFill>
                  </a:tcPr>
                </a:tc>
                <a:tc>
                  <a:txBody>
                    <a:bodyPr/>
                    <a:lstStyle/>
                    <a:p>
                      <a:pPr indent="0" marL="0">
                        <a:buNone/>
                      </a:pPr>
                      <a:r>
                        <a:rPr lang="en-US" sz="1400" dirty="0">
                          <a:solidFill>
                            <a:schemeClr val="accent5"/>
                          </a:solidFill>
                        </a:rPr>
                        <a:t>gov_service_directory, list_tasks, update_tasks</a:t>
                      </a:r>
                      <a:endParaRPr lang="en-US" sz="1400" dirty="0"/>
                    </a:p>
                  </a:txBody>
                  <a:tcPr marL="73152" marR="73152" marT="0" marB="0" anchor="ctr">
                    <a:lnL w="0" cap="flat" cmpd="sng" algn="ctr">
                      <a:noFill/>
                    </a:lnL>
                    <a:lnR w="0" cap="flat" cmpd="sng" algn="ctr">
                      <a:noFill/>
                    </a:lnR>
                    <a:lnT w="0" cap="flat" cmpd="sng" algn="ctr">
                      <a:noFill/>
                    </a:lnT>
                    <a:lnB w="0" cap="flat" cmpd="sng" algn="ctr">
                      <a:noFill/>
                    </a:lnB>
                    <a:solidFill>
                      <a:schemeClr val="accent4"/>
                    </a:solidFill>
                  </a:tcPr>
                </a:tc>
              </a:tr>
              <a:tr h="329184">
                <a:tc>
                  <a:txBody>
                    <a:bodyPr/>
                    <a:lstStyle/>
                    <a:p>
                      <a:pPr indent="0" marL="0">
                        <a:buNone/>
                      </a:pPr>
                      <a:r>
                        <a:rPr lang="en-US" sz="1400" b="1" dirty="0">
                          <a:solidFill>
                            <a:schemeClr val="tx2"/>
                          </a:solidFill>
                        </a:rPr>
                        <a:t>home_utilities_agent</a:t>
                      </a:r>
                      <a:endParaRPr lang="en-US" sz="1400" dirty="0"/>
                    </a:p>
                  </a:txBody>
                  <a:tcPr marL="73152" marR="73152" marT="0" marB="0" anchor="ctr">
                    <a:lnL w="0" cap="flat" cmpd="sng" algn="ctr">
                      <a:noFill/>
                    </a:lnL>
                    <a:lnR w="0" cap="flat" cmpd="sng" algn="ctr">
                      <a:noFill/>
                    </a:lnR>
                    <a:lnT w="0" cap="flat" cmpd="sng" algn="ctr">
                      <a:noFill/>
                    </a:lnT>
                    <a:lnB w="0" cap="flat" cmpd="sng" algn="ctr">
                      <a:noFill/>
                    </a:lnB>
                    <a:solidFill>
                      <a:schemeClr val="accent4"/>
                    </a:solidFill>
                  </a:tcPr>
                </a:tc>
                <a:tc>
                  <a:txBody>
                    <a:bodyPr/>
                    <a:lstStyle/>
                    <a:p>
                      <a:pPr indent="0" marL="0">
                        <a:buNone/>
                      </a:pPr>
                      <a:r>
                        <a:rPr lang="en-US" sz="1400" dirty="0">
                          <a:solidFill>
                            <a:schemeClr val="tx1"/>
                          </a:solidFill>
                        </a:rPr>
                        <a:t>Energy, water, broadband, TV Licensing, post</a:t>
                      </a:r>
                      <a:endParaRPr lang="en-US" sz="1400" dirty="0"/>
                    </a:p>
                  </a:txBody>
                  <a:tcPr marL="73152" marR="73152" marT="0" marB="0" anchor="ctr">
                    <a:lnL w="0" cap="flat" cmpd="sng" algn="ctr">
                      <a:noFill/>
                    </a:lnL>
                    <a:lnR w="0" cap="flat" cmpd="sng" algn="ctr">
                      <a:noFill/>
                    </a:lnR>
                    <a:lnT w="0" cap="flat" cmpd="sng" algn="ctr">
                      <a:noFill/>
                    </a:lnT>
                    <a:lnB w="0" cap="flat" cmpd="sng" algn="ctr">
                      <a:noFill/>
                    </a:lnB>
                    <a:solidFill>
                      <a:schemeClr val="accent4"/>
                    </a:solidFill>
                  </a:tcPr>
                </a:tc>
                <a:tc>
                  <a:txBody>
                    <a:bodyPr/>
                    <a:lstStyle/>
                    <a:p>
                      <a:pPr indent="0" marL="0">
                        <a:buNone/>
                      </a:pPr>
                      <a:r>
                        <a:rPr lang="en-US" sz="1400" dirty="0">
                          <a:solidFill>
                            <a:schemeClr val="accent5"/>
                          </a:solidFill>
                        </a:rPr>
                        <a:t>provider_directory, list_tasks, update_tasks</a:t>
                      </a:r>
                      <a:endParaRPr lang="en-US" sz="1400" dirty="0"/>
                    </a:p>
                  </a:txBody>
                  <a:tcPr marL="73152" marR="73152" marT="0" marB="0" anchor="ctr">
                    <a:lnL w="0" cap="flat" cmpd="sng" algn="ctr">
                      <a:noFill/>
                    </a:lnL>
                    <a:lnR w="0" cap="flat" cmpd="sng" algn="ctr">
                      <a:noFill/>
                    </a:lnR>
                    <a:lnT w="0" cap="flat" cmpd="sng" algn="ctr">
                      <a:noFill/>
                    </a:lnT>
                    <a:lnB w="0" cap="flat" cmpd="sng" algn="ctr">
                      <a:noFill/>
                    </a:lnB>
                    <a:solidFill>
                      <a:schemeClr val="accent4"/>
                    </a:solidFill>
                  </a:tcPr>
                </a:tc>
              </a:tr>
              <a:tr h="329184">
                <a:tc>
                  <a:txBody>
                    <a:bodyPr/>
                    <a:lstStyle/>
                    <a:p>
                      <a:pPr indent="0" marL="0">
                        <a:buNone/>
                      </a:pPr>
                      <a:r>
                        <a:rPr lang="en-US" sz="1400" b="1" dirty="0">
                          <a:solidFill>
                            <a:schemeClr val="tx2"/>
                          </a:solidFill>
                        </a:rPr>
                        <a:t>financial_agent</a:t>
                      </a:r>
                      <a:endParaRPr lang="en-US" sz="1400" dirty="0"/>
                    </a:p>
                  </a:txBody>
                  <a:tcPr marL="73152" marR="73152" marT="0" marB="0" anchor="ctr">
                    <a:lnL w="0" cap="flat" cmpd="sng" algn="ctr">
                      <a:noFill/>
                    </a:lnL>
                    <a:lnR w="0" cap="flat" cmpd="sng" algn="ctr">
                      <a:noFill/>
                    </a:lnR>
                    <a:lnT w="0" cap="flat" cmpd="sng" algn="ctr">
                      <a:noFill/>
                    </a:lnT>
                    <a:lnB w="0" cap="flat" cmpd="sng" algn="ctr">
                      <a:noFill/>
                    </a:lnB>
                    <a:solidFill>
                      <a:schemeClr val="accent4"/>
                    </a:solidFill>
                  </a:tcPr>
                </a:tc>
                <a:tc>
                  <a:txBody>
                    <a:bodyPr/>
                    <a:lstStyle/>
                    <a:p>
                      <a:pPr indent="0" marL="0">
                        <a:buNone/>
                      </a:pPr>
                      <a:r>
                        <a:rPr lang="en-US" sz="1400" dirty="0">
                          <a:solidFill>
                            <a:schemeClr val="tx1"/>
                          </a:solidFill>
                        </a:rPr>
                        <a:t>Bank address, home and car insurance</a:t>
                      </a:r>
                      <a:endParaRPr lang="en-US" sz="1400" dirty="0"/>
                    </a:p>
                  </a:txBody>
                  <a:tcPr marL="73152" marR="73152" marT="0" marB="0" anchor="ctr">
                    <a:lnL w="0" cap="flat" cmpd="sng" algn="ctr">
                      <a:noFill/>
                    </a:lnL>
                    <a:lnR w="0" cap="flat" cmpd="sng" algn="ctr">
                      <a:noFill/>
                    </a:lnR>
                    <a:lnT w="0" cap="flat" cmpd="sng" algn="ctr">
                      <a:noFill/>
                    </a:lnT>
                    <a:lnB w="0" cap="flat" cmpd="sng" algn="ctr">
                      <a:noFill/>
                    </a:lnB>
                    <a:solidFill>
                      <a:schemeClr val="accent4"/>
                    </a:solidFill>
                  </a:tcPr>
                </a:tc>
                <a:tc>
                  <a:txBody>
                    <a:bodyPr/>
                    <a:lstStyle/>
                    <a:p>
                      <a:pPr indent="0" marL="0">
                        <a:buNone/>
                      </a:pPr>
                      <a:r>
                        <a:rPr lang="en-US" sz="1400" dirty="0">
                          <a:solidFill>
                            <a:schemeClr val="accent5"/>
                          </a:solidFill>
                        </a:rPr>
                        <a:t>bank_address_api, insurance_quote_api</a:t>
                      </a:r>
                      <a:endParaRPr lang="en-US" sz="1400" dirty="0"/>
                    </a:p>
                  </a:txBody>
                  <a:tcPr marL="73152" marR="73152" marT="0" marB="0" anchor="ctr">
                    <a:lnL w="0" cap="flat" cmpd="sng" algn="ctr">
                      <a:noFill/>
                    </a:lnL>
                    <a:lnR w="0" cap="flat" cmpd="sng" algn="ctr">
                      <a:noFill/>
                    </a:lnR>
                    <a:lnT w="0" cap="flat" cmpd="sng" algn="ctr">
                      <a:noFill/>
                    </a:lnT>
                    <a:lnB w="0" cap="flat" cmpd="sng" algn="ctr">
                      <a:noFill/>
                    </a:lnB>
                    <a:solidFill>
                      <a:schemeClr val="accent4"/>
                    </a:solidFill>
                  </a:tcPr>
                </a:tc>
              </a:tr>
              <a:tr h="329184">
                <a:tc>
                  <a:txBody>
                    <a:bodyPr/>
                    <a:lstStyle/>
                    <a:p>
                      <a:pPr indent="0" marL="0">
                        <a:buNone/>
                      </a:pPr>
                      <a:r>
                        <a:rPr lang="en-US" sz="1400" b="1" dirty="0">
                          <a:solidFill>
                            <a:schemeClr val="tx2"/>
                          </a:solidFill>
                        </a:rPr>
                        <a:t>health_family_agent</a:t>
                      </a:r>
                      <a:endParaRPr lang="en-US" sz="1400" dirty="0"/>
                    </a:p>
                  </a:txBody>
                  <a:tcPr marL="73152" marR="73152" marT="0" marB="0" anchor="ctr">
                    <a:lnL w="0" cap="flat" cmpd="sng" algn="ctr">
                      <a:noFill/>
                    </a:lnL>
                    <a:lnR w="0" cap="flat" cmpd="sng" algn="ctr">
                      <a:noFill/>
                    </a:lnR>
                    <a:lnT w="0" cap="flat" cmpd="sng" algn="ctr">
                      <a:noFill/>
                    </a:lnT>
                    <a:lnB w="0" cap="flat" cmpd="sng" algn="ctr">
                      <a:noFill/>
                    </a:lnB>
                    <a:solidFill>
                      <a:schemeClr val="accent4"/>
                    </a:solidFill>
                  </a:tcPr>
                </a:tc>
                <a:tc>
                  <a:txBody>
                    <a:bodyPr/>
                    <a:lstStyle/>
                    <a:p>
                      <a:pPr indent="0" marL="0">
                        <a:buNone/>
                      </a:pPr>
                      <a:r>
                        <a:rPr lang="en-US" sz="1400" dirty="0">
                          <a:solidFill>
                            <a:schemeClr val="tx1"/>
                          </a:solidFill>
                        </a:rPr>
                        <a:t>GP, pet microchip, nursery or school</a:t>
                      </a:r>
                      <a:endParaRPr lang="en-US" sz="1400" dirty="0"/>
                    </a:p>
                  </a:txBody>
                  <a:tcPr marL="73152" marR="73152" marT="0" marB="0" anchor="ctr">
                    <a:lnL w="0" cap="flat" cmpd="sng" algn="ctr">
                      <a:noFill/>
                    </a:lnL>
                    <a:lnR w="0" cap="flat" cmpd="sng" algn="ctr">
                      <a:noFill/>
                    </a:lnR>
                    <a:lnT w="0" cap="flat" cmpd="sng" algn="ctr">
                      <a:noFill/>
                    </a:lnT>
                    <a:lnB w="0" cap="flat" cmpd="sng" algn="ctr">
                      <a:noFill/>
                    </a:lnB>
                    <a:solidFill>
                      <a:schemeClr val="accent4"/>
                    </a:solidFill>
                  </a:tcPr>
                </a:tc>
                <a:tc>
                  <a:txBody>
                    <a:bodyPr/>
                    <a:lstStyle/>
                    <a:p>
                      <a:pPr indent="0" marL="0">
                        <a:buNone/>
                      </a:pPr>
                      <a:r>
                        <a:rPr lang="en-US" sz="1400" dirty="0">
                          <a:solidFill>
                            <a:schemeClr val="accent5"/>
                          </a:solidFill>
                        </a:rPr>
                        <a:t>gp_finder, gov_service_directory</a:t>
                      </a:r>
                      <a:endParaRPr lang="en-US" sz="1400" dirty="0"/>
                    </a:p>
                  </a:txBody>
                  <a:tcPr marL="73152" marR="73152" marT="0" marB="0" anchor="ctr">
                    <a:lnL w="0" cap="flat" cmpd="sng" algn="ctr">
                      <a:noFill/>
                    </a:lnL>
                    <a:lnR w="0" cap="flat" cmpd="sng" algn="ctr">
                      <a:noFill/>
                    </a:lnR>
                    <a:lnT w="0" cap="flat" cmpd="sng" algn="ctr">
                      <a:noFill/>
                    </a:lnT>
                    <a:lnB w="0" cap="flat" cmpd="sng" algn="ctr">
                      <a:noFill/>
                    </a:lnB>
                    <a:solidFill>
                      <a:schemeClr val="accent4"/>
                    </a:solidFill>
                  </a:tcPr>
                </a:tc>
              </a:tr>
              <a:tr h="329184">
                <a:tc>
                  <a:txBody>
                    <a:bodyPr/>
                    <a:lstStyle/>
                    <a:p>
                      <a:pPr indent="0" marL="0">
                        <a:buNone/>
                      </a:pPr>
                      <a:r>
                        <a:rPr lang="en-US" sz="1400" b="1" dirty="0">
                          <a:solidFill>
                            <a:schemeClr val="tx2"/>
                          </a:solidFill>
                        </a:rPr>
                        <a:t>comms_agent</a:t>
                      </a:r>
                      <a:endParaRPr lang="en-US" sz="1400" dirty="0"/>
                    </a:p>
                  </a:txBody>
                  <a:tcPr marL="73152" marR="73152" marT="0" marB="0"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400" dirty="0">
                          <a:solidFill>
                            <a:schemeClr val="tx1"/>
                          </a:solidFill>
                        </a:rPr>
                        <a:t>One draft per task, with placeholders</a:t>
                      </a:r>
                      <a:endParaRPr lang="en-US" sz="1400" dirty="0"/>
                    </a:p>
                  </a:txBody>
                  <a:tcPr marL="73152" marR="73152" marT="0" marB="0"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400" dirty="0">
                          <a:solidFill>
                            <a:schemeClr val="accent5"/>
                          </a:solidFill>
                        </a:rPr>
                        <a:t>letter_templates, save_drafts</a:t>
                      </a:r>
                      <a:endParaRPr lang="en-US" sz="1400" dirty="0"/>
                    </a:p>
                  </a:txBody>
                  <a:tcPr marL="73152" marR="73152" marT="0" marB="0" anchor="ctr">
                    <a:lnL w="0" cap="flat" cmpd="sng" algn="ctr">
                      <a:noFill/>
                    </a:lnL>
                    <a:lnR w="0" cap="flat" cmpd="sng" algn="ctr">
                      <a:noFill/>
                    </a:lnR>
                    <a:lnT w="0" cap="flat" cmpd="sng" algn="ctr">
                      <a:noFill/>
                    </a:lnT>
                    <a:lnB w="0" cap="flat" cmpd="sng" algn="ctr">
                      <a:noFill/>
                    </a:lnB>
                    <a:solidFill>
                      <a:schemeClr val="bg1"/>
                    </a:solidFill>
                  </a:tcPr>
                </a:tc>
              </a:tr>
              <a:tr h="329184">
                <a:tc>
                  <a:txBody>
                    <a:bodyPr/>
                    <a:lstStyle/>
                    <a:p>
                      <a:pPr indent="0" marL="0">
                        <a:buNone/>
                      </a:pPr>
                      <a:r>
                        <a:rPr lang="en-US" sz="1400" b="1" dirty="0">
                          <a:solidFill>
                            <a:schemeClr val="tx2"/>
                          </a:solidFill>
                        </a:rPr>
                        <a:t>tracker_agent</a:t>
                      </a:r>
                      <a:endParaRPr lang="en-US" sz="1400" dirty="0"/>
                    </a:p>
                  </a:txBody>
                  <a:tcPr marL="73152" marR="73152" marT="0" marB="0"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400" dirty="0">
                          <a:solidFill>
                            <a:schemeClr val="tx1"/>
                          </a:solidFill>
                        </a:rPr>
                        <a:t>AI moment 2: approve, send, replan, replies</a:t>
                      </a:r>
                      <a:endParaRPr lang="en-US" sz="1400" dirty="0"/>
                    </a:p>
                  </a:txBody>
                  <a:tcPr marL="73152" marR="73152" marT="0" marB="0"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400" dirty="0">
                          <a:solidFill>
                            <a:schemeClr val="accent5"/>
                          </a:solidFill>
                        </a:rPr>
                        <a:t>approve_drafts, send_notification, plan_corrections</a:t>
                      </a:r>
                      <a:endParaRPr lang="en-US" sz="1400" dirty="0"/>
                    </a:p>
                  </a:txBody>
                  <a:tcPr marL="73152" marR="73152" marT="0" marB="0" anchor="ctr">
                    <a:lnL w="0" cap="flat" cmpd="sng" algn="ctr">
                      <a:noFill/>
                    </a:lnL>
                    <a:lnR w="0" cap="flat" cmpd="sng" algn="ctr">
                      <a:noFill/>
                    </a:lnR>
                    <a:lnT w="0" cap="flat" cmpd="sng" algn="ctr">
                      <a:noFill/>
                    </a:lnT>
                    <a:lnB w="0" cap="flat" cmpd="sng" algn="ctr">
                      <a:noFill/>
                    </a:lnB>
                    <a:solidFill>
                      <a:schemeClr val="bg2"/>
                    </a:solidFill>
                  </a:tcPr>
                </a:tc>
              </a:tr>
            </a:tbl>
          </a:graphicData>
        </a:graphic>
      </p:graphicFrame>
      <p:sp>
        <p:nvSpPr>
          <p:cNvPr id="4" name="Text 1"/>
          <p:cNvSpPr txBox="1"/>
          <p:nvPr/>
        </p:nvSpPr>
        <p:spPr>
          <a:xfrm>
            <a:off x="548640" y="5943600"/>
            <a:ext cx="11064240" cy="320040"/>
          </a:xfrm>
          <a:prstGeom prst="rect">
            <a:avLst/>
          </a:prstGeom>
          <a:noFill/>
          <a:ln/>
        </p:spPr>
        <p:txBody>
          <a:bodyPr wrap="square" lIns="0" tIns="0" rIns="0" bIns="0" rtlCol="0" anchor="ctr"/>
          <a:lstStyle/>
          <a:p>
            <a:pPr indent="0" marL="0">
              <a:buNone/>
            </a:pPr>
            <a:r>
              <a:rPr lang="en-US" sz="1200" b="1" dirty="0">
                <a:solidFill>
                  <a:schemeClr val="tx2"/>
                </a:solidFill>
              </a:rPr>
              <a:t>Highlighted: </a:t>
            </a:r>
            <a:pPr indent="0" marL="0">
              <a:buNone/>
            </a:pPr>
            <a:r>
              <a:rPr lang="en-US" sz="1200" dirty="0">
                <a:solidFill>
                  <a:schemeClr val="accent6"/>
                </a:solidFill>
              </a:rPr>
              <a:t>the four AAOSA specialists. Each says whether a task is theirs, then records how to do it.</a:t>
            </a:r>
            <a:endParaRPr lang="en-US" sz="12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indent="0" marL="0">
              <a:buNone/>
            </a:pPr>
            <a:r>
              <a:rPr lang="en-US" sz="3400" b="1" dirty="0">
                <a:solidFill>
                  <a:schemeClr val="tx2"/>
                </a:solidFill>
              </a:rPr>
              <a:t>Trust is built into the code, not the prompt</a:t>
            </a:r>
            <a:endParaRPr lang="en-US" sz="3400" dirty="0"/>
          </a:p>
        </p:txBody>
      </p:sp>
      <p:sp>
        <p:nvSpPr>
          <p:cNvPr id="3" name="The server holds the state"/>
          <p:cNvSpPr/>
          <p:nvPr/>
        </p:nvSpPr>
        <p:spPr>
          <a:xfrm>
            <a:off x="548640" y="1463040"/>
            <a:ext cx="3474720" cy="2103120"/>
          </a:xfrm>
          <a:prstGeom prst="roundRect">
            <a:avLst>
              <a:gd name="adj" fmla="val 5217"/>
            </a:avLst>
          </a:prstGeom>
          <a:solidFill>
            <a:schemeClr val="bg2"/>
          </a:solidFill>
          <a:ln/>
        </p:spPr>
      </p:sp>
      <p:sp>
        <p:nvSpPr>
          <p:cNvPr id="4" name="The server holds the state circle"/>
          <p:cNvSpPr/>
          <p:nvPr/>
        </p:nvSpPr>
        <p:spPr>
          <a:xfrm>
            <a:off x="822960" y="1737360"/>
            <a:ext cx="685800" cy="685800"/>
          </a:xfrm>
          <a:prstGeom prst="ellipse">
            <a:avLst/>
          </a:prstGeom>
          <a:solidFill>
            <a:schemeClr val="accent2"/>
          </a:solidFill>
          <a:ln/>
        </p:spPr>
      </p:sp>
      <p:pic>
        <p:nvPicPr>
          <p:cNvPr id="5" name="The server holds the state icon" descr="preencoded.png">    </p:cNvPr>
          <p:cNvPicPr>
            <a:picLocks noChangeAspect="1"/>
          </p:cNvPicPr>
          <p:nvPr/>
        </p:nvPicPr>
        <p:blipFill>
          <a:blip r:embed="rId1"/>
          <a:stretch>
            <a:fillRect/>
          </a:stretch>
        </p:blipFill>
        <p:spPr>
          <a:xfrm>
            <a:off x="994410" y="1908810"/>
            <a:ext cx="342900" cy="342900"/>
          </a:xfrm>
          <a:prstGeom prst="rect">
            <a:avLst/>
          </a:prstGeom>
        </p:spPr>
      </p:pic>
      <p:sp>
        <p:nvSpPr>
          <p:cNvPr id="6" name="Text 3"/>
          <p:cNvSpPr txBox="1"/>
          <p:nvPr/>
        </p:nvSpPr>
        <p:spPr>
          <a:xfrm>
            <a:off x="1645920" y="1737360"/>
            <a:ext cx="2240280" cy="731520"/>
          </a:xfrm>
          <a:prstGeom prst="rect">
            <a:avLst/>
          </a:prstGeom>
          <a:noFill/>
          <a:ln/>
        </p:spPr>
        <p:txBody>
          <a:bodyPr wrap="square" lIns="0" tIns="0" rIns="0" bIns="0" rtlCol="0" anchor="ctr"/>
          <a:lstStyle/>
          <a:p>
            <a:pPr indent="0" marL="0">
              <a:buNone/>
            </a:pPr>
            <a:r>
              <a:rPr lang="en-US" sz="1700" b="1" dirty="0">
                <a:solidFill>
                  <a:schemeClr val="tx2"/>
                </a:solidFill>
              </a:rPr>
              <a:t>The server holds the state</a:t>
            </a:r>
            <a:endParaRPr lang="en-US" sz="1700" dirty="0"/>
          </a:p>
        </p:txBody>
      </p:sp>
      <p:sp>
        <p:nvSpPr>
          <p:cNvPr id="7" name="Text 4"/>
          <p:cNvSpPr txBox="1"/>
          <p:nvPr/>
        </p:nvSpPr>
        <p:spPr>
          <a:xfrm>
            <a:off x="822960" y="2560320"/>
            <a:ext cx="3017520" cy="914400"/>
          </a:xfrm>
          <a:prstGeom prst="rect">
            <a:avLst/>
          </a:prstGeom>
          <a:noFill/>
          <a:ln/>
        </p:spPr>
        <p:txBody>
          <a:bodyPr wrap="square" lIns="0" tIns="0" rIns="0" bIns="0" rtlCol="0" anchor="t"/>
          <a:lstStyle/>
          <a:p>
            <a:pPr indent="0" marL="0">
              <a:buNone/>
            </a:pPr>
            <a:r>
              <a:rPr lang="en-US" sz="1400" dirty="0">
                <a:solidFill>
                  <a:schemeClr val="tx1"/>
                </a:solidFill>
              </a:rPr>
              <a:t>The client only holds a signed session; any state it sends is discarded</a:t>
            </a:r>
            <a:endParaRPr lang="en-US" sz="1400" dirty="0"/>
          </a:p>
        </p:txBody>
      </p:sp>
      <p:sp>
        <p:nvSpPr>
          <p:cNvPr id="8" name="You open only your own case"/>
          <p:cNvSpPr/>
          <p:nvPr/>
        </p:nvSpPr>
        <p:spPr>
          <a:xfrm>
            <a:off x="4297680" y="1463040"/>
            <a:ext cx="3474720" cy="2103120"/>
          </a:xfrm>
          <a:prstGeom prst="roundRect">
            <a:avLst>
              <a:gd name="adj" fmla="val 5217"/>
            </a:avLst>
          </a:prstGeom>
          <a:solidFill>
            <a:schemeClr val="bg2"/>
          </a:solidFill>
          <a:ln/>
        </p:spPr>
      </p:sp>
      <p:sp>
        <p:nvSpPr>
          <p:cNvPr id="9" name="You open only your own case circle"/>
          <p:cNvSpPr/>
          <p:nvPr/>
        </p:nvSpPr>
        <p:spPr>
          <a:xfrm>
            <a:off x="4572000" y="1737360"/>
            <a:ext cx="685800" cy="685800"/>
          </a:xfrm>
          <a:prstGeom prst="ellipse">
            <a:avLst/>
          </a:prstGeom>
          <a:solidFill>
            <a:schemeClr val="accent2"/>
          </a:solidFill>
          <a:ln/>
        </p:spPr>
      </p:sp>
      <p:pic>
        <p:nvPicPr>
          <p:cNvPr id="10" name="You open only your own case icon" descr="preencoded.png">    </p:cNvPr>
          <p:cNvPicPr>
            <a:picLocks noChangeAspect="1"/>
          </p:cNvPicPr>
          <p:nvPr/>
        </p:nvPicPr>
        <p:blipFill>
          <a:blip r:embed="rId2"/>
          <a:stretch>
            <a:fillRect/>
          </a:stretch>
        </p:blipFill>
        <p:spPr>
          <a:xfrm>
            <a:off x="4743450" y="1908810"/>
            <a:ext cx="342900" cy="342900"/>
          </a:xfrm>
          <a:prstGeom prst="rect">
            <a:avLst/>
          </a:prstGeom>
        </p:spPr>
      </p:pic>
      <p:sp>
        <p:nvSpPr>
          <p:cNvPr id="11" name="Text 7"/>
          <p:cNvSpPr txBox="1"/>
          <p:nvPr/>
        </p:nvSpPr>
        <p:spPr>
          <a:xfrm>
            <a:off x="5394960" y="1737360"/>
            <a:ext cx="2240280" cy="731520"/>
          </a:xfrm>
          <a:prstGeom prst="rect">
            <a:avLst/>
          </a:prstGeom>
          <a:noFill/>
          <a:ln/>
        </p:spPr>
        <p:txBody>
          <a:bodyPr wrap="square" lIns="0" tIns="0" rIns="0" bIns="0" rtlCol="0" anchor="ctr"/>
          <a:lstStyle/>
          <a:p>
            <a:pPr indent="0" marL="0">
              <a:buNone/>
            </a:pPr>
            <a:r>
              <a:rPr lang="en-US" sz="1700" b="1" dirty="0">
                <a:solidFill>
                  <a:schemeClr val="tx2"/>
                </a:solidFill>
              </a:rPr>
              <a:t>You open only your own case</a:t>
            </a:r>
            <a:endParaRPr lang="en-US" sz="1700" dirty="0"/>
          </a:p>
        </p:txBody>
      </p:sp>
      <p:sp>
        <p:nvSpPr>
          <p:cNvPr id="12" name="Text 8"/>
          <p:cNvSpPr txBox="1"/>
          <p:nvPr/>
        </p:nvSpPr>
        <p:spPr>
          <a:xfrm>
            <a:off x="4572000" y="2560320"/>
            <a:ext cx="3017520" cy="914400"/>
          </a:xfrm>
          <a:prstGeom prst="rect">
            <a:avLst/>
          </a:prstGeom>
          <a:noFill/>
          <a:ln/>
        </p:spPr>
        <p:txBody>
          <a:bodyPr wrap="square" lIns="0" tIns="0" rIns="0" bIns="0" rtlCol="0" anchor="t"/>
          <a:lstStyle/>
          <a:p>
            <a:pPr indent="0" marL="0">
              <a:buNone/>
            </a:pPr>
            <a:r>
              <a:rPr lang="en-US" sz="1400" dirty="0">
                <a:solidFill>
                  <a:schemeClr val="tx1"/>
                </a:solidFill>
              </a:rPr>
              <a:t>Signed sessions, ownership checks and unguessable case IDs</a:t>
            </a:r>
            <a:endParaRPr lang="en-US" sz="1400" dirty="0"/>
          </a:p>
        </p:txBody>
      </p:sp>
      <p:sp>
        <p:nvSpPr>
          <p:cNvPr id="13" name="Personal data stays out of the LLM"/>
          <p:cNvSpPr/>
          <p:nvPr/>
        </p:nvSpPr>
        <p:spPr>
          <a:xfrm>
            <a:off x="8046720" y="1463040"/>
            <a:ext cx="3474720" cy="2103120"/>
          </a:xfrm>
          <a:prstGeom prst="roundRect">
            <a:avLst>
              <a:gd name="adj" fmla="val 5217"/>
            </a:avLst>
          </a:prstGeom>
          <a:solidFill>
            <a:schemeClr val="bg2"/>
          </a:solidFill>
          <a:ln/>
        </p:spPr>
      </p:sp>
      <p:sp>
        <p:nvSpPr>
          <p:cNvPr id="14" name="Personal data stays out of the LLM circle"/>
          <p:cNvSpPr/>
          <p:nvPr/>
        </p:nvSpPr>
        <p:spPr>
          <a:xfrm>
            <a:off x="8321040" y="1737360"/>
            <a:ext cx="685800" cy="685800"/>
          </a:xfrm>
          <a:prstGeom prst="ellipse">
            <a:avLst/>
          </a:prstGeom>
          <a:solidFill>
            <a:schemeClr val="accent2"/>
          </a:solidFill>
          <a:ln/>
        </p:spPr>
      </p:sp>
      <p:pic>
        <p:nvPicPr>
          <p:cNvPr id="15" name="Personal data stays out of the LLM icon" descr="preencoded.png">    </p:cNvPr>
          <p:cNvPicPr>
            <a:picLocks noChangeAspect="1"/>
          </p:cNvPicPr>
          <p:nvPr/>
        </p:nvPicPr>
        <p:blipFill>
          <a:blip r:embed="rId3"/>
          <a:stretch>
            <a:fillRect/>
          </a:stretch>
        </p:blipFill>
        <p:spPr>
          <a:xfrm>
            <a:off x="8492490" y="1908810"/>
            <a:ext cx="342900" cy="342900"/>
          </a:xfrm>
          <a:prstGeom prst="rect">
            <a:avLst/>
          </a:prstGeom>
        </p:spPr>
      </p:pic>
      <p:sp>
        <p:nvSpPr>
          <p:cNvPr id="16" name="Text 11"/>
          <p:cNvSpPr txBox="1"/>
          <p:nvPr/>
        </p:nvSpPr>
        <p:spPr>
          <a:xfrm>
            <a:off x="9144000" y="1737360"/>
            <a:ext cx="2240280" cy="731520"/>
          </a:xfrm>
          <a:prstGeom prst="rect">
            <a:avLst/>
          </a:prstGeom>
          <a:noFill/>
          <a:ln/>
        </p:spPr>
        <p:txBody>
          <a:bodyPr wrap="square" lIns="0" tIns="0" rIns="0" bIns="0" rtlCol="0" anchor="ctr"/>
          <a:lstStyle/>
          <a:p>
            <a:pPr indent="0" marL="0">
              <a:buNone/>
            </a:pPr>
            <a:r>
              <a:rPr lang="en-US" sz="1700" b="1" dirty="0">
                <a:solidFill>
                  <a:schemeClr val="tx2"/>
                </a:solidFill>
              </a:rPr>
              <a:t>Personal data stays out of the LLM</a:t>
            </a:r>
            <a:endParaRPr lang="en-US" sz="1700" dirty="0"/>
          </a:p>
        </p:txBody>
      </p:sp>
      <p:sp>
        <p:nvSpPr>
          <p:cNvPr id="17" name="Text 12"/>
          <p:cNvSpPr txBox="1"/>
          <p:nvPr/>
        </p:nvSpPr>
        <p:spPr>
          <a:xfrm>
            <a:off x="8321040" y="2560320"/>
            <a:ext cx="3017520" cy="914400"/>
          </a:xfrm>
          <a:prstGeom prst="rect">
            <a:avLst/>
          </a:prstGeom>
          <a:noFill/>
          <a:ln/>
        </p:spPr>
        <p:txBody>
          <a:bodyPr wrap="square" lIns="0" tIns="0" rIns="0" bIns="0" rtlCol="0" anchor="t"/>
          <a:lstStyle/>
          <a:p>
            <a:pPr indent="0" marL="0">
              <a:buNone/>
            </a:pPr>
            <a:r>
              <a:rPr lang="en-US" sz="1400" dirty="0">
                <a:solidFill>
                  <a:schemeClr val="tx1"/>
                </a:solidFill>
              </a:rPr>
              <a:t>Drafts use {{placeholders}} filled in by code at send time</a:t>
            </a:r>
            <a:endParaRPr lang="en-US" sz="1400" dirty="0"/>
          </a:p>
        </p:txBody>
      </p:sp>
      <p:sp>
        <p:nvSpPr>
          <p:cNvPr id="18" name="Encrypted at rest"/>
          <p:cNvSpPr/>
          <p:nvPr/>
        </p:nvSpPr>
        <p:spPr>
          <a:xfrm>
            <a:off x="548640" y="3794760"/>
            <a:ext cx="3474720" cy="2103120"/>
          </a:xfrm>
          <a:prstGeom prst="roundRect">
            <a:avLst>
              <a:gd name="adj" fmla="val 5217"/>
            </a:avLst>
          </a:prstGeom>
          <a:solidFill>
            <a:schemeClr val="bg2"/>
          </a:solidFill>
          <a:ln/>
        </p:spPr>
      </p:sp>
      <p:sp>
        <p:nvSpPr>
          <p:cNvPr id="19" name="Encrypted at rest circle"/>
          <p:cNvSpPr/>
          <p:nvPr/>
        </p:nvSpPr>
        <p:spPr>
          <a:xfrm>
            <a:off x="822960" y="4069080"/>
            <a:ext cx="685800" cy="685800"/>
          </a:xfrm>
          <a:prstGeom prst="ellipse">
            <a:avLst/>
          </a:prstGeom>
          <a:solidFill>
            <a:schemeClr val="accent5"/>
          </a:solidFill>
          <a:ln/>
        </p:spPr>
      </p:sp>
      <p:pic>
        <p:nvPicPr>
          <p:cNvPr id="20" name="Encrypted at rest icon" descr="preencoded.png">    </p:cNvPr>
          <p:cNvPicPr>
            <a:picLocks noChangeAspect="1"/>
          </p:cNvPicPr>
          <p:nvPr/>
        </p:nvPicPr>
        <p:blipFill>
          <a:blip r:embed="rId4"/>
          <a:stretch>
            <a:fillRect/>
          </a:stretch>
        </p:blipFill>
        <p:spPr>
          <a:xfrm>
            <a:off x="994410" y="4240530"/>
            <a:ext cx="342900" cy="342900"/>
          </a:xfrm>
          <a:prstGeom prst="rect">
            <a:avLst/>
          </a:prstGeom>
        </p:spPr>
      </p:pic>
      <p:sp>
        <p:nvSpPr>
          <p:cNvPr id="21" name="Text 15"/>
          <p:cNvSpPr txBox="1"/>
          <p:nvPr/>
        </p:nvSpPr>
        <p:spPr>
          <a:xfrm>
            <a:off x="1645920" y="4069080"/>
            <a:ext cx="2240280" cy="731520"/>
          </a:xfrm>
          <a:prstGeom prst="rect">
            <a:avLst/>
          </a:prstGeom>
          <a:noFill/>
          <a:ln/>
        </p:spPr>
        <p:txBody>
          <a:bodyPr wrap="square" lIns="0" tIns="0" rIns="0" bIns="0" rtlCol="0" anchor="ctr"/>
          <a:lstStyle/>
          <a:p>
            <a:pPr indent="0" marL="0">
              <a:buNone/>
            </a:pPr>
            <a:r>
              <a:rPr lang="en-US" sz="1700" b="1" dirty="0">
                <a:solidFill>
                  <a:schemeClr val="tx2"/>
                </a:solidFill>
              </a:rPr>
              <a:t>Encrypted at rest</a:t>
            </a:r>
            <a:endParaRPr lang="en-US" sz="1700" dirty="0"/>
          </a:p>
        </p:txBody>
      </p:sp>
      <p:sp>
        <p:nvSpPr>
          <p:cNvPr id="22" name="Text 16"/>
          <p:cNvSpPr txBox="1"/>
          <p:nvPr/>
        </p:nvSpPr>
        <p:spPr>
          <a:xfrm>
            <a:off x="822960" y="4892040"/>
            <a:ext cx="3017520" cy="914400"/>
          </a:xfrm>
          <a:prstGeom prst="rect">
            <a:avLst/>
          </a:prstGeom>
          <a:noFill/>
          <a:ln/>
        </p:spPr>
        <p:txBody>
          <a:bodyPr wrap="square" lIns="0" tIns="0" rIns="0" bIns="0" rtlCol="0" anchor="t"/>
          <a:lstStyle/>
          <a:p>
            <a:pPr indent="0" marL="0">
              <a:buNone/>
            </a:pPr>
            <a:r>
              <a:rPr lang="en-US" sz="1400" dirty="0">
                <a:solidFill>
                  <a:schemeClr val="tx1"/>
                </a:solidFill>
              </a:rPr>
              <a:t>Plan state and personal details encrypted; delete on request</a:t>
            </a:r>
            <a:endParaRPr lang="en-US" sz="1400" dirty="0"/>
          </a:p>
        </p:txBody>
      </p:sp>
      <p:sp>
        <p:nvSpPr>
          <p:cNvPr id="23" name="Statements kept out of the chat"/>
          <p:cNvSpPr/>
          <p:nvPr/>
        </p:nvSpPr>
        <p:spPr>
          <a:xfrm>
            <a:off x="4297680" y="3794760"/>
            <a:ext cx="3474720" cy="2103120"/>
          </a:xfrm>
          <a:prstGeom prst="roundRect">
            <a:avLst>
              <a:gd name="adj" fmla="val 5217"/>
            </a:avLst>
          </a:prstGeom>
          <a:solidFill>
            <a:schemeClr val="bg2"/>
          </a:solidFill>
          <a:ln/>
        </p:spPr>
      </p:sp>
      <p:sp>
        <p:nvSpPr>
          <p:cNvPr id="24" name="Statements kept out of the chat circle"/>
          <p:cNvSpPr/>
          <p:nvPr/>
        </p:nvSpPr>
        <p:spPr>
          <a:xfrm>
            <a:off x="4572000" y="4069080"/>
            <a:ext cx="685800" cy="685800"/>
          </a:xfrm>
          <a:prstGeom prst="ellipse">
            <a:avLst/>
          </a:prstGeom>
          <a:solidFill>
            <a:schemeClr val="accent5"/>
          </a:solidFill>
          <a:ln/>
        </p:spPr>
      </p:sp>
      <p:pic>
        <p:nvPicPr>
          <p:cNvPr id="25" name="Statements kept out of the chat icon" descr="preencoded.png">    </p:cNvPr>
          <p:cNvPicPr>
            <a:picLocks noChangeAspect="1"/>
          </p:cNvPicPr>
          <p:nvPr/>
        </p:nvPicPr>
        <p:blipFill>
          <a:blip r:embed="rId5"/>
          <a:stretch>
            <a:fillRect/>
          </a:stretch>
        </p:blipFill>
        <p:spPr>
          <a:xfrm>
            <a:off x="4743450" y="4240530"/>
            <a:ext cx="342900" cy="342900"/>
          </a:xfrm>
          <a:prstGeom prst="rect">
            <a:avLst/>
          </a:prstGeom>
        </p:spPr>
      </p:pic>
      <p:sp>
        <p:nvSpPr>
          <p:cNvPr id="26" name="Text 19"/>
          <p:cNvSpPr txBox="1"/>
          <p:nvPr/>
        </p:nvSpPr>
        <p:spPr>
          <a:xfrm>
            <a:off x="5394960" y="4069080"/>
            <a:ext cx="2240280" cy="731520"/>
          </a:xfrm>
          <a:prstGeom prst="rect">
            <a:avLst/>
          </a:prstGeom>
          <a:noFill/>
          <a:ln/>
        </p:spPr>
        <p:txBody>
          <a:bodyPr wrap="square" lIns="0" tIns="0" rIns="0" bIns="0" rtlCol="0" anchor="ctr"/>
          <a:lstStyle/>
          <a:p>
            <a:pPr indent="0" marL="0">
              <a:buNone/>
            </a:pPr>
            <a:r>
              <a:rPr lang="en-US" sz="1700" b="1" dirty="0">
                <a:solidFill>
                  <a:schemeClr val="tx2"/>
                </a:solidFill>
              </a:rPr>
              <a:t>Statements kept out of the chat</a:t>
            </a:r>
            <a:endParaRPr lang="en-US" sz="1700" dirty="0"/>
          </a:p>
        </p:txBody>
      </p:sp>
      <p:sp>
        <p:nvSpPr>
          <p:cNvPr id="27" name="Text 20"/>
          <p:cNvSpPr txBox="1"/>
          <p:nvPr/>
        </p:nvSpPr>
        <p:spPr>
          <a:xfrm>
            <a:off x="4572000" y="4892040"/>
            <a:ext cx="3017520" cy="914400"/>
          </a:xfrm>
          <a:prstGeom prst="rect">
            <a:avLst/>
          </a:prstGeom>
          <a:noFill/>
          <a:ln/>
        </p:spPr>
        <p:txBody>
          <a:bodyPr wrap="square" lIns="0" tIns="0" rIns="0" bIns="0" rtlCol="0" anchor="t"/>
          <a:lstStyle/>
          <a:p>
            <a:pPr indent="0" marL="0">
              <a:buNone/>
            </a:pPr>
            <a:r>
              <a:rPr lang="en-US" sz="1400" dirty="0">
                <a:solidFill>
                  <a:schemeClr val="tx1"/>
                </a:solidFill>
              </a:rPr>
              <a:t>Uploaded to your own folder, read once, then deleted</a:t>
            </a:r>
            <a:endParaRPr lang="en-US" sz="1400" dirty="0"/>
          </a:p>
        </p:txBody>
      </p:sp>
      <p:sp>
        <p:nvSpPr>
          <p:cNvPr id="28" name="Consent the LLM cannot fake"/>
          <p:cNvSpPr/>
          <p:nvPr/>
        </p:nvSpPr>
        <p:spPr>
          <a:xfrm>
            <a:off x="8046720" y="3794760"/>
            <a:ext cx="3474720" cy="2103120"/>
          </a:xfrm>
          <a:prstGeom prst="roundRect">
            <a:avLst>
              <a:gd name="adj" fmla="val 5217"/>
            </a:avLst>
          </a:prstGeom>
          <a:solidFill>
            <a:schemeClr val="bg2"/>
          </a:solidFill>
          <a:ln/>
        </p:spPr>
      </p:sp>
      <p:sp>
        <p:nvSpPr>
          <p:cNvPr id="29" name="Consent the LLM cannot fake circle"/>
          <p:cNvSpPr/>
          <p:nvPr/>
        </p:nvSpPr>
        <p:spPr>
          <a:xfrm>
            <a:off x="8321040" y="4069080"/>
            <a:ext cx="685800" cy="685800"/>
          </a:xfrm>
          <a:prstGeom prst="ellipse">
            <a:avLst/>
          </a:prstGeom>
          <a:solidFill>
            <a:schemeClr val="accent5"/>
          </a:solidFill>
          <a:ln/>
        </p:spPr>
      </p:sp>
      <p:pic>
        <p:nvPicPr>
          <p:cNvPr id="30" name="Consent the LLM cannot fake icon" descr="preencoded.png">    </p:cNvPr>
          <p:cNvPicPr>
            <a:picLocks noChangeAspect="1"/>
          </p:cNvPicPr>
          <p:nvPr/>
        </p:nvPicPr>
        <p:blipFill>
          <a:blip r:embed="rId6"/>
          <a:stretch>
            <a:fillRect/>
          </a:stretch>
        </p:blipFill>
        <p:spPr>
          <a:xfrm>
            <a:off x="8492490" y="4240530"/>
            <a:ext cx="342900" cy="342900"/>
          </a:xfrm>
          <a:prstGeom prst="rect">
            <a:avLst/>
          </a:prstGeom>
        </p:spPr>
      </p:pic>
      <p:sp>
        <p:nvSpPr>
          <p:cNvPr id="31" name="Text 23"/>
          <p:cNvSpPr txBox="1"/>
          <p:nvPr/>
        </p:nvSpPr>
        <p:spPr>
          <a:xfrm>
            <a:off x="9144000" y="4069080"/>
            <a:ext cx="2240280" cy="731520"/>
          </a:xfrm>
          <a:prstGeom prst="rect">
            <a:avLst/>
          </a:prstGeom>
          <a:noFill/>
          <a:ln/>
        </p:spPr>
        <p:txBody>
          <a:bodyPr wrap="square" lIns="0" tIns="0" rIns="0" bIns="0" rtlCol="0" anchor="ctr"/>
          <a:lstStyle/>
          <a:p>
            <a:pPr indent="0" marL="0">
              <a:buNone/>
            </a:pPr>
            <a:r>
              <a:rPr lang="en-US" sz="1700" b="1" dirty="0">
                <a:solidFill>
                  <a:schemeClr val="tx2"/>
                </a:solidFill>
              </a:rPr>
              <a:t>Consent the LLM cannot fake</a:t>
            </a:r>
            <a:endParaRPr lang="en-US" sz="1700" dirty="0"/>
          </a:p>
        </p:txBody>
      </p:sp>
      <p:sp>
        <p:nvSpPr>
          <p:cNvPr id="32" name="Text 24"/>
          <p:cNvSpPr txBox="1"/>
          <p:nvPr/>
        </p:nvSpPr>
        <p:spPr>
          <a:xfrm>
            <a:off x="8321040" y="4892040"/>
            <a:ext cx="3017520" cy="914400"/>
          </a:xfrm>
          <a:prstGeom prst="rect">
            <a:avLst/>
          </a:prstGeom>
          <a:noFill/>
          <a:ln/>
        </p:spPr>
        <p:txBody>
          <a:bodyPr wrap="square" lIns="0" tIns="0" rIns="0" bIns="0" rtlCol="0" anchor="t"/>
          <a:lstStyle/>
          <a:p>
            <a:pPr indent="0" marL="0">
              <a:buNone/>
            </a:pPr>
            <a:r>
              <a:rPr lang="en-US" sz="1400" dirty="0">
                <a:solidFill>
                  <a:schemeClr val="tx1"/>
                </a:solidFill>
              </a:rPr>
              <a:t>Approvals need a one-time code the customer types; checked in code</a:t>
            </a:r>
            <a:endParaRPr lang="en-US" sz="14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indent="0" marL="0">
              <a:buNone/>
            </a:pPr>
            <a:r>
              <a:rPr lang="en-US" sz="3400" b="1" dirty="0">
                <a:solidFill>
                  <a:schemeClr val="tx2"/>
                </a:solidFill>
              </a:rPr>
              <a:t>Works across all four UK nations</a:t>
            </a:r>
            <a:endParaRPr lang="en-US" sz="3400" dirty="0"/>
          </a:p>
        </p:txBody>
      </p:sp>
      <p:sp>
        <p:nvSpPr>
          <p:cNvPr id="3" name="England"/>
          <p:cNvSpPr/>
          <p:nvPr/>
        </p:nvSpPr>
        <p:spPr>
          <a:xfrm>
            <a:off x="548640" y="1463040"/>
            <a:ext cx="2606040" cy="3291840"/>
          </a:xfrm>
          <a:prstGeom prst="roundRect">
            <a:avLst>
              <a:gd name="adj" fmla="val 4211"/>
            </a:avLst>
          </a:prstGeom>
          <a:solidFill>
            <a:schemeClr val="bg2"/>
          </a:solidFill>
          <a:ln/>
        </p:spPr>
      </p:sp>
      <p:sp>
        <p:nvSpPr>
          <p:cNvPr id="4" name="England dot"/>
          <p:cNvSpPr/>
          <p:nvPr/>
        </p:nvSpPr>
        <p:spPr>
          <a:xfrm>
            <a:off x="822960" y="1737360"/>
            <a:ext cx="502920" cy="502920"/>
          </a:xfrm>
          <a:prstGeom prst="ellipse">
            <a:avLst/>
          </a:prstGeom>
          <a:solidFill>
            <a:schemeClr val="accent2"/>
          </a:solidFill>
          <a:ln/>
        </p:spPr>
      </p:sp>
      <p:sp>
        <p:nvSpPr>
          <p:cNvPr id="5" name="Text 3"/>
          <p:cNvSpPr txBox="1"/>
          <p:nvPr/>
        </p:nvSpPr>
        <p:spPr>
          <a:xfrm>
            <a:off x="822960" y="2377440"/>
            <a:ext cx="2194560" cy="548640"/>
          </a:xfrm>
          <a:prstGeom prst="rect">
            <a:avLst/>
          </a:prstGeom>
          <a:noFill/>
          <a:ln/>
        </p:spPr>
        <p:txBody>
          <a:bodyPr wrap="square" lIns="0" tIns="0" rIns="0" bIns="0" rtlCol="0" anchor="ctr"/>
          <a:lstStyle/>
          <a:p>
            <a:pPr indent="0" marL="0">
              <a:buNone/>
            </a:pPr>
            <a:r>
              <a:rPr lang="en-US" sz="2000" b="1" dirty="0">
                <a:solidFill>
                  <a:schemeClr val="tx2"/>
                </a:solidFill>
              </a:rPr>
              <a:t>England</a:t>
            </a:r>
            <a:endParaRPr lang="en-US" sz="2000" dirty="0"/>
          </a:p>
        </p:txBody>
      </p:sp>
      <p:sp>
        <p:nvSpPr>
          <p:cNvPr id="6" name="Text 4"/>
          <p:cNvSpPr txBox="1"/>
          <p:nvPr/>
        </p:nvSpPr>
        <p:spPr>
          <a:xfrm>
            <a:off x="822960" y="2971800"/>
            <a:ext cx="2148840" cy="1691640"/>
          </a:xfrm>
          <a:prstGeom prst="rect">
            <a:avLst/>
          </a:prstGeom>
          <a:noFill/>
          <a:ln/>
        </p:spPr>
        <p:txBody>
          <a:bodyPr wrap="square" lIns="0" tIns="0" rIns="0" bIns="0" rtlCol="0" anchor="t"/>
          <a:lstStyle/>
          <a:p>
            <a:pPr indent="0" marL="0">
              <a:buNone/>
            </a:pPr>
            <a:r>
              <a:rPr lang="en-US" sz="1500" dirty="0">
                <a:solidFill>
                  <a:schemeClr val="tx1"/>
                </a:solidFill>
              </a:rPr>
              <a:t>Council tax, a water company for the old and new home, NHS GP and school search</a:t>
            </a:r>
            <a:endParaRPr lang="en-US" sz="1500" dirty="0"/>
          </a:p>
        </p:txBody>
      </p:sp>
      <p:sp>
        <p:nvSpPr>
          <p:cNvPr id="7" name="Wales"/>
          <p:cNvSpPr/>
          <p:nvPr/>
        </p:nvSpPr>
        <p:spPr>
          <a:xfrm>
            <a:off x="3364992" y="1463040"/>
            <a:ext cx="2606040" cy="3291840"/>
          </a:xfrm>
          <a:prstGeom prst="roundRect">
            <a:avLst>
              <a:gd name="adj" fmla="val 4211"/>
            </a:avLst>
          </a:prstGeom>
          <a:solidFill>
            <a:schemeClr val="bg2"/>
          </a:solidFill>
          <a:ln/>
        </p:spPr>
      </p:sp>
      <p:sp>
        <p:nvSpPr>
          <p:cNvPr id="8" name="Wales dot"/>
          <p:cNvSpPr/>
          <p:nvPr/>
        </p:nvSpPr>
        <p:spPr>
          <a:xfrm>
            <a:off x="3639312" y="1737360"/>
            <a:ext cx="502920" cy="502920"/>
          </a:xfrm>
          <a:prstGeom prst="ellipse">
            <a:avLst/>
          </a:prstGeom>
          <a:solidFill>
            <a:schemeClr val="accent1"/>
          </a:solidFill>
          <a:ln/>
        </p:spPr>
      </p:sp>
      <p:sp>
        <p:nvSpPr>
          <p:cNvPr id="9" name="Text 7"/>
          <p:cNvSpPr txBox="1"/>
          <p:nvPr/>
        </p:nvSpPr>
        <p:spPr>
          <a:xfrm>
            <a:off x="3639312" y="2377440"/>
            <a:ext cx="2194560" cy="548640"/>
          </a:xfrm>
          <a:prstGeom prst="rect">
            <a:avLst/>
          </a:prstGeom>
          <a:noFill/>
          <a:ln/>
        </p:spPr>
        <p:txBody>
          <a:bodyPr wrap="square" lIns="0" tIns="0" rIns="0" bIns="0" rtlCol="0" anchor="ctr"/>
          <a:lstStyle/>
          <a:p>
            <a:pPr indent="0" marL="0">
              <a:buNone/>
            </a:pPr>
            <a:r>
              <a:rPr lang="en-US" sz="2000" b="1" dirty="0">
                <a:solidFill>
                  <a:schemeClr val="tx2"/>
                </a:solidFill>
              </a:rPr>
              <a:t>Wales</a:t>
            </a:r>
            <a:endParaRPr lang="en-US" sz="2000" dirty="0"/>
          </a:p>
        </p:txBody>
      </p:sp>
      <p:sp>
        <p:nvSpPr>
          <p:cNvPr id="10" name="Text 8"/>
          <p:cNvSpPr txBox="1"/>
          <p:nvPr/>
        </p:nvSpPr>
        <p:spPr>
          <a:xfrm>
            <a:off x="3639312" y="2971800"/>
            <a:ext cx="2148840" cy="1691640"/>
          </a:xfrm>
          <a:prstGeom prst="rect">
            <a:avLst/>
          </a:prstGeom>
          <a:noFill/>
          <a:ln/>
        </p:spPr>
        <p:txBody>
          <a:bodyPr wrap="square" lIns="0" tIns="0" rIns="0" bIns="0" rtlCol="0" anchor="t"/>
          <a:lstStyle/>
          <a:p>
            <a:pPr indent="0" marL="0">
              <a:buNone/>
            </a:pPr>
            <a:r>
              <a:rPr lang="en-US" sz="1500" dirty="0">
                <a:solidFill>
                  <a:schemeClr val="tx1"/>
                </a:solidFill>
              </a:rPr>
              <a:t>Close the Welsh water account; Welsh GP and school finders signposted</a:t>
            </a:r>
            <a:endParaRPr lang="en-US" sz="1500" dirty="0"/>
          </a:p>
        </p:txBody>
      </p:sp>
      <p:sp>
        <p:nvSpPr>
          <p:cNvPr id="11" name="Scotland"/>
          <p:cNvSpPr/>
          <p:nvPr/>
        </p:nvSpPr>
        <p:spPr>
          <a:xfrm>
            <a:off x="6181344" y="1463040"/>
            <a:ext cx="2606040" cy="3291840"/>
          </a:xfrm>
          <a:prstGeom prst="roundRect">
            <a:avLst>
              <a:gd name="adj" fmla="val 4211"/>
            </a:avLst>
          </a:prstGeom>
          <a:solidFill>
            <a:schemeClr val="bg2"/>
          </a:solidFill>
          <a:ln/>
        </p:spPr>
      </p:sp>
      <p:sp>
        <p:nvSpPr>
          <p:cNvPr id="12" name="Scotland dot"/>
          <p:cNvSpPr/>
          <p:nvPr/>
        </p:nvSpPr>
        <p:spPr>
          <a:xfrm>
            <a:off x="6455664" y="1737360"/>
            <a:ext cx="502920" cy="502920"/>
          </a:xfrm>
          <a:prstGeom prst="ellipse">
            <a:avLst/>
          </a:prstGeom>
          <a:solidFill>
            <a:schemeClr val="accent5"/>
          </a:solidFill>
          <a:ln/>
        </p:spPr>
      </p:sp>
      <p:sp>
        <p:nvSpPr>
          <p:cNvPr id="13" name="Text 11"/>
          <p:cNvSpPr txBox="1"/>
          <p:nvPr/>
        </p:nvSpPr>
        <p:spPr>
          <a:xfrm>
            <a:off x="6455664" y="2377440"/>
            <a:ext cx="2194560" cy="548640"/>
          </a:xfrm>
          <a:prstGeom prst="rect">
            <a:avLst/>
          </a:prstGeom>
          <a:noFill/>
          <a:ln/>
        </p:spPr>
        <p:txBody>
          <a:bodyPr wrap="square" lIns="0" tIns="0" rIns="0" bIns="0" rtlCol="0" anchor="ctr"/>
          <a:lstStyle/>
          <a:p>
            <a:pPr indent="0" marL="0">
              <a:buNone/>
            </a:pPr>
            <a:r>
              <a:rPr lang="en-US" sz="2000" b="1" dirty="0">
                <a:solidFill>
                  <a:schemeClr val="tx2"/>
                </a:solidFill>
              </a:rPr>
              <a:t>Scotland</a:t>
            </a:r>
            <a:endParaRPr lang="en-US" sz="2000" dirty="0"/>
          </a:p>
        </p:txBody>
      </p:sp>
      <p:sp>
        <p:nvSpPr>
          <p:cNvPr id="14" name="Text 12"/>
          <p:cNvSpPr txBox="1"/>
          <p:nvPr/>
        </p:nvSpPr>
        <p:spPr>
          <a:xfrm>
            <a:off x="6455664" y="2971800"/>
            <a:ext cx="2148840" cy="1691640"/>
          </a:xfrm>
          <a:prstGeom prst="rect">
            <a:avLst/>
          </a:prstGeom>
          <a:noFill/>
          <a:ln/>
        </p:spPr>
        <p:txBody>
          <a:bodyPr wrap="square" lIns="0" tIns="0" rIns="0" bIns="0" rtlCol="0" anchor="t"/>
          <a:lstStyle/>
          <a:p>
            <a:pPr indent="0" marL="0">
              <a:buNone/>
            </a:pPr>
            <a:r>
              <a:rPr lang="en-US" sz="1500" dirty="0">
                <a:solidFill>
                  <a:schemeClr val="tx1"/>
                </a:solidFill>
              </a:rPr>
              <a:t>Water billed with council tax, Scottish bank holidays, Scottish GP finder</a:t>
            </a:r>
            <a:endParaRPr lang="en-US" sz="1500" dirty="0"/>
          </a:p>
        </p:txBody>
      </p:sp>
      <p:sp>
        <p:nvSpPr>
          <p:cNvPr id="15" name="Northern Ireland"/>
          <p:cNvSpPr/>
          <p:nvPr/>
        </p:nvSpPr>
        <p:spPr>
          <a:xfrm>
            <a:off x="8997696" y="1463040"/>
            <a:ext cx="2606040" cy="3291840"/>
          </a:xfrm>
          <a:prstGeom prst="roundRect">
            <a:avLst>
              <a:gd name="adj" fmla="val 4211"/>
            </a:avLst>
          </a:prstGeom>
          <a:solidFill>
            <a:schemeClr val="bg2"/>
          </a:solidFill>
          <a:ln/>
        </p:spPr>
      </p:sp>
      <p:sp>
        <p:nvSpPr>
          <p:cNvPr id="16" name="Northern Ireland dot"/>
          <p:cNvSpPr/>
          <p:nvPr/>
        </p:nvSpPr>
        <p:spPr>
          <a:xfrm>
            <a:off x="9272016" y="1737360"/>
            <a:ext cx="502920" cy="502920"/>
          </a:xfrm>
          <a:prstGeom prst="ellipse">
            <a:avLst/>
          </a:prstGeom>
          <a:solidFill>
            <a:schemeClr val="accent3"/>
          </a:solidFill>
          <a:ln/>
        </p:spPr>
      </p:sp>
      <p:sp>
        <p:nvSpPr>
          <p:cNvPr id="17" name="Text 15"/>
          <p:cNvSpPr txBox="1"/>
          <p:nvPr/>
        </p:nvSpPr>
        <p:spPr>
          <a:xfrm>
            <a:off x="9272016" y="2377440"/>
            <a:ext cx="2194560" cy="548640"/>
          </a:xfrm>
          <a:prstGeom prst="rect">
            <a:avLst/>
          </a:prstGeom>
          <a:noFill/>
          <a:ln/>
        </p:spPr>
        <p:txBody>
          <a:bodyPr wrap="square" lIns="0" tIns="0" rIns="0" bIns="0" rtlCol="0" anchor="ctr"/>
          <a:lstStyle/>
          <a:p>
            <a:pPr indent="0" marL="0">
              <a:buNone/>
            </a:pPr>
            <a:r>
              <a:rPr lang="en-US" sz="2000" b="1" dirty="0">
                <a:solidFill>
                  <a:schemeClr val="tx2"/>
                </a:solidFill>
              </a:rPr>
              <a:t>Northern Ireland</a:t>
            </a:r>
            <a:endParaRPr lang="en-US" sz="2000" dirty="0"/>
          </a:p>
        </p:txBody>
      </p:sp>
      <p:sp>
        <p:nvSpPr>
          <p:cNvPr id="18" name="Text 16"/>
          <p:cNvSpPr txBox="1"/>
          <p:nvPr/>
        </p:nvSpPr>
        <p:spPr>
          <a:xfrm>
            <a:off x="9272016" y="2971800"/>
            <a:ext cx="2148840" cy="1691640"/>
          </a:xfrm>
          <a:prstGeom prst="rect">
            <a:avLst/>
          </a:prstGeom>
          <a:noFill/>
          <a:ln/>
        </p:spPr>
        <p:txBody>
          <a:bodyPr wrap="square" lIns="0" tIns="0" rIns="0" bIns="0" rtlCol="0" anchor="t"/>
          <a:lstStyle/>
          <a:p>
            <a:pPr indent="0" marL="0">
              <a:buNone/>
            </a:pPr>
            <a:r>
              <a:rPr lang="en-US" sz="1500" dirty="0">
                <a:solidFill>
                  <a:schemeClr val="tx1"/>
                </a:solidFill>
              </a:rPr>
              <a:t>Domestic rates through Land &amp; Property Services; NI licence route via DVLA</a:t>
            </a:r>
            <a:endParaRPr lang="en-US" sz="1500" dirty="0"/>
          </a:p>
        </p:txBody>
      </p:sp>
      <p:sp>
        <p:nvSpPr>
          <p:cNvPr id="19" name="Text 17"/>
          <p:cNvSpPr txBox="1"/>
          <p:nvPr/>
        </p:nvSpPr>
        <p:spPr>
          <a:xfrm>
            <a:off x="548640" y="5074920"/>
            <a:ext cx="11064240" cy="731520"/>
          </a:xfrm>
          <a:prstGeom prst="rect">
            <a:avLst/>
          </a:prstGeom>
          <a:noFill/>
          <a:ln/>
        </p:spPr>
        <p:txBody>
          <a:bodyPr wrap="square" lIns="0" tIns="0" rIns="0" bIns="0" rtlCol="0" anchor="ctr"/>
          <a:lstStyle/>
          <a:p>
            <a:pPr indent="0" marL="0">
              <a:buNone/>
            </a:pPr>
            <a:r>
              <a:rPr lang="en-US" sz="1600" dirty="0">
                <a:solidFill>
                  <a:schemeClr val="tx1"/>
                </a:solidFill>
              </a:rPr>
              <a:t>Tested with five customers: Leeds → Harrogate, Halifax → Chelmsford, Glasgow → Darlington, Cardiff → Edinburgh, Belfast → Leeds, plus a standalone Bristol → Nottingham move.</a:t>
            </a:r>
            <a:endParaRPr lang="en-US" sz="16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indent="0" marL="0">
              <a:buNone/>
            </a:pPr>
            <a:r>
              <a:rPr lang="en-US" sz="3400" b="1" dirty="0">
                <a:solidFill>
                  <a:schemeClr val="tx2"/>
                </a:solidFill>
              </a:rPr>
              <a:t>Who to contact near the new home</a:t>
            </a:r>
            <a:endParaRPr lang="en-US" sz="3400" dirty="0"/>
          </a:p>
        </p:txBody>
      </p:sp>
      <p:sp>
        <p:nvSpPr>
          <p:cNvPr id="3" name="GP practices"/>
          <p:cNvSpPr/>
          <p:nvPr/>
        </p:nvSpPr>
        <p:spPr>
          <a:xfrm>
            <a:off x="548640" y="1463040"/>
            <a:ext cx="3474720" cy="4023360"/>
          </a:xfrm>
          <a:prstGeom prst="roundRect">
            <a:avLst>
              <a:gd name="adj" fmla="val 3158"/>
            </a:avLst>
          </a:prstGeom>
          <a:solidFill>
            <a:schemeClr val="bg2"/>
          </a:solidFill>
          <a:ln/>
        </p:spPr>
      </p:sp>
      <p:sp>
        <p:nvSpPr>
          <p:cNvPr id="4" name="GP practices circle"/>
          <p:cNvSpPr/>
          <p:nvPr/>
        </p:nvSpPr>
        <p:spPr>
          <a:xfrm>
            <a:off x="822960" y="1691640"/>
            <a:ext cx="731520" cy="731520"/>
          </a:xfrm>
          <a:prstGeom prst="ellipse">
            <a:avLst/>
          </a:prstGeom>
          <a:solidFill>
            <a:schemeClr val="accent2"/>
          </a:solidFill>
          <a:ln/>
        </p:spPr>
      </p:sp>
      <p:pic>
        <p:nvPicPr>
          <p:cNvPr id="5" name="GP practices icon" descr="preencoded.png">    </p:cNvPr>
          <p:cNvPicPr>
            <a:picLocks noChangeAspect="1"/>
          </p:cNvPicPr>
          <p:nvPr/>
        </p:nvPicPr>
        <p:blipFill>
          <a:blip r:embed="rId1"/>
          <a:stretch>
            <a:fillRect/>
          </a:stretch>
        </p:blipFill>
        <p:spPr>
          <a:xfrm>
            <a:off x="1005840" y="1874520"/>
            <a:ext cx="365760" cy="365760"/>
          </a:xfrm>
          <a:prstGeom prst="rect">
            <a:avLst/>
          </a:prstGeom>
        </p:spPr>
      </p:pic>
      <p:sp>
        <p:nvSpPr>
          <p:cNvPr id="6" name="Text 3"/>
          <p:cNvSpPr txBox="1"/>
          <p:nvPr/>
        </p:nvSpPr>
        <p:spPr>
          <a:xfrm>
            <a:off x="1691640" y="1691640"/>
            <a:ext cx="2194560" cy="731520"/>
          </a:xfrm>
          <a:prstGeom prst="rect">
            <a:avLst/>
          </a:prstGeom>
          <a:noFill/>
          <a:ln/>
        </p:spPr>
        <p:txBody>
          <a:bodyPr wrap="square" lIns="0" tIns="0" rIns="0" bIns="0" rtlCol="0" anchor="ctr"/>
          <a:lstStyle/>
          <a:p>
            <a:pPr indent="0" marL="0">
              <a:buNone/>
            </a:pPr>
            <a:r>
              <a:rPr lang="en-US" sz="2200" b="1" dirty="0">
                <a:solidFill>
                  <a:schemeClr val="tx2"/>
                </a:solidFill>
              </a:rPr>
              <a:t>GP practices</a:t>
            </a:r>
            <a:endParaRPr lang="en-US" sz="2200" dirty="0"/>
          </a:p>
        </p:txBody>
      </p:sp>
      <p:sp>
        <p:nvSpPr>
          <p:cNvPr id="7" name="Text 4"/>
          <p:cNvSpPr txBox="1"/>
          <p:nvPr/>
        </p:nvSpPr>
        <p:spPr>
          <a:xfrm>
            <a:off x="822960" y="2606040"/>
            <a:ext cx="3017520" cy="548640"/>
          </a:xfrm>
          <a:prstGeom prst="rect">
            <a:avLst/>
          </a:prstGeom>
          <a:noFill/>
          <a:ln/>
        </p:spPr>
        <p:txBody>
          <a:bodyPr wrap="square" lIns="0" tIns="0" rIns="0" bIns="0" rtlCol="0" anchor="ctr"/>
          <a:lstStyle/>
          <a:p>
            <a:pPr indent="0" marL="0">
              <a:buNone/>
            </a:pPr>
            <a:r>
              <a:rPr lang="en-US" sz="1300" i="1" dirty="0">
                <a:solidFill>
                  <a:schemeClr val="accent6"/>
                </a:solidFill>
              </a:rPr>
              <a:t>NHS Organisation Data Service, live</a:t>
            </a:r>
            <a:endParaRPr lang="en-US" sz="1300" dirty="0"/>
          </a:p>
        </p:txBody>
      </p:sp>
      <p:sp>
        <p:nvSpPr>
          <p:cNvPr id="8" name="Text 5"/>
          <p:cNvSpPr txBox="1"/>
          <p:nvPr/>
        </p:nvSpPr>
        <p:spPr>
          <a:xfrm>
            <a:off x="822960" y="3200400"/>
            <a:ext cx="3017520" cy="210312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chemeClr val="tx1"/>
                </a:solidFill>
              </a:rPr>
              <a:t>Burton Croft Surgery · 0.2 km</a:t>
            </a:r>
            <a:endParaRPr lang="en-US" sz="1500" dirty="0"/>
          </a:p>
          <a:p>
            <a:pPr marL="342900" indent="-342900">
              <a:spcAft>
                <a:spcPts val="800"/>
              </a:spcAft>
              <a:buSzPct val="100000"/>
              <a:buChar char="•"/>
            </a:pPr>
            <a:r>
              <a:rPr lang="en-US" sz="1500" dirty="0">
                <a:solidFill>
                  <a:schemeClr val="tx1"/>
                </a:solidFill>
              </a:rPr>
              <a:t>Laurel Bank Surgery · 0.6 km</a:t>
            </a:r>
            <a:endParaRPr lang="en-US" sz="1500" dirty="0"/>
          </a:p>
          <a:p>
            <a:pPr marL="342900" indent="-342900">
              <a:spcAft>
                <a:spcPts val="800"/>
              </a:spcAft>
              <a:buSzPct val="100000"/>
              <a:buChar char="•"/>
            </a:pPr>
            <a:r>
              <a:rPr lang="en-US" sz="1500" dirty="0">
                <a:solidFill>
                  <a:schemeClr val="tx1"/>
                </a:solidFill>
              </a:rPr>
              <a:t>Meanwood Health Centre · 1.3 km</a:t>
            </a:r>
            <a:endParaRPr lang="en-US" sz="1500" dirty="0"/>
          </a:p>
        </p:txBody>
      </p:sp>
      <p:sp>
        <p:nvSpPr>
          <p:cNvPr id="9" name="Schools"/>
          <p:cNvSpPr/>
          <p:nvPr/>
        </p:nvSpPr>
        <p:spPr>
          <a:xfrm>
            <a:off x="4297680" y="1463040"/>
            <a:ext cx="3474720" cy="4023360"/>
          </a:xfrm>
          <a:prstGeom prst="roundRect">
            <a:avLst>
              <a:gd name="adj" fmla="val 3158"/>
            </a:avLst>
          </a:prstGeom>
          <a:solidFill>
            <a:schemeClr val="bg2"/>
          </a:solidFill>
          <a:ln/>
        </p:spPr>
      </p:sp>
      <p:sp>
        <p:nvSpPr>
          <p:cNvPr id="10" name="Schools circle"/>
          <p:cNvSpPr/>
          <p:nvPr/>
        </p:nvSpPr>
        <p:spPr>
          <a:xfrm>
            <a:off x="4572000" y="1691640"/>
            <a:ext cx="731520" cy="731520"/>
          </a:xfrm>
          <a:prstGeom prst="ellipse">
            <a:avLst/>
          </a:prstGeom>
          <a:solidFill>
            <a:schemeClr val="accent2"/>
          </a:solidFill>
          <a:ln/>
        </p:spPr>
      </p:sp>
      <p:pic>
        <p:nvPicPr>
          <p:cNvPr id="11" name="Schools icon" descr="preencoded.png">    </p:cNvPr>
          <p:cNvPicPr>
            <a:picLocks noChangeAspect="1"/>
          </p:cNvPicPr>
          <p:nvPr/>
        </p:nvPicPr>
        <p:blipFill>
          <a:blip r:embed="rId2"/>
          <a:stretch>
            <a:fillRect/>
          </a:stretch>
        </p:blipFill>
        <p:spPr>
          <a:xfrm>
            <a:off x="4754880" y="1874520"/>
            <a:ext cx="365760" cy="365760"/>
          </a:xfrm>
          <a:prstGeom prst="rect">
            <a:avLst/>
          </a:prstGeom>
        </p:spPr>
      </p:pic>
      <p:sp>
        <p:nvSpPr>
          <p:cNvPr id="12" name="Text 8"/>
          <p:cNvSpPr txBox="1"/>
          <p:nvPr/>
        </p:nvSpPr>
        <p:spPr>
          <a:xfrm>
            <a:off x="5440680" y="1691640"/>
            <a:ext cx="2194560" cy="731520"/>
          </a:xfrm>
          <a:prstGeom prst="rect">
            <a:avLst/>
          </a:prstGeom>
          <a:noFill/>
          <a:ln/>
        </p:spPr>
        <p:txBody>
          <a:bodyPr wrap="square" lIns="0" tIns="0" rIns="0" bIns="0" rtlCol="0" anchor="ctr"/>
          <a:lstStyle/>
          <a:p>
            <a:pPr indent="0" marL="0">
              <a:buNone/>
            </a:pPr>
            <a:r>
              <a:rPr lang="en-US" sz="2200" b="1" dirty="0">
                <a:solidFill>
                  <a:schemeClr val="tx2"/>
                </a:solidFill>
              </a:rPr>
              <a:t>Schools</a:t>
            </a:r>
            <a:endParaRPr lang="en-US" sz="2200" dirty="0"/>
          </a:p>
        </p:txBody>
      </p:sp>
      <p:sp>
        <p:nvSpPr>
          <p:cNvPr id="13" name="Text 9"/>
          <p:cNvSpPr txBox="1"/>
          <p:nvPr/>
        </p:nvSpPr>
        <p:spPr>
          <a:xfrm>
            <a:off x="4572000" y="2606040"/>
            <a:ext cx="3017520" cy="548640"/>
          </a:xfrm>
          <a:prstGeom prst="rect">
            <a:avLst/>
          </a:prstGeom>
          <a:noFill/>
          <a:ln/>
        </p:spPr>
        <p:txBody>
          <a:bodyPr wrap="square" lIns="0" tIns="0" rIns="0" bIns="0" rtlCol="0" anchor="ctr"/>
          <a:lstStyle/>
          <a:p>
            <a:pPr indent="0" marL="0">
              <a:buNone/>
            </a:pPr>
            <a:r>
              <a:rPr lang="en-US" sz="1300" i="1" dirty="0">
                <a:solidFill>
                  <a:schemeClr val="accent6"/>
                </a:solidFill>
              </a:rPr>
              <a:t>Department for Education, 26,483 schools</a:t>
            </a:r>
            <a:endParaRPr lang="en-US" sz="1300" dirty="0"/>
          </a:p>
        </p:txBody>
      </p:sp>
      <p:sp>
        <p:nvSpPr>
          <p:cNvPr id="14" name="Text 10"/>
          <p:cNvSpPr txBox="1"/>
          <p:nvPr/>
        </p:nvSpPr>
        <p:spPr>
          <a:xfrm>
            <a:off x="4572000" y="3200400"/>
            <a:ext cx="3017520" cy="210312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chemeClr val="tx1"/>
                </a:solidFill>
              </a:rPr>
              <a:t>Nearest schools for each child's age</a:t>
            </a:r>
            <a:endParaRPr lang="en-US" sz="1500" dirty="0"/>
          </a:p>
          <a:p>
            <a:pPr marL="342900" indent="-342900">
              <a:spcAft>
                <a:spcPts val="800"/>
              </a:spcAft>
              <a:buSzPct val="100000"/>
              <a:buChar char="•"/>
            </a:pPr>
            <a:r>
              <a:rPr lang="en-US" sz="1500" dirty="0">
                <a:solidFill>
                  <a:schemeClr val="tx1"/>
                </a:solidFill>
              </a:rPr>
              <a:t>Phone, website and distance</a:t>
            </a:r>
            <a:endParaRPr lang="en-US" sz="1500" dirty="0"/>
          </a:p>
          <a:p>
            <a:pPr marL="342900" indent="-342900">
              <a:spcAft>
                <a:spcPts val="800"/>
              </a:spcAft>
              <a:buSzPct val="100000"/>
              <a:buChar char="•"/>
            </a:pPr>
            <a:r>
              <a:rPr lang="en-US" sz="1500" dirty="0">
                <a:solidFill>
                  <a:schemeClr val="tx1"/>
                </a:solidFill>
              </a:rPr>
              <a:t>Council admissions and childcare links</a:t>
            </a:r>
            <a:endParaRPr lang="en-US" sz="1500" dirty="0"/>
          </a:p>
        </p:txBody>
      </p:sp>
      <p:sp>
        <p:nvSpPr>
          <p:cNvPr id="15" name="Water"/>
          <p:cNvSpPr/>
          <p:nvPr/>
        </p:nvSpPr>
        <p:spPr>
          <a:xfrm>
            <a:off x="8046720" y="1463040"/>
            <a:ext cx="3474720" cy="4023360"/>
          </a:xfrm>
          <a:prstGeom prst="roundRect">
            <a:avLst>
              <a:gd name="adj" fmla="val 3158"/>
            </a:avLst>
          </a:prstGeom>
          <a:solidFill>
            <a:schemeClr val="bg2"/>
          </a:solidFill>
          <a:ln/>
        </p:spPr>
      </p:sp>
      <p:sp>
        <p:nvSpPr>
          <p:cNvPr id="16" name="Water circle"/>
          <p:cNvSpPr/>
          <p:nvPr/>
        </p:nvSpPr>
        <p:spPr>
          <a:xfrm>
            <a:off x="8321040" y="1691640"/>
            <a:ext cx="731520" cy="731520"/>
          </a:xfrm>
          <a:prstGeom prst="ellipse">
            <a:avLst/>
          </a:prstGeom>
          <a:solidFill>
            <a:schemeClr val="accent2"/>
          </a:solidFill>
          <a:ln/>
        </p:spPr>
      </p:sp>
      <p:pic>
        <p:nvPicPr>
          <p:cNvPr id="17" name="Water icon" descr="preencoded.png">    </p:cNvPr>
          <p:cNvPicPr>
            <a:picLocks noChangeAspect="1"/>
          </p:cNvPicPr>
          <p:nvPr/>
        </p:nvPicPr>
        <p:blipFill>
          <a:blip r:embed="rId3"/>
          <a:stretch>
            <a:fillRect/>
          </a:stretch>
        </p:blipFill>
        <p:spPr>
          <a:xfrm>
            <a:off x="8503920" y="1874520"/>
            <a:ext cx="365760" cy="365760"/>
          </a:xfrm>
          <a:prstGeom prst="rect">
            <a:avLst/>
          </a:prstGeom>
        </p:spPr>
      </p:pic>
      <p:sp>
        <p:nvSpPr>
          <p:cNvPr id="18" name="Text 13"/>
          <p:cNvSpPr txBox="1"/>
          <p:nvPr/>
        </p:nvSpPr>
        <p:spPr>
          <a:xfrm>
            <a:off x="9189720" y="1691640"/>
            <a:ext cx="2194560" cy="731520"/>
          </a:xfrm>
          <a:prstGeom prst="rect">
            <a:avLst/>
          </a:prstGeom>
          <a:noFill/>
          <a:ln/>
        </p:spPr>
        <p:txBody>
          <a:bodyPr wrap="square" lIns="0" tIns="0" rIns="0" bIns="0" rtlCol="0" anchor="ctr"/>
          <a:lstStyle/>
          <a:p>
            <a:pPr indent="0" marL="0">
              <a:buNone/>
            </a:pPr>
            <a:r>
              <a:rPr lang="en-US" sz="2200" b="1" dirty="0">
                <a:solidFill>
                  <a:schemeClr val="tx2"/>
                </a:solidFill>
              </a:rPr>
              <a:t>Water</a:t>
            </a:r>
            <a:endParaRPr lang="en-US" sz="2200" dirty="0"/>
          </a:p>
        </p:txBody>
      </p:sp>
      <p:sp>
        <p:nvSpPr>
          <p:cNvPr id="19" name="Text 14"/>
          <p:cNvSpPr txBox="1"/>
          <p:nvPr/>
        </p:nvSpPr>
        <p:spPr>
          <a:xfrm>
            <a:off x="8321040" y="2606040"/>
            <a:ext cx="3017520" cy="548640"/>
          </a:xfrm>
          <a:prstGeom prst="rect">
            <a:avLst/>
          </a:prstGeom>
          <a:noFill/>
          <a:ln/>
        </p:spPr>
        <p:txBody>
          <a:bodyPr wrap="square" lIns="0" tIns="0" rIns="0" bIns="0" rtlCol="0" anchor="ctr"/>
          <a:lstStyle/>
          <a:p>
            <a:pPr indent="0" marL="0">
              <a:buNone/>
            </a:pPr>
            <a:r>
              <a:rPr lang="en-US" sz="1300" i="1" dirty="0">
                <a:solidFill>
                  <a:schemeClr val="accent6"/>
                </a:solidFill>
              </a:rPr>
              <a:t>Checked table plus the official CCW checker</a:t>
            </a:r>
            <a:endParaRPr lang="en-US" sz="1300" dirty="0"/>
          </a:p>
        </p:txBody>
      </p:sp>
      <p:sp>
        <p:nvSpPr>
          <p:cNvPr id="20" name="Text 15"/>
          <p:cNvSpPr txBox="1"/>
          <p:nvPr/>
        </p:nvSpPr>
        <p:spPr>
          <a:xfrm>
            <a:off x="8321040" y="3200400"/>
            <a:ext cx="3017520" cy="210312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chemeClr val="tx1"/>
                </a:solidFill>
              </a:rPr>
              <a:t>Yorkshire Water (to confirm)</a:t>
            </a:r>
            <a:endParaRPr lang="en-US" sz="1500" dirty="0"/>
          </a:p>
          <a:p>
            <a:pPr marL="342900" indent="-342900">
              <a:spcAft>
                <a:spcPts val="800"/>
              </a:spcAft>
              <a:buSzPct val="100000"/>
              <a:buChar char="•"/>
            </a:pPr>
            <a:r>
              <a:rPr lang="en-US" sz="1500" dirty="0">
                <a:solidFill>
                  <a:schemeClr val="tx1"/>
                </a:solidFill>
              </a:rPr>
              <a:t>Water and sewerage named separately</a:t>
            </a:r>
            <a:endParaRPr lang="en-US" sz="1500" dirty="0"/>
          </a:p>
          <a:p>
            <a:pPr marL="342900" indent="-342900">
              <a:spcAft>
                <a:spcPts val="800"/>
              </a:spcAft>
              <a:buSzPct val="100000"/>
              <a:buChar char="•"/>
            </a:pPr>
            <a:r>
              <a:rPr lang="en-US" sz="1500" dirty="0">
                <a:solidFill>
                  <a:schemeClr val="tx1"/>
                </a:solidFill>
              </a:rPr>
              <a:t>Scotland and NI: no account needed</a:t>
            </a:r>
            <a:endParaRPr lang="en-US" sz="1500" dirty="0"/>
          </a:p>
        </p:txBody>
      </p:sp>
      <p:sp>
        <p:nvSpPr>
          <p:cNvPr id="21" name="Text 16"/>
          <p:cNvSpPr txBox="1"/>
          <p:nvPr/>
        </p:nvSpPr>
        <p:spPr>
          <a:xfrm>
            <a:off x="548640" y="5715000"/>
            <a:ext cx="11064240" cy="457200"/>
          </a:xfrm>
          <a:prstGeom prst="rect">
            <a:avLst/>
          </a:prstGeom>
          <a:noFill/>
          <a:ln/>
        </p:spPr>
        <p:txBody>
          <a:bodyPr wrap="square" lIns="0" tIns="0" rIns="0" bIns="0" rtlCol="0" anchor="ctr"/>
          <a:lstStyle/>
          <a:p>
            <a:pPr indent="0" marL="0">
              <a:buNone/>
            </a:pPr>
            <a:r>
              <a:rPr lang="en-US" sz="1500" i="1" dirty="0">
                <a:solidFill>
                  <a:schemeClr val="tx2"/>
                </a:solidFill>
              </a:rPr>
              <a:t>Live example: Belfast → Leeds LS6 3BQ. Distance is not catchment: the list says how to check practice areas and school admissions.</a:t>
            </a:r>
            <a:endParaRPr lang="en-US" sz="15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indent="0" marL="0">
              <a:buNone/>
            </a:pPr>
            <a:r>
              <a:rPr lang="en-US" sz="3400" b="1" dirty="0">
                <a:solidFill>
                  <a:schemeClr val="tx2"/>
                </a:solidFill>
              </a:rPr>
              <a:t>What we built in the hackathon</a:t>
            </a:r>
            <a:endParaRPr lang="en-US" sz="3400" dirty="0"/>
          </a:p>
        </p:txBody>
      </p:sp>
      <p:sp>
        <p:nvSpPr>
          <p:cNvPr id="3" name="number 1"/>
          <p:cNvSpPr/>
          <p:nvPr/>
        </p:nvSpPr>
        <p:spPr>
          <a:xfrm>
            <a:off x="548640" y="1463040"/>
            <a:ext cx="3474720" cy="2011680"/>
          </a:xfrm>
          <a:prstGeom prst="roundRect">
            <a:avLst>
              <a:gd name="adj" fmla="val 5455"/>
            </a:avLst>
          </a:prstGeom>
          <a:solidFill>
            <a:schemeClr val="bg2"/>
          </a:solidFill>
          <a:ln/>
        </p:spPr>
      </p:sp>
      <p:sp>
        <p:nvSpPr>
          <p:cNvPr id="4" name="Text 2"/>
          <p:cNvSpPr txBox="1"/>
          <p:nvPr/>
        </p:nvSpPr>
        <p:spPr>
          <a:xfrm>
            <a:off x="822960" y="1645920"/>
            <a:ext cx="2926080" cy="1005840"/>
          </a:xfrm>
          <a:prstGeom prst="rect">
            <a:avLst/>
          </a:prstGeom>
          <a:noFill/>
          <a:ln/>
        </p:spPr>
        <p:txBody>
          <a:bodyPr wrap="square" lIns="0" tIns="0" rIns="0" bIns="0" rtlCol="0" anchor="ctr"/>
          <a:lstStyle/>
          <a:p>
            <a:pPr indent="0" marL="0">
              <a:buNone/>
            </a:pPr>
            <a:r>
              <a:rPr lang="en-US" sz="5400" b="1" dirty="0">
                <a:solidFill>
                  <a:schemeClr val="accent2"/>
                </a:solidFill>
                <a:latin typeface="Cambria" pitchFamily="34" charset="0"/>
                <a:ea typeface="Cambria" pitchFamily="34" charset="-122"/>
                <a:cs typeface="Cambria" pitchFamily="34" charset="-120"/>
              </a:rPr>
              <a:t>13</a:t>
            </a:r>
            <a:endParaRPr lang="en-US" sz="5400" dirty="0"/>
          </a:p>
        </p:txBody>
      </p:sp>
      <p:sp>
        <p:nvSpPr>
          <p:cNvPr id="5" name="Text 3"/>
          <p:cNvSpPr txBox="1"/>
          <p:nvPr/>
        </p:nvSpPr>
        <p:spPr>
          <a:xfrm>
            <a:off x="822960" y="2697480"/>
            <a:ext cx="2926080" cy="640080"/>
          </a:xfrm>
          <a:prstGeom prst="rect">
            <a:avLst/>
          </a:prstGeom>
          <a:noFill/>
          <a:ln/>
        </p:spPr>
        <p:txBody>
          <a:bodyPr wrap="square" lIns="0" tIns="0" rIns="0" bIns="0" rtlCol="0" anchor="t"/>
          <a:lstStyle/>
          <a:p>
            <a:pPr indent="0" marL="0">
              <a:buNone/>
            </a:pPr>
            <a:r>
              <a:rPr lang="en-US" sz="1700" dirty="0">
                <a:solidFill>
                  <a:schemeClr val="tx1"/>
                </a:solidFill>
              </a:rPr>
              <a:t>LLM agents</a:t>
            </a:r>
            <a:endParaRPr lang="en-US" sz="1700" dirty="0"/>
          </a:p>
        </p:txBody>
      </p:sp>
      <p:sp>
        <p:nvSpPr>
          <p:cNvPr id="6" name="number 2"/>
          <p:cNvSpPr/>
          <p:nvPr/>
        </p:nvSpPr>
        <p:spPr>
          <a:xfrm>
            <a:off x="4297680" y="1463040"/>
            <a:ext cx="3474720" cy="2011680"/>
          </a:xfrm>
          <a:prstGeom prst="roundRect">
            <a:avLst>
              <a:gd name="adj" fmla="val 5455"/>
            </a:avLst>
          </a:prstGeom>
          <a:solidFill>
            <a:schemeClr val="bg2"/>
          </a:solidFill>
          <a:ln/>
        </p:spPr>
      </p:sp>
      <p:sp>
        <p:nvSpPr>
          <p:cNvPr id="7" name="Text 5"/>
          <p:cNvSpPr txBox="1"/>
          <p:nvPr/>
        </p:nvSpPr>
        <p:spPr>
          <a:xfrm>
            <a:off x="4572000" y="1645920"/>
            <a:ext cx="2926080" cy="1005840"/>
          </a:xfrm>
          <a:prstGeom prst="rect">
            <a:avLst/>
          </a:prstGeom>
          <a:noFill/>
          <a:ln/>
        </p:spPr>
        <p:txBody>
          <a:bodyPr wrap="square" lIns="0" tIns="0" rIns="0" bIns="0" rtlCol="0" anchor="ctr"/>
          <a:lstStyle/>
          <a:p>
            <a:pPr indent="0" marL="0">
              <a:buNone/>
            </a:pPr>
            <a:r>
              <a:rPr lang="en-US" sz="5400" b="1" dirty="0">
                <a:solidFill>
                  <a:schemeClr val="accent2"/>
                </a:solidFill>
                <a:latin typeface="Cambria" pitchFamily="34" charset="0"/>
                <a:ea typeface="Cambria" pitchFamily="34" charset="-122"/>
                <a:cs typeface="Cambria" pitchFamily="34" charset="-120"/>
              </a:rPr>
              <a:t>26</a:t>
            </a:r>
            <a:endParaRPr lang="en-US" sz="5400" dirty="0"/>
          </a:p>
        </p:txBody>
      </p:sp>
      <p:sp>
        <p:nvSpPr>
          <p:cNvPr id="8" name="Text 6"/>
          <p:cNvSpPr txBox="1"/>
          <p:nvPr/>
        </p:nvSpPr>
        <p:spPr>
          <a:xfrm>
            <a:off x="4572000" y="2697480"/>
            <a:ext cx="2926080" cy="640080"/>
          </a:xfrm>
          <a:prstGeom prst="rect">
            <a:avLst/>
          </a:prstGeom>
          <a:noFill/>
          <a:ln/>
        </p:spPr>
        <p:txBody>
          <a:bodyPr wrap="square" lIns="0" tIns="0" rIns="0" bIns="0" rtlCol="0" anchor="t"/>
          <a:lstStyle/>
          <a:p>
            <a:pPr indent="0" marL="0">
              <a:buNone/>
            </a:pPr>
            <a:r>
              <a:rPr lang="en-US" sz="1700" dirty="0">
                <a:solidFill>
                  <a:schemeClr val="tx1"/>
                </a:solidFill>
              </a:rPr>
              <a:t>coded tools</a:t>
            </a:r>
            <a:endParaRPr lang="en-US" sz="1700" dirty="0"/>
          </a:p>
        </p:txBody>
      </p:sp>
      <p:sp>
        <p:nvSpPr>
          <p:cNvPr id="9" name="number 3"/>
          <p:cNvSpPr/>
          <p:nvPr/>
        </p:nvSpPr>
        <p:spPr>
          <a:xfrm>
            <a:off x="8046720" y="1463040"/>
            <a:ext cx="3474720" cy="2011680"/>
          </a:xfrm>
          <a:prstGeom prst="roundRect">
            <a:avLst>
              <a:gd name="adj" fmla="val 5455"/>
            </a:avLst>
          </a:prstGeom>
          <a:solidFill>
            <a:schemeClr val="bg2"/>
          </a:solidFill>
          <a:ln/>
        </p:spPr>
      </p:sp>
      <p:sp>
        <p:nvSpPr>
          <p:cNvPr id="10" name="Text 8"/>
          <p:cNvSpPr txBox="1"/>
          <p:nvPr/>
        </p:nvSpPr>
        <p:spPr>
          <a:xfrm>
            <a:off x="8321040" y="1645920"/>
            <a:ext cx="2926080" cy="1005840"/>
          </a:xfrm>
          <a:prstGeom prst="rect">
            <a:avLst/>
          </a:prstGeom>
          <a:noFill/>
          <a:ln/>
        </p:spPr>
        <p:txBody>
          <a:bodyPr wrap="square" lIns="0" tIns="0" rIns="0" bIns="0" rtlCol="0" anchor="ctr"/>
          <a:lstStyle/>
          <a:p>
            <a:pPr indent="0" marL="0">
              <a:buNone/>
            </a:pPr>
            <a:r>
              <a:rPr lang="en-US" sz="5400" b="1" dirty="0">
                <a:solidFill>
                  <a:schemeClr val="accent2"/>
                </a:solidFill>
                <a:latin typeface="Cambria" pitchFamily="34" charset="0"/>
                <a:ea typeface="Cambria" pitchFamily="34" charset="-122"/>
                <a:cs typeface="Cambria" pitchFamily="34" charset="-120"/>
              </a:rPr>
              <a:t>23</a:t>
            </a:r>
            <a:endParaRPr lang="en-US" sz="5400" dirty="0"/>
          </a:p>
        </p:txBody>
      </p:sp>
      <p:sp>
        <p:nvSpPr>
          <p:cNvPr id="11" name="Text 9"/>
          <p:cNvSpPr txBox="1"/>
          <p:nvPr/>
        </p:nvSpPr>
        <p:spPr>
          <a:xfrm>
            <a:off x="8321040" y="2697480"/>
            <a:ext cx="2926080" cy="640080"/>
          </a:xfrm>
          <a:prstGeom prst="rect">
            <a:avLst/>
          </a:prstGeom>
          <a:noFill/>
          <a:ln/>
        </p:spPr>
        <p:txBody>
          <a:bodyPr wrap="square" lIns="0" tIns="0" rIns="0" bIns="0" rtlCol="0" anchor="t"/>
          <a:lstStyle/>
          <a:p>
            <a:pPr indent="0" marL="0">
              <a:buNone/>
            </a:pPr>
            <a:r>
              <a:rPr lang="en-US" sz="1700" dirty="0">
                <a:solidFill>
                  <a:schemeClr val="tx1"/>
                </a:solidFill>
              </a:rPr>
              <a:t>rules, 20 verified</a:t>
            </a:r>
            <a:endParaRPr lang="en-US" sz="1700" dirty="0"/>
          </a:p>
        </p:txBody>
      </p:sp>
      <p:sp>
        <p:nvSpPr>
          <p:cNvPr id="12" name="number 4"/>
          <p:cNvSpPr/>
          <p:nvPr/>
        </p:nvSpPr>
        <p:spPr>
          <a:xfrm>
            <a:off x="548640" y="3703320"/>
            <a:ext cx="3474720" cy="2011680"/>
          </a:xfrm>
          <a:prstGeom prst="roundRect">
            <a:avLst>
              <a:gd name="adj" fmla="val 5455"/>
            </a:avLst>
          </a:prstGeom>
          <a:solidFill>
            <a:schemeClr val="bg2"/>
          </a:solidFill>
          <a:ln/>
        </p:spPr>
      </p:sp>
      <p:sp>
        <p:nvSpPr>
          <p:cNvPr id="13" name="Text 11"/>
          <p:cNvSpPr txBox="1"/>
          <p:nvPr/>
        </p:nvSpPr>
        <p:spPr>
          <a:xfrm>
            <a:off x="822960" y="3886200"/>
            <a:ext cx="2926080" cy="1005840"/>
          </a:xfrm>
          <a:prstGeom prst="rect">
            <a:avLst/>
          </a:prstGeom>
          <a:noFill/>
          <a:ln/>
        </p:spPr>
        <p:txBody>
          <a:bodyPr wrap="square" lIns="0" tIns="0" rIns="0" bIns="0" rtlCol="0" anchor="ctr"/>
          <a:lstStyle/>
          <a:p>
            <a:pPr indent="0" marL="0">
              <a:buNone/>
            </a:pPr>
            <a:r>
              <a:rPr lang="en-US" sz="5400" b="1" dirty="0">
                <a:solidFill>
                  <a:schemeClr val="accent2"/>
                </a:solidFill>
                <a:latin typeface="Cambria" pitchFamily="34" charset="0"/>
                <a:ea typeface="Cambria" pitchFamily="34" charset="-122"/>
                <a:cs typeface="Cambria" pitchFamily="34" charset="-120"/>
              </a:rPr>
              <a:t>77</a:t>
            </a:r>
            <a:endParaRPr lang="en-US" sz="5400" dirty="0"/>
          </a:p>
        </p:txBody>
      </p:sp>
      <p:sp>
        <p:nvSpPr>
          <p:cNvPr id="14" name="Text 12"/>
          <p:cNvSpPr txBox="1"/>
          <p:nvPr/>
        </p:nvSpPr>
        <p:spPr>
          <a:xfrm>
            <a:off x="822960" y="4937760"/>
            <a:ext cx="2926080" cy="640080"/>
          </a:xfrm>
          <a:prstGeom prst="rect">
            <a:avLst/>
          </a:prstGeom>
          <a:noFill/>
          <a:ln/>
        </p:spPr>
        <p:txBody>
          <a:bodyPr wrap="square" lIns="0" tIns="0" rIns="0" bIns="0" rtlCol="0" anchor="t"/>
          <a:lstStyle/>
          <a:p>
            <a:pPr indent="0" marL="0">
              <a:buNone/>
            </a:pPr>
            <a:r>
              <a:rPr lang="en-US" sz="1700" dirty="0">
                <a:solidFill>
                  <a:schemeClr val="tx1"/>
                </a:solidFill>
              </a:rPr>
              <a:t>automated tests</a:t>
            </a:r>
            <a:endParaRPr lang="en-US" sz="1700" dirty="0"/>
          </a:p>
        </p:txBody>
      </p:sp>
      <p:sp>
        <p:nvSpPr>
          <p:cNvPr id="15" name="number 5"/>
          <p:cNvSpPr/>
          <p:nvPr/>
        </p:nvSpPr>
        <p:spPr>
          <a:xfrm>
            <a:off x="4297680" y="3703320"/>
            <a:ext cx="3474720" cy="2011680"/>
          </a:xfrm>
          <a:prstGeom prst="roundRect">
            <a:avLst>
              <a:gd name="adj" fmla="val 5455"/>
            </a:avLst>
          </a:prstGeom>
          <a:solidFill>
            <a:schemeClr val="bg2"/>
          </a:solidFill>
          <a:ln/>
        </p:spPr>
      </p:sp>
      <p:sp>
        <p:nvSpPr>
          <p:cNvPr id="16" name="Text 14"/>
          <p:cNvSpPr txBox="1"/>
          <p:nvPr/>
        </p:nvSpPr>
        <p:spPr>
          <a:xfrm>
            <a:off x="4572000" y="3886200"/>
            <a:ext cx="2926080" cy="1005840"/>
          </a:xfrm>
          <a:prstGeom prst="rect">
            <a:avLst/>
          </a:prstGeom>
          <a:noFill/>
          <a:ln/>
        </p:spPr>
        <p:txBody>
          <a:bodyPr wrap="square" lIns="0" tIns="0" rIns="0" bIns="0" rtlCol="0" anchor="ctr"/>
          <a:lstStyle/>
          <a:p>
            <a:pPr indent="0" marL="0">
              <a:buNone/>
            </a:pPr>
            <a:r>
              <a:rPr lang="en-US" sz="5400" b="1" dirty="0">
                <a:solidFill>
                  <a:schemeClr val="accent2"/>
                </a:solidFill>
                <a:latin typeface="Cambria" pitchFamily="34" charset="0"/>
                <a:ea typeface="Cambria" pitchFamily="34" charset="-122"/>
                <a:cs typeface="Cambria" pitchFamily="34" charset="-120"/>
              </a:rPr>
              <a:t>6</a:t>
            </a:r>
            <a:endParaRPr lang="en-US" sz="5400" dirty="0"/>
          </a:p>
        </p:txBody>
      </p:sp>
      <p:sp>
        <p:nvSpPr>
          <p:cNvPr id="17" name="Text 15"/>
          <p:cNvSpPr txBox="1"/>
          <p:nvPr/>
        </p:nvSpPr>
        <p:spPr>
          <a:xfrm>
            <a:off x="4572000" y="4937760"/>
            <a:ext cx="2926080" cy="640080"/>
          </a:xfrm>
          <a:prstGeom prst="rect">
            <a:avLst/>
          </a:prstGeom>
          <a:noFill/>
          <a:ln/>
        </p:spPr>
        <p:txBody>
          <a:bodyPr wrap="square" lIns="0" tIns="0" rIns="0" bIns="0" rtlCol="0" anchor="t"/>
          <a:lstStyle/>
          <a:p>
            <a:pPr indent="0" marL="0">
              <a:buNone/>
            </a:pPr>
            <a:r>
              <a:rPr lang="en-US" sz="1700" dirty="0">
                <a:solidFill>
                  <a:schemeClr val="tx1"/>
                </a:solidFill>
              </a:rPr>
              <a:t>test journeys</a:t>
            </a:r>
            <a:endParaRPr lang="en-US" sz="1700" dirty="0"/>
          </a:p>
        </p:txBody>
      </p:sp>
      <p:sp>
        <p:nvSpPr>
          <p:cNvPr id="18" name="number 6"/>
          <p:cNvSpPr/>
          <p:nvPr/>
        </p:nvSpPr>
        <p:spPr>
          <a:xfrm>
            <a:off x="8046720" y="3703320"/>
            <a:ext cx="3474720" cy="2011680"/>
          </a:xfrm>
          <a:prstGeom prst="roundRect">
            <a:avLst>
              <a:gd name="adj" fmla="val 5455"/>
            </a:avLst>
          </a:prstGeom>
          <a:solidFill>
            <a:schemeClr val="bg2"/>
          </a:solidFill>
          <a:ln/>
        </p:spPr>
      </p:sp>
      <p:sp>
        <p:nvSpPr>
          <p:cNvPr id="19" name="Text 17"/>
          <p:cNvSpPr txBox="1"/>
          <p:nvPr/>
        </p:nvSpPr>
        <p:spPr>
          <a:xfrm>
            <a:off x="8321040" y="3886200"/>
            <a:ext cx="2926080" cy="1005840"/>
          </a:xfrm>
          <a:prstGeom prst="rect">
            <a:avLst/>
          </a:prstGeom>
          <a:noFill/>
          <a:ln/>
        </p:spPr>
        <p:txBody>
          <a:bodyPr wrap="square" lIns="0" tIns="0" rIns="0" bIns="0" rtlCol="0" anchor="ctr"/>
          <a:lstStyle/>
          <a:p>
            <a:pPr indent="0" marL="0">
              <a:buNone/>
            </a:pPr>
            <a:r>
              <a:rPr lang="en-US" sz="5400" b="1" dirty="0">
                <a:solidFill>
                  <a:schemeClr val="accent1"/>
                </a:solidFill>
                <a:latin typeface="Cambria" pitchFamily="34" charset="0"/>
                <a:ea typeface="Cambria" pitchFamily="34" charset="-122"/>
                <a:cs typeface="Cambria" pitchFamily="34" charset="-120"/>
              </a:rPr>
              <a:t>4</a:t>
            </a:r>
            <a:endParaRPr lang="en-US" sz="5400" dirty="0"/>
          </a:p>
        </p:txBody>
      </p:sp>
      <p:sp>
        <p:nvSpPr>
          <p:cNvPr id="20" name="Text 18"/>
          <p:cNvSpPr txBox="1"/>
          <p:nvPr/>
        </p:nvSpPr>
        <p:spPr>
          <a:xfrm>
            <a:off x="8321040" y="4937760"/>
            <a:ext cx="2926080" cy="640080"/>
          </a:xfrm>
          <a:prstGeom prst="rect">
            <a:avLst/>
          </a:prstGeom>
          <a:noFill/>
          <a:ln/>
        </p:spPr>
        <p:txBody>
          <a:bodyPr wrap="square" lIns="0" tIns="0" rIns="0" bIns="0" rtlCol="0" anchor="t"/>
          <a:lstStyle/>
          <a:p>
            <a:pPr indent="0" marL="0">
              <a:buNone/>
            </a:pPr>
            <a:r>
              <a:rPr lang="en-US" sz="1700" dirty="0">
                <a:solidFill>
                  <a:schemeClr val="tx1"/>
                </a:solidFill>
              </a:rPr>
              <a:t>UK nations' rules covered</a:t>
            </a:r>
            <a:endParaRPr lang="en-US" sz="17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indent="0" marL="0">
              <a:buNone/>
            </a:pPr>
            <a:r>
              <a:rPr lang="en-US" sz="3400" b="1" dirty="0">
                <a:solidFill>
                  <a:schemeClr val="tx2"/>
                </a:solidFill>
              </a:rPr>
              <a:t>Why a bank, and what we would measure</a:t>
            </a:r>
            <a:endParaRPr lang="en-US" sz="3400" dirty="0"/>
          </a:p>
        </p:txBody>
      </p:sp>
      <p:sp>
        <p:nvSpPr>
          <p:cNvPr id="3" name="why bank card"/>
          <p:cNvSpPr/>
          <p:nvPr/>
        </p:nvSpPr>
        <p:spPr>
          <a:xfrm>
            <a:off x="548640" y="1463040"/>
            <a:ext cx="4206240" cy="4297680"/>
          </a:xfrm>
          <a:prstGeom prst="roundRect">
            <a:avLst>
              <a:gd name="adj" fmla="val 2609"/>
            </a:avLst>
          </a:prstGeom>
          <a:solidFill>
            <a:schemeClr val="tx2"/>
          </a:solidFill>
          <a:ln/>
        </p:spPr>
      </p:sp>
      <p:sp>
        <p:nvSpPr>
          <p:cNvPr id="4" name="Text 2"/>
          <p:cNvSpPr txBox="1"/>
          <p:nvPr/>
        </p:nvSpPr>
        <p:spPr>
          <a:xfrm>
            <a:off x="822960" y="1691640"/>
            <a:ext cx="3657600" cy="822960"/>
          </a:xfrm>
          <a:prstGeom prst="rect">
            <a:avLst/>
          </a:prstGeom>
          <a:noFill/>
          <a:ln/>
        </p:spPr>
        <p:txBody>
          <a:bodyPr wrap="square" lIns="0" tIns="0" rIns="0" bIns="0" rtlCol="0" anchor="ctr"/>
          <a:lstStyle/>
          <a:p>
            <a:pPr indent="0" marL="0">
              <a:buNone/>
            </a:pPr>
            <a:r>
              <a:rPr lang="en-US" sz="2200" b="1" dirty="0">
                <a:solidFill>
                  <a:schemeClr val="accent4"/>
                </a:solidFill>
              </a:rPr>
              <a:t>Why a bank, not a moving app</a:t>
            </a:r>
            <a:endParaRPr lang="en-US" sz="2200" dirty="0"/>
          </a:p>
        </p:txBody>
      </p:sp>
      <p:sp>
        <p:nvSpPr>
          <p:cNvPr id="5" name="Text 3"/>
          <p:cNvSpPr txBox="1"/>
          <p:nvPr/>
        </p:nvSpPr>
        <p:spPr>
          <a:xfrm>
            <a:off x="822960" y="2651760"/>
            <a:ext cx="3657600" cy="2743200"/>
          </a:xfrm>
          <a:prstGeom prst="rect">
            <a:avLst/>
          </a:prstGeom>
          <a:noFill/>
          <a:ln/>
        </p:spPr>
        <p:txBody>
          <a:bodyPr wrap="square" lIns="0" tIns="0" rIns="0" bIns="0" rtlCol="0" anchor="t"/>
          <a:lstStyle/>
          <a:p>
            <a:pPr marL="342900" indent="-342900">
              <a:spcAft>
                <a:spcPts val="1200"/>
              </a:spcAft>
              <a:buSzPct val="100000"/>
              <a:buChar char="•"/>
            </a:pPr>
            <a:r>
              <a:rPr lang="en-US" sz="1800" dirty="0">
                <a:solidFill>
                  <a:schemeClr val="bg1"/>
                </a:solidFill>
              </a:rPr>
              <a:t>Sees who the customer pays</a:t>
            </a:r>
            <a:endParaRPr lang="en-US" sz="1800" dirty="0"/>
          </a:p>
          <a:p>
            <a:pPr marL="342900" indent="-342900">
              <a:spcAft>
                <a:spcPts val="1200"/>
              </a:spcAft>
              <a:buSzPct val="100000"/>
              <a:buChar char="•"/>
            </a:pPr>
            <a:r>
              <a:rPr lang="en-US" sz="1800" dirty="0">
                <a:solidFill>
                  <a:schemeClr val="bg1"/>
                </a:solidFill>
              </a:rPr>
              <a:t>Knows the completion date</a:t>
            </a:r>
            <a:endParaRPr lang="en-US" sz="1800" dirty="0"/>
          </a:p>
          <a:p>
            <a:pPr marL="342900" indent="-342900">
              <a:spcAft>
                <a:spcPts val="1200"/>
              </a:spcAft>
              <a:buSzPct val="100000"/>
              <a:buChar char="•"/>
            </a:pPr>
            <a:r>
              <a:rPr lang="en-US" sz="1800" dirty="0">
                <a:solidFill>
                  <a:schemeClr val="bg1"/>
                </a:solidFill>
              </a:rPr>
              <a:t>Already trusted with the data</a:t>
            </a:r>
            <a:endParaRPr lang="en-US" sz="1800" dirty="0"/>
          </a:p>
        </p:txBody>
      </p:sp>
      <p:sp>
        <p:nvSpPr>
          <p:cNvPr id="6" name="kpi dot 1"/>
          <p:cNvSpPr/>
          <p:nvPr/>
        </p:nvSpPr>
        <p:spPr>
          <a:xfrm>
            <a:off x="5120640" y="1572768"/>
            <a:ext cx="274320" cy="274320"/>
          </a:xfrm>
          <a:prstGeom prst="ellipse">
            <a:avLst/>
          </a:prstGeom>
          <a:solidFill>
            <a:schemeClr val="accent1"/>
          </a:solidFill>
          <a:ln/>
        </p:spPr>
      </p:sp>
      <p:sp>
        <p:nvSpPr>
          <p:cNvPr id="7" name="Text 5"/>
          <p:cNvSpPr txBox="1"/>
          <p:nvPr/>
        </p:nvSpPr>
        <p:spPr>
          <a:xfrm>
            <a:off x="5532120" y="1463040"/>
            <a:ext cx="2743200" cy="1280160"/>
          </a:xfrm>
          <a:prstGeom prst="rect">
            <a:avLst/>
          </a:prstGeom>
          <a:noFill/>
          <a:ln/>
        </p:spPr>
        <p:txBody>
          <a:bodyPr wrap="square" lIns="0" tIns="0" rIns="0" bIns="0" rtlCol="0" anchor="t"/>
          <a:lstStyle/>
          <a:p>
            <a:pPr indent="0" marL="0">
              <a:buNone/>
            </a:pPr>
            <a:r>
              <a:rPr lang="en-US" sz="1600" b="1" dirty="0">
                <a:solidFill>
                  <a:schemeClr val="tx2"/>
                </a:solidFill>
              </a:rPr>
              <a:t>Fewer servicing contacts</a:t>
            </a:r>
            <a:endParaRPr lang="en-US" sz="1600" dirty="0"/>
          </a:p>
          <a:p>
            <a:pPr indent="0" marL="0">
              <a:buNone/>
            </a:pPr>
            <a:r>
              <a:rPr lang="en-US" sz="1400" dirty="0">
                <a:solidFill>
                  <a:schemeClr val="tx1"/>
                </a:solidFill>
              </a:rPr>
              <a:t>address changes and moving queries</a:t>
            </a:r>
            <a:endParaRPr lang="en-US" sz="1600" dirty="0"/>
          </a:p>
        </p:txBody>
      </p:sp>
      <p:sp>
        <p:nvSpPr>
          <p:cNvPr id="8" name="kpi dot 2"/>
          <p:cNvSpPr/>
          <p:nvPr/>
        </p:nvSpPr>
        <p:spPr>
          <a:xfrm>
            <a:off x="8412480" y="1572768"/>
            <a:ext cx="274320" cy="274320"/>
          </a:xfrm>
          <a:prstGeom prst="ellipse">
            <a:avLst/>
          </a:prstGeom>
          <a:solidFill>
            <a:schemeClr val="accent1"/>
          </a:solidFill>
          <a:ln/>
        </p:spPr>
      </p:sp>
      <p:sp>
        <p:nvSpPr>
          <p:cNvPr id="9" name="Text 7"/>
          <p:cNvSpPr txBox="1"/>
          <p:nvPr/>
        </p:nvSpPr>
        <p:spPr>
          <a:xfrm>
            <a:off x="8823960" y="1463040"/>
            <a:ext cx="2743200" cy="1280160"/>
          </a:xfrm>
          <a:prstGeom prst="rect">
            <a:avLst/>
          </a:prstGeom>
          <a:noFill/>
          <a:ln/>
        </p:spPr>
        <p:txBody>
          <a:bodyPr wrap="square" lIns="0" tIns="0" rIns="0" bIns="0" rtlCol="0" anchor="t"/>
          <a:lstStyle/>
          <a:p>
            <a:pPr indent="0" marL="0">
              <a:buNone/>
            </a:pPr>
            <a:r>
              <a:rPr lang="en-US" sz="1600" b="1" dirty="0">
                <a:solidFill>
                  <a:schemeClr val="tx2"/>
                </a:solidFill>
              </a:rPr>
              <a:t>Satisfaction at completion</a:t>
            </a:r>
            <a:endParaRPr lang="en-US" sz="1600" dirty="0"/>
          </a:p>
          <a:p>
            <a:pPr indent="0" marL="0">
              <a:buNone/>
            </a:pPr>
            <a:r>
              <a:rPr lang="en-US" sz="1400" dirty="0">
                <a:solidFill>
                  <a:schemeClr val="tx1"/>
                </a:solidFill>
              </a:rPr>
              <a:t>and Consumer Duty evidence</a:t>
            </a:r>
            <a:endParaRPr lang="en-US" sz="1600" dirty="0"/>
          </a:p>
        </p:txBody>
      </p:sp>
      <p:sp>
        <p:nvSpPr>
          <p:cNvPr id="10" name="kpi dot 3"/>
          <p:cNvSpPr/>
          <p:nvPr/>
        </p:nvSpPr>
        <p:spPr>
          <a:xfrm>
            <a:off x="5120640" y="3035808"/>
            <a:ext cx="274320" cy="274320"/>
          </a:xfrm>
          <a:prstGeom prst="ellipse">
            <a:avLst/>
          </a:prstGeom>
          <a:solidFill>
            <a:schemeClr val="accent1"/>
          </a:solidFill>
          <a:ln/>
        </p:spPr>
      </p:sp>
      <p:sp>
        <p:nvSpPr>
          <p:cNvPr id="11" name="Text 9"/>
          <p:cNvSpPr txBox="1"/>
          <p:nvPr/>
        </p:nvSpPr>
        <p:spPr>
          <a:xfrm>
            <a:off x="5532120" y="2926080"/>
            <a:ext cx="2743200" cy="1280160"/>
          </a:xfrm>
          <a:prstGeom prst="rect">
            <a:avLst/>
          </a:prstGeom>
          <a:noFill/>
          <a:ln/>
        </p:spPr>
        <p:txBody>
          <a:bodyPr wrap="square" lIns="0" tIns="0" rIns="0" bIns="0" rtlCol="0" anchor="t"/>
          <a:lstStyle/>
          <a:p>
            <a:pPr indent="0" marL="0">
              <a:buNone/>
            </a:pPr>
            <a:r>
              <a:rPr lang="en-US" sz="1600" b="1" dirty="0">
                <a:solidFill>
                  <a:schemeClr val="tx2"/>
                </a:solidFill>
              </a:rPr>
              <a:t>Home insurance conversion</a:t>
            </a:r>
            <a:endParaRPr lang="en-US" sz="1600" dirty="0"/>
          </a:p>
          <a:p>
            <a:pPr indent="0" marL="0">
              <a:buNone/>
            </a:pPr>
            <a:r>
              <a:rPr lang="en-US" sz="1400" dirty="0">
                <a:solidFill>
                  <a:schemeClr val="tx1"/>
                </a:solidFill>
              </a:rPr>
              <a:t>an opt-in offer at the moment it is needed</a:t>
            </a:r>
            <a:endParaRPr lang="en-US" sz="1600" dirty="0"/>
          </a:p>
        </p:txBody>
      </p:sp>
      <p:sp>
        <p:nvSpPr>
          <p:cNvPr id="12" name="kpi dot 4"/>
          <p:cNvSpPr/>
          <p:nvPr/>
        </p:nvSpPr>
        <p:spPr>
          <a:xfrm>
            <a:off x="8412480" y="3035808"/>
            <a:ext cx="274320" cy="274320"/>
          </a:xfrm>
          <a:prstGeom prst="ellipse">
            <a:avLst/>
          </a:prstGeom>
          <a:solidFill>
            <a:schemeClr val="accent1"/>
          </a:solidFill>
          <a:ln/>
        </p:spPr>
      </p:sp>
      <p:sp>
        <p:nvSpPr>
          <p:cNvPr id="13" name="Text 11"/>
          <p:cNvSpPr txBox="1"/>
          <p:nvPr/>
        </p:nvSpPr>
        <p:spPr>
          <a:xfrm>
            <a:off x="8823960" y="2926080"/>
            <a:ext cx="2743200" cy="1280160"/>
          </a:xfrm>
          <a:prstGeom prst="rect">
            <a:avLst/>
          </a:prstGeom>
          <a:noFill/>
          <a:ln/>
        </p:spPr>
        <p:txBody>
          <a:bodyPr wrap="square" lIns="0" tIns="0" rIns="0" bIns="0" rtlCol="0" anchor="t"/>
          <a:lstStyle/>
          <a:p>
            <a:pPr indent="0" marL="0">
              <a:buNone/>
            </a:pPr>
            <a:r>
              <a:rPr lang="en-US" sz="1600" b="1" dirty="0">
                <a:solidFill>
                  <a:schemeClr val="tx2"/>
                </a:solidFill>
              </a:rPr>
              <a:t>Tasks done before their due date</a:t>
            </a:r>
            <a:endParaRPr lang="en-US" sz="1600" dirty="0"/>
          </a:p>
          <a:p>
            <a:pPr indent="0" marL="0">
              <a:buNone/>
            </a:pPr>
            <a:r>
              <a:rPr lang="en-US" sz="1400" dirty="0">
                <a:solidFill>
                  <a:schemeClr val="tx1"/>
                </a:solidFill>
              </a:rPr>
              <a:t>fewer missed legal obligations</a:t>
            </a:r>
            <a:endParaRPr lang="en-US" sz="1600" dirty="0"/>
          </a:p>
        </p:txBody>
      </p:sp>
      <p:sp>
        <p:nvSpPr>
          <p:cNvPr id="14" name="kpi dot 5"/>
          <p:cNvSpPr/>
          <p:nvPr/>
        </p:nvSpPr>
        <p:spPr>
          <a:xfrm>
            <a:off x="5120640" y="4498848"/>
            <a:ext cx="274320" cy="274320"/>
          </a:xfrm>
          <a:prstGeom prst="ellipse">
            <a:avLst/>
          </a:prstGeom>
          <a:solidFill>
            <a:schemeClr val="accent1"/>
          </a:solidFill>
          <a:ln/>
        </p:spPr>
      </p:sp>
      <p:sp>
        <p:nvSpPr>
          <p:cNvPr id="15" name="Text 13"/>
          <p:cNvSpPr txBox="1"/>
          <p:nvPr/>
        </p:nvSpPr>
        <p:spPr>
          <a:xfrm>
            <a:off x="5532120" y="4389120"/>
            <a:ext cx="2743200" cy="1280160"/>
          </a:xfrm>
          <a:prstGeom prst="rect">
            <a:avLst/>
          </a:prstGeom>
          <a:noFill/>
          <a:ln/>
        </p:spPr>
        <p:txBody>
          <a:bodyPr wrap="square" lIns="0" tIns="0" rIns="0" bIns="0" rtlCol="0" anchor="t"/>
          <a:lstStyle/>
          <a:p>
            <a:pPr indent="0" marL="0">
              <a:buNone/>
            </a:pPr>
            <a:r>
              <a:rPr lang="en-US" sz="1600" b="1" dirty="0">
                <a:solidFill>
                  <a:schemeClr val="tx2"/>
                </a:solidFill>
              </a:rPr>
              <a:t>Customer time saved per move</a:t>
            </a:r>
            <a:endParaRPr lang="en-US" sz="1600" dirty="0"/>
          </a:p>
          <a:p>
            <a:pPr indent="0" marL="0">
              <a:buNone/>
            </a:pPr>
            <a:r>
              <a:rPr lang="en-US" sz="1400" dirty="0">
                <a:solidFill>
                  <a:schemeClr val="tx1"/>
                </a:solidFill>
              </a:rPr>
              <a:t>from a task-time study</a:t>
            </a:r>
            <a:endParaRPr lang="en-US" sz="1600" dirty="0"/>
          </a:p>
        </p:txBody>
      </p:sp>
      <p:sp>
        <p:nvSpPr>
          <p:cNvPr id="16" name="kpi dot 6"/>
          <p:cNvSpPr/>
          <p:nvPr/>
        </p:nvSpPr>
        <p:spPr>
          <a:xfrm>
            <a:off x="8412480" y="4498848"/>
            <a:ext cx="274320" cy="274320"/>
          </a:xfrm>
          <a:prstGeom prst="ellipse">
            <a:avLst/>
          </a:prstGeom>
          <a:solidFill>
            <a:schemeClr val="accent1"/>
          </a:solidFill>
          <a:ln/>
        </p:spPr>
      </p:sp>
      <p:sp>
        <p:nvSpPr>
          <p:cNvPr id="17" name="Text 15"/>
          <p:cNvSpPr txBox="1"/>
          <p:nvPr/>
        </p:nvSpPr>
        <p:spPr>
          <a:xfrm>
            <a:off x="8823960" y="4389120"/>
            <a:ext cx="2743200" cy="1280160"/>
          </a:xfrm>
          <a:prstGeom prst="rect">
            <a:avLst/>
          </a:prstGeom>
          <a:noFill/>
          <a:ln/>
        </p:spPr>
        <p:txBody>
          <a:bodyPr wrap="square" lIns="0" tIns="0" rIns="0" bIns="0" rtlCol="0" anchor="t"/>
          <a:lstStyle/>
          <a:p>
            <a:pPr indent="0" marL="0">
              <a:buNone/>
            </a:pPr>
            <a:r>
              <a:rPr lang="en-US" sz="1600" b="1" dirty="0">
                <a:solidFill>
                  <a:schemeClr val="tx2"/>
                </a:solidFill>
              </a:rPr>
              <a:t>Retention at product transfer</a:t>
            </a:r>
            <a:endParaRPr lang="en-US" sz="1600" dirty="0"/>
          </a:p>
          <a:p>
            <a:pPr indent="0" marL="0">
              <a:buNone/>
            </a:pPr>
            <a:r>
              <a:rPr lang="en-US" sz="1400" dirty="0">
                <a:solidFill>
                  <a:schemeClr val="tx1"/>
                </a:solidFill>
              </a:rPr>
              <a:t>long-term relationship value</a:t>
            </a:r>
            <a:endParaRPr lang="en-US" sz="1600" dirty="0"/>
          </a:p>
        </p:txBody>
      </p:sp>
      <p:sp>
        <p:nvSpPr>
          <p:cNvPr id="18" name="Text 16"/>
          <p:cNvSpPr txBox="1"/>
          <p:nvPr/>
        </p:nvSpPr>
        <p:spPr>
          <a:xfrm>
            <a:off x="5120640" y="5897880"/>
            <a:ext cx="6492240" cy="365760"/>
          </a:xfrm>
          <a:prstGeom prst="rect">
            <a:avLst/>
          </a:prstGeom>
          <a:noFill/>
          <a:ln/>
        </p:spPr>
        <p:txBody>
          <a:bodyPr wrap="square" lIns="0" tIns="0" rIns="0" bIns="0" rtlCol="0" anchor="ctr"/>
          <a:lstStyle/>
          <a:p>
            <a:pPr indent="0" marL="0">
              <a:buNone/>
            </a:pPr>
            <a:r>
              <a:rPr lang="en-US" sz="1200" i="1" dirty="0">
                <a:solidFill>
                  <a:schemeClr val="accent6"/>
                </a:solidFill>
              </a:rPr>
              <a:t>Targets to measure in a pilot, not claimed results.</a:t>
            </a:r>
            <a:endParaRPr lang="en-US" sz="12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indent="0" marL="0">
              <a:buNone/>
            </a:pPr>
            <a:r>
              <a:rPr lang="en-US" sz="3400" b="1" dirty="0">
                <a:solidFill>
                  <a:schemeClr val="tx2"/>
                </a:solidFill>
              </a:rPr>
              <a:t>Roadmap</a:t>
            </a:r>
            <a:endParaRPr lang="en-US" sz="3400" dirty="0"/>
          </a:p>
        </p:txBody>
      </p:sp>
      <p:sp>
        <p:nvSpPr>
          <p:cNvPr id="3" name="timeline"/>
          <p:cNvSpPr/>
          <p:nvPr/>
        </p:nvSpPr>
        <p:spPr>
          <a:xfrm>
            <a:off x="1097280" y="2331720"/>
            <a:ext cx="9966960" cy="0"/>
          </a:xfrm>
          <a:prstGeom prst="line">
            <a:avLst/>
          </a:prstGeom>
          <a:noFill/>
          <a:ln w="38100">
            <a:solidFill>
              <a:schemeClr val="accent3"/>
            </a:solidFill>
            <a:prstDash val="solid"/>
          </a:ln>
        </p:spPr>
      </p:sp>
      <p:sp>
        <p:nvSpPr>
          <p:cNvPr id="4" name="step 1"/>
          <p:cNvSpPr/>
          <p:nvPr/>
        </p:nvSpPr>
        <p:spPr>
          <a:xfrm>
            <a:off x="1051560" y="2011680"/>
            <a:ext cx="640080" cy="640080"/>
          </a:xfrm>
          <a:prstGeom prst="ellipse">
            <a:avLst/>
          </a:prstGeom>
          <a:solidFill>
            <a:schemeClr val="accent1"/>
          </a:solidFill>
          <a:ln/>
        </p:spPr>
      </p:sp>
      <p:sp>
        <p:nvSpPr>
          <p:cNvPr id="5" name="Text 3"/>
          <p:cNvSpPr txBox="1"/>
          <p:nvPr/>
        </p:nvSpPr>
        <p:spPr>
          <a:xfrm>
            <a:off x="1051560" y="2011680"/>
            <a:ext cx="640080" cy="640080"/>
          </a:xfrm>
          <a:prstGeom prst="rect">
            <a:avLst/>
          </a:prstGeom>
          <a:noFill/>
          <a:ln/>
        </p:spPr>
        <p:txBody>
          <a:bodyPr wrap="square" lIns="0" tIns="0" rIns="0" bIns="0" rtlCol="0" anchor="ctr"/>
          <a:lstStyle/>
          <a:p>
            <a:pPr algn="ctr" indent="0" marL="0">
              <a:buNone/>
            </a:pPr>
            <a:r>
              <a:rPr lang="en-US" sz="2000" b="1" dirty="0">
                <a:solidFill>
                  <a:schemeClr val="bg1"/>
                </a:solidFill>
              </a:rPr>
              <a:t>1</a:t>
            </a:r>
            <a:endParaRPr lang="en-US" sz="2000" dirty="0"/>
          </a:p>
        </p:txBody>
      </p:sp>
      <p:sp>
        <p:nvSpPr>
          <p:cNvPr id="6" name="Text 4"/>
          <p:cNvSpPr txBox="1"/>
          <p:nvPr/>
        </p:nvSpPr>
        <p:spPr>
          <a:xfrm>
            <a:off x="548640" y="2880360"/>
            <a:ext cx="2057400" cy="457200"/>
          </a:xfrm>
          <a:prstGeom prst="rect">
            <a:avLst/>
          </a:prstGeom>
          <a:noFill/>
          <a:ln/>
        </p:spPr>
        <p:txBody>
          <a:bodyPr wrap="square" lIns="0" tIns="0" rIns="0" bIns="0" rtlCol="0" anchor="ctr"/>
          <a:lstStyle/>
          <a:p>
            <a:pPr indent="0" marL="0">
              <a:buNone/>
            </a:pPr>
            <a:r>
              <a:rPr lang="en-US" sz="1900" b="1" dirty="0">
                <a:solidFill>
                  <a:schemeClr val="tx2"/>
                </a:solidFill>
              </a:rPr>
              <a:t>Open Banking</a:t>
            </a:r>
            <a:endParaRPr lang="en-US" sz="1900" dirty="0"/>
          </a:p>
        </p:txBody>
      </p:sp>
      <p:sp>
        <p:nvSpPr>
          <p:cNvPr id="7" name="Text 5"/>
          <p:cNvSpPr txBox="1"/>
          <p:nvPr/>
        </p:nvSpPr>
        <p:spPr>
          <a:xfrm>
            <a:off x="548640" y="3383280"/>
            <a:ext cx="2057400" cy="1737360"/>
          </a:xfrm>
          <a:prstGeom prst="rect">
            <a:avLst/>
          </a:prstGeom>
          <a:noFill/>
          <a:ln/>
        </p:spPr>
        <p:txBody>
          <a:bodyPr wrap="square" lIns="0" tIns="0" rIns="0" bIns="0" rtlCol="0" anchor="t"/>
          <a:lstStyle/>
          <a:p>
            <a:pPr indent="0" marL="0">
              <a:buNone/>
            </a:pPr>
            <a:r>
              <a:rPr lang="en-US" sz="1500" dirty="0">
                <a:solidFill>
                  <a:schemeClr val="tx1"/>
                </a:solidFill>
              </a:rPr>
              <a:t>Transactions and Direct Debits from any UK bank, with consent</a:t>
            </a:r>
            <a:endParaRPr lang="en-US" sz="1500" dirty="0"/>
          </a:p>
        </p:txBody>
      </p:sp>
      <p:sp>
        <p:nvSpPr>
          <p:cNvPr id="8" name="step 2"/>
          <p:cNvSpPr/>
          <p:nvPr/>
        </p:nvSpPr>
        <p:spPr>
          <a:xfrm>
            <a:off x="3291840" y="2011680"/>
            <a:ext cx="640080" cy="640080"/>
          </a:xfrm>
          <a:prstGeom prst="ellipse">
            <a:avLst/>
          </a:prstGeom>
          <a:solidFill>
            <a:schemeClr val="accent2"/>
          </a:solidFill>
          <a:ln/>
        </p:spPr>
      </p:sp>
      <p:sp>
        <p:nvSpPr>
          <p:cNvPr id="9" name="Text 7"/>
          <p:cNvSpPr txBox="1"/>
          <p:nvPr/>
        </p:nvSpPr>
        <p:spPr>
          <a:xfrm>
            <a:off x="3291840" y="2011680"/>
            <a:ext cx="640080" cy="640080"/>
          </a:xfrm>
          <a:prstGeom prst="rect">
            <a:avLst/>
          </a:prstGeom>
          <a:noFill/>
          <a:ln/>
        </p:spPr>
        <p:txBody>
          <a:bodyPr wrap="square" lIns="0" tIns="0" rIns="0" bIns="0" rtlCol="0" anchor="ctr"/>
          <a:lstStyle/>
          <a:p>
            <a:pPr algn="ctr" indent="0" marL="0">
              <a:buNone/>
            </a:pPr>
            <a:r>
              <a:rPr lang="en-US" sz="2000" b="1" dirty="0">
                <a:solidFill>
                  <a:schemeClr val="bg1"/>
                </a:solidFill>
              </a:rPr>
              <a:t>2</a:t>
            </a:r>
            <a:endParaRPr lang="en-US" sz="2000" dirty="0"/>
          </a:p>
        </p:txBody>
      </p:sp>
      <p:sp>
        <p:nvSpPr>
          <p:cNvPr id="10" name="Text 8"/>
          <p:cNvSpPr txBox="1"/>
          <p:nvPr/>
        </p:nvSpPr>
        <p:spPr>
          <a:xfrm>
            <a:off x="2788920" y="2880360"/>
            <a:ext cx="2057400" cy="457200"/>
          </a:xfrm>
          <a:prstGeom prst="rect">
            <a:avLst/>
          </a:prstGeom>
          <a:noFill/>
          <a:ln/>
        </p:spPr>
        <p:txBody>
          <a:bodyPr wrap="square" lIns="0" tIns="0" rIns="0" bIns="0" rtlCol="0" anchor="ctr"/>
          <a:lstStyle/>
          <a:p>
            <a:pPr indent="0" marL="0">
              <a:buNone/>
            </a:pPr>
            <a:r>
              <a:rPr lang="en-US" sz="1900" b="1" dirty="0">
                <a:solidFill>
                  <a:schemeClr val="tx2"/>
                </a:solidFill>
              </a:rPr>
              <a:t>Pilot</a:t>
            </a:r>
            <a:endParaRPr lang="en-US" sz="1900" dirty="0"/>
          </a:p>
        </p:txBody>
      </p:sp>
      <p:sp>
        <p:nvSpPr>
          <p:cNvPr id="11" name="Text 9"/>
          <p:cNvSpPr txBox="1"/>
          <p:nvPr/>
        </p:nvSpPr>
        <p:spPr>
          <a:xfrm>
            <a:off x="2788920" y="3383280"/>
            <a:ext cx="2057400" cy="1737360"/>
          </a:xfrm>
          <a:prstGeom prst="rect">
            <a:avLst/>
          </a:prstGeom>
          <a:noFill/>
          <a:ln/>
        </p:spPr>
        <p:txBody>
          <a:bodyPr wrap="square" lIns="0" tIns="0" rIns="0" bIns="0" rtlCol="0" anchor="t"/>
          <a:lstStyle/>
          <a:p>
            <a:pPr indent="0" marL="0">
              <a:buNone/>
            </a:pPr>
            <a:r>
              <a:rPr lang="en-US" sz="1500" dirty="0">
                <a:solidFill>
                  <a:schemeClr val="tx1"/>
                </a:solidFill>
              </a:rPr>
              <a:t>Consenting mortgage customers; address update and home insurance live</a:t>
            </a:r>
            <a:endParaRPr lang="en-US" sz="1500" dirty="0"/>
          </a:p>
        </p:txBody>
      </p:sp>
      <p:sp>
        <p:nvSpPr>
          <p:cNvPr id="12" name="step 3"/>
          <p:cNvSpPr/>
          <p:nvPr/>
        </p:nvSpPr>
        <p:spPr>
          <a:xfrm>
            <a:off x="5532120" y="2011680"/>
            <a:ext cx="640080" cy="640080"/>
          </a:xfrm>
          <a:prstGeom prst="ellipse">
            <a:avLst/>
          </a:prstGeom>
          <a:solidFill>
            <a:schemeClr val="accent2"/>
          </a:solidFill>
          <a:ln/>
        </p:spPr>
      </p:sp>
      <p:sp>
        <p:nvSpPr>
          <p:cNvPr id="13" name="Text 11"/>
          <p:cNvSpPr txBox="1"/>
          <p:nvPr/>
        </p:nvSpPr>
        <p:spPr>
          <a:xfrm>
            <a:off x="5532120" y="2011680"/>
            <a:ext cx="640080" cy="640080"/>
          </a:xfrm>
          <a:prstGeom prst="rect">
            <a:avLst/>
          </a:prstGeom>
          <a:noFill/>
          <a:ln/>
        </p:spPr>
        <p:txBody>
          <a:bodyPr wrap="square" lIns="0" tIns="0" rIns="0" bIns="0" rtlCol="0" anchor="ctr"/>
          <a:lstStyle/>
          <a:p>
            <a:pPr algn="ctr" indent="0" marL="0">
              <a:buNone/>
            </a:pPr>
            <a:r>
              <a:rPr lang="en-US" sz="2000" b="1" dirty="0">
                <a:solidFill>
                  <a:schemeClr val="bg1"/>
                </a:solidFill>
              </a:rPr>
              <a:t>3</a:t>
            </a:r>
            <a:endParaRPr lang="en-US" sz="2000" dirty="0"/>
          </a:p>
        </p:txBody>
      </p:sp>
      <p:sp>
        <p:nvSpPr>
          <p:cNvPr id="14" name="Text 12"/>
          <p:cNvSpPr txBox="1"/>
          <p:nvPr/>
        </p:nvSpPr>
        <p:spPr>
          <a:xfrm>
            <a:off x="5029200" y="2880360"/>
            <a:ext cx="2057400" cy="457200"/>
          </a:xfrm>
          <a:prstGeom prst="rect">
            <a:avLst/>
          </a:prstGeom>
          <a:noFill/>
          <a:ln/>
        </p:spPr>
        <p:txBody>
          <a:bodyPr wrap="square" lIns="0" tIns="0" rIns="0" bIns="0" rtlCol="0" anchor="ctr"/>
          <a:lstStyle/>
          <a:p>
            <a:pPr indent="0" marL="0">
              <a:buNone/>
            </a:pPr>
            <a:r>
              <a:rPr lang="en-US" sz="1900" b="1" dirty="0">
                <a:solidFill>
                  <a:schemeClr val="tx2"/>
                </a:solidFill>
              </a:rPr>
              <a:t>Partner APIs</a:t>
            </a:r>
            <a:endParaRPr lang="en-US" sz="1900" dirty="0"/>
          </a:p>
        </p:txBody>
      </p:sp>
      <p:sp>
        <p:nvSpPr>
          <p:cNvPr id="15" name="Text 13"/>
          <p:cNvSpPr txBox="1"/>
          <p:nvPr/>
        </p:nvSpPr>
        <p:spPr>
          <a:xfrm>
            <a:off x="5029200" y="3383280"/>
            <a:ext cx="2057400" cy="1737360"/>
          </a:xfrm>
          <a:prstGeom prst="rect">
            <a:avLst/>
          </a:prstGeom>
          <a:noFill/>
          <a:ln/>
        </p:spPr>
        <p:txBody>
          <a:bodyPr wrap="square" lIns="0" tIns="0" rIns="0" bIns="0" rtlCol="0" anchor="t"/>
          <a:lstStyle/>
          <a:p>
            <a:pPr indent="0" marL="0">
              <a:buNone/>
            </a:pPr>
            <a:r>
              <a:rPr lang="en-US" sz="1500" dirty="0">
                <a:solidFill>
                  <a:schemeClr val="tx1"/>
                </a:solidFill>
              </a:rPr>
              <a:t>Energy, water and broadband providers</a:t>
            </a:r>
            <a:endParaRPr lang="en-US" sz="1500" dirty="0"/>
          </a:p>
        </p:txBody>
      </p:sp>
      <p:sp>
        <p:nvSpPr>
          <p:cNvPr id="16" name="step 4"/>
          <p:cNvSpPr/>
          <p:nvPr/>
        </p:nvSpPr>
        <p:spPr>
          <a:xfrm>
            <a:off x="7772400" y="2011680"/>
            <a:ext cx="640080" cy="640080"/>
          </a:xfrm>
          <a:prstGeom prst="ellipse">
            <a:avLst/>
          </a:prstGeom>
          <a:solidFill>
            <a:schemeClr val="accent2"/>
          </a:solidFill>
          <a:ln/>
        </p:spPr>
      </p:sp>
      <p:sp>
        <p:nvSpPr>
          <p:cNvPr id="17" name="Text 15"/>
          <p:cNvSpPr txBox="1"/>
          <p:nvPr/>
        </p:nvSpPr>
        <p:spPr>
          <a:xfrm>
            <a:off x="7772400" y="2011680"/>
            <a:ext cx="640080" cy="640080"/>
          </a:xfrm>
          <a:prstGeom prst="rect">
            <a:avLst/>
          </a:prstGeom>
          <a:noFill/>
          <a:ln/>
        </p:spPr>
        <p:txBody>
          <a:bodyPr wrap="square" lIns="0" tIns="0" rIns="0" bIns="0" rtlCol="0" anchor="ctr"/>
          <a:lstStyle/>
          <a:p>
            <a:pPr algn="ctr" indent="0" marL="0">
              <a:buNone/>
            </a:pPr>
            <a:r>
              <a:rPr lang="en-US" sz="2000" b="1" dirty="0">
                <a:solidFill>
                  <a:schemeClr val="bg1"/>
                </a:solidFill>
              </a:rPr>
              <a:t>4</a:t>
            </a:r>
            <a:endParaRPr lang="en-US" sz="2000" dirty="0"/>
          </a:p>
        </p:txBody>
      </p:sp>
      <p:sp>
        <p:nvSpPr>
          <p:cNvPr id="18" name="Text 16"/>
          <p:cNvSpPr txBox="1"/>
          <p:nvPr/>
        </p:nvSpPr>
        <p:spPr>
          <a:xfrm>
            <a:off x="7269480" y="2880360"/>
            <a:ext cx="2057400" cy="457200"/>
          </a:xfrm>
          <a:prstGeom prst="rect">
            <a:avLst/>
          </a:prstGeom>
          <a:noFill/>
          <a:ln/>
        </p:spPr>
        <p:txBody>
          <a:bodyPr wrap="square" lIns="0" tIns="0" rIns="0" bIns="0" rtlCol="0" anchor="ctr"/>
          <a:lstStyle/>
          <a:p>
            <a:pPr indent="0" marL="0">
              <a:buNone/>
            </a:pPr>
            <a:r>
              <a:rPr lang="en-US" sz="1900" b="1" dirty="0">
                <a:solidFill>
                  <a:schemeClr val="tx2"/>
                </a:solidFill>
              </a:rPr>
              <a:t>gov.uk links</a:t>
            </a:r>
            <a:endParaRPr lang="en-US" sz="1900" dirty="0"/>
          </a:p>
        </p:txBody>
      </p:sp>
      <p:sp>
        <p:nvSpPr>
          <p:cNvPr id="19" name="Text 17"/>
          <p:cNvSpPr txBox="1"/>
          <p:nvPr/>
        </p:nvSpPr>
        <p:spPr>
          <a:xfrm>
            <a:off x="7269480" y="3383280"/>
            <a:ext cx="2057400" cy="1737360"/>
          </a:xfrm>
          <a:prstGeom prst="rect">
            <a:avLst/>
          </a:prstGeom>
          <a:noFill/>
          <a:ln/>
        </p:spPr>
        <p:txBody>
          <a:bodyPr wrap="square" lIns="0" tIns="0" rIns="0" bIns="0" rtlCol="0" anchor="t"/>
          <a:lstStyle/>
          <a:p>
            <a:pPr indent="0" marL="0">
              <a:buNone/>
            </a:pPr>
            <a:r>
              <a:rPr lang="en-US" sz="1500" dirty="0">
                <a:solidFill>
                  <a:schemeClr val="tx1"/>
                </a:solidFill>
              </a:rPr>
              <a:t>Official change-of-address services as they open up</a:t>
            </a:r>
            <a:endParaRPr lang="en-US" sz="1500" dirty="0"/>
          </a:p>
        </p:txBody>
      </p:sp>
      <p:sp>
        <p:nvSpPr>
          <p:cNvPr id="20" name="step 5"/>
          <p:cNvSpPr/>
          <p:nvPr/>
        </p:nvSpPr>
        <p:spPr>
          <a:xfrm>
            <a:off x="10012680" y="2011680"/>
            <a:ext cx="640080" cy="640080"/>
          </a:xfrm>
          <a:prstGeom prst="ellipse">
            <a:avLst/>
          </a:prstGeom>
          <a:solidFill>
            <a:schemeClr val="accent2"/>
          </a:solidFill>
          <a:ln/>
        </p:spPr>
      </p:sp>
      <p:sp>
        <p:nvSpPr>
          <p:cNvPr id="21" name="Text 19"/>
          <p:cNvSpPr txBox="1"/>
          <p:nvPr/>
        </p:nvSpPr>
        <p:spPr>
          <a:xfrm>
            <a:off x="10012680" y="2011680"/>
            <a:ext cx="640080" cy="640080"/>
          </a:xfrm>
          <a:prstGeom prst="rect">
            <a:avLst/>
          </a:prstGeom>
          <a:noFill/>
          <a:ln/>
        </p:spPr>
        <p:txBody>
          <a:bodyPr wrap="square" lIns="0" tIns="0" rIns="0" bIns="0" rtlCol="0" anchor="ctr"/>
          <a:lstStyle/>
          <a:p>
            <a:pPr algn="ctr" indent="0" marL="0">
              <a:buNone/>
            </a:pPr>
            <a:r>
              <a:rPr lang="en-US" sz="2000" b="1" dirty="0">
                <a:solidFill>
                  <a:schemeClr val="bg1"/>
                </a:solidFill>
              </a:rPr>
              <a:t>5</a:t>
            </a:r>
            <a:endParaRPr lang="en-US" sz="2000" dirty="0"/>
          </a:p>
        </p:txBody>
      </p:sp>
      <p:sp>
        <p:nvSpPr>
          <p:cNvPr id="22" name="Text 20"/>
          <p:cNvSpPr txBox="1"/>
          <p:nvPr/>
        </p:nvSpPr>
        <p:spPr>
          <a:xfrm>
            <a:off x="9509760" y="2880360"/>
            <a:ext cx="2057400" cy="457200"/>
          </a:xfrm>
          <a:prstGeom prst="rect">
            <a:avLst/>
          </a:prstGeom>
          <a:noFill/>
          <a:ln/>
        </p:spPr>
        <p:txBody>
          <a:bodyPr wrap="square" lIns="0" tIns="0" rIns="0" bIns="0" rtlCol="0" anchor="ctr"/>
          <a:lstStyle/>
          <a:p>
            <a:pPr indent="0" marL="0">
              <a:buNone/>
            </a:pPr>
            <a:r>
              <a:rPr lang="en-US" sz="1900" b="1" dirty="0">
                <a:solidFill>
                  <a:schemeClr val="tx2"/>
                </a:solidFill>
              </a:rPr>
              <a:t>New journeys</a:t>
            </a:r>
            <a:endParaRPr lang="en-US" sz="1900" dirty="0"/>
          </a:p>
        </p:txBody>
      </p:sp>
      <p:sp>
        <p:nvSpPr>
          <p:cNvPr id="23" name="Text 21"/>
          <p:cNvSpPr txBox="1"/>
          <p:nvPr/>
        </p:nvSpPr>
        <p:spPr>
          <a:xfrm>
            <a:off x="9509760" y="3383280"/>
            <a:ext cx="2057400" cy="1737360"/>
          </a:xfrm>
          <a:prstGeom prst="rect">
            <a:avLst/>
          </a:prstGeom>
          <a:noFill/>
          <a:ln/>
        </p:spPr>
        <p:txBody>
          <a:bodyPr wrap="square" lIns="0" tIns="0" rIns="0" bIns="0" rtlCol="0" anchor="t"/>
          <a:lstStyle/>
          <a:p>
            <a:pPr indent="0" marL="0">
              <a:buNone/>
            </a:pPr>
            <a:r>
              <a:rPr lang="en-US" sz="1500" dirty="0">
                <a:solidFill>
                  <a:schemeClr val="tx1"/>
                </a:solidFill>
              </a:rPr>
              <a:t>Business premises moves, bereavement, marriage, a new baby</a:t>
            </a:r>
            <a:endParaRPr lang="en-US" sz="1500" dirty="0"/>
          </a:p>
        </p:txBody>
      </p:sp>
      <p:sp>
        <p:nvSpPr>
          <p:cNvPr id="24" name="Text 22"/>
          <p:cNvSpPr txBox="1"/>
          <p:nvPr/>
        </p:nvSpPr>
        <p:spPr>
          <a:xfrm>
            <a:off x="548640" y="5349240"/>
            <a:ext cx="11064240" cy="731520"/>
          </a:xfrm>
          <a:prstGeom prst="rect">
            <a:avLst/>
          </a:prstGeom>
          <a:noFill/>
          <a:ln/>
        </p:spPr>
        <p:txBody>
          <a:bodyPr wrap="square" lIns="0" tIns="0" rIns="0" bIns="0" rtlCol="0" anchor="ctr"/>
          <a:lstStyle/>
          <a:p>
            <a:pPr indent="0" marL="0">
              <a:buNone/>
            </a:pPr>
            <a:r>
              <a:rPr lang="en-US" sz="1500" dirty="0">
                <a:solidFill>
                  <a:schemeClr val="accent6"/>
                </a:solidFill>
              </a:rPr>
              <a:t>Production work: Consumer Duty review, authority to act for the customer, data-sharing agreements, managed encryption keys and model risk governance.</a:t>
            </a:r>
            <a:endParaRPr lang="en-US" sz="15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731520" y="1828800"/>
            <a:ext cx="6949440" cy="1463040"/>
          </a:xfrm>
          <a:prstGeom prst="rect">
            <a:avLst/>
          </a:prstGeom>
          <a:noFill/>
          <a:ln/>
        </p:spPr>
        <p:txBody>
          <a:bodyPr wrap="square" lIns="0" tIns="0" rIns="0" bIns="0" rtlCol="0" anchor="b"/>
          <a:lstStyle/>
          <a:p>
            <a:pPr indent="0" marL="0">
              <a:buNone/>
            </a:pPr>
            <a:r>
              <a:rPr lang="en-US" sz="5400" b="1" dirty="0">
                <a:solidFill>
                  <a:schemeClr val="bg1"/>
                </a:solidFill>
              </a:rPr>
              <a:t>Let's see it</a:t>
            </a:r>
            <a:endParaRPr lang="en-US" sz="5400" dirty="0"/>
          </a:p>
        </p:txBody>
      </p:sp>
      <p:sp>
        <p:nvSpPr>
          <p:cNvPr id="3" name="Text 0"/>
          <p:cNvSpPr/>
          <p:nvPr>
            <p:ph idx="101" type="body" hasCustomPrompt="1"/>
          </p:nvPr>
        </p:nvSpPr>
        <p:spPr>
          <a:xfrm>
            <a:off x="731520" y="3429000"/>
            <a:ext cx="6766560" cy="1463040"/>
          </a:xfrm>
          <a:prstGeom prst="rect">
            <a:avLst/>
          </a:prstGeom>
          <a:noFill/>
          <a:ln/>
        </p:spPr>
        <p:txBody>
          <a:bodyPr wrap="square" lIns="0" tIns="0" rIns="0" bIns="0" rtlCol="0" anchor="t"/>
          <a:lstStyle/>
          <a:p>
            <a:pPr indent="0" marL="0">
              <a:buNone/>
            </a:pPr>
            <a:r>
              <a:rPr lang="en-US" sz="2200" dirty="0">
                <a:solidFill>
                  <a:schemeClr val="accent4"/>
                </a:solidFill>
              </a:rPr>
              <a:t>Live demo in nsflow: hackathon/house_move</a:t>
            </a:r>
            <a:endParaRPr lang="en-US" sz="2200" dirty="0"/>
          </a:p>
          <a:p>
            <a:pPr indent="0" marL="0">
              <a:buNone/>
            </a:pPr>
            <a:r>
              <a:rPr lang="en-US" sz="2200" dirty="0">
                <a:solidFill>
                  <a:schemeClr val="accent4"/>
                </a:solidFill>
              </a:rPr>
              <a:t>Thank you</a:t>
            </a:r>
            <a:endParaRPr lang="en-US" sz="2200" dirty="0"/>
          </a:p>
        </p:txBody>
      </p:sp>
      <p:sp>
        <p:nvSpPr>
          <p:cNvPr id="4" name="closing circle"/>
          <p:cNvSpPr/>
          <p:nvPr/>
        </p:nvSpPr>
        <p:spPr>
          <a:xfrm>
            <a:off x="8503920" y="1463040"/>
            <a:ext cx="3108960" cy="3108960"/>
          </a:xfrm>
          <a:prstGeom prst="ellipse">
            <a:avLst/>
          </a:prstGeom>
          <a:solidFill>
            <a:schemeClr val="accent2"/>
          </a:solidFill>
          <a:ln/>
        </p:spPr>
      </p:sp>
      <p:pic>
        <p:nvPicPr>
          <p:cNvPr id="5" name="closing icon" descr="preencoded.png">    </p:cNvPr>
          <p:cNvPicPr>
            <a:picLocks noChangeAspect="1"/>
          </p:cNvPicPr>
          <p:nvPr/>
        </p:nvPicPr>
        <p:blipFill>
          <a:blip r:embed="rId1"/>
          <a:stretch>
            <a:fillRect/>
          </a:stretch>
        </p:blipFill>
        <p:spPr>
          <a:xfrm>
            <a:off x="9235440" y="2148840"/>
            <a:ext cx="1645920" cy="1645920"/>
          </a:xfrm>
          <a:prstGeom prst="rect">
            <a:avLst/>
          </a:prstGeom>
        </p:spPr>
      </p:pic>
    </p:spTree>
  </p:cSld>
  <p:clrMapOvr>
    <a:masterClrMapping/>
  </p:clrMapOvr>
</p:sld>
</file>

<file path=ppt/theme/theme1.xml><?xml version="1.0" encoding="utf-8"?>
<a:theme xmlns:a="http://schemas.openxmlformats.org/drawingml/2006/main" name="House Move">
  <a:themeElements>
    <a:clrScheme name="House Move">
      <a:dk1>
        <a:srgbClr val="1E2B2A"/>
      </a:dk1>
      <a:lt1>
        <a:srgbClr val="FFFFFF"/>
      </a:lt1>
      <a:dk2>
        <a:srgbClr val="1F4E4A"/>
      </a:dk2>
      <a:lt2>
        <a:srgbClr val="EEF4F1"/>
      </a:lt2>
      <a:accent1>
        <a:srgbClr val="E07A5F"/>
      </a:accent1>
      <a:accent2>
        <a:srgbClr val="2F7D6D"/>
      </a:accent2>
      <a:accent3>
        <a:srgbClr val="81B29A"/>
      </a:accent3>
      <a:accent4>
        <a:srgbClr val="F2CC8F"/>
      </a:accent4>
      <a:accent5>
        <a:srgbClr val="3D405B"/>
      </a:accent5>
      <a:accent6>
        <a:srgbClr val="6B7F7B"/>
      </a:accent6>
      <a:hlink>
        <a:srgbClr val="2F7D6D"/>
      </a:hlink>
      <a:folHlink>
        <a:srgbClr val="3D405B"/>
      </a:folHlink>
    </a:clrScheme>
    <a:fontScheme name="House Mov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House Move Agent</dc:title>
  <dc:subject>PptxGenJS Presentation</dc:subject>
  <dc:creator>Hackathon team</dc:creator>
  <cp:lastModifiedBy>Hackathon team</cp:lastModifiedBy>
  <cp:revision>1</cp:revision>
  <dcterms:created xsi:type="dcterms:W3CDTF">2026-10-19T06:48:20Z</dcterms:created>
  <dcterms:modified xsi:type="dcterms:W3CDTF">2026-10-19T06:48:20Z</dcterms:modified>
</cp:coreProperties>
</file>