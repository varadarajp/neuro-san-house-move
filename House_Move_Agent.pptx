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3" r:id="rId24"/>
    <p:sldId id="267" r:id="rId13"/>
    <p:sldId id="268" r:id="rId14"/>
    <p:sldId id="274" r:id="rId25"/>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af6478-886a-f9b4-2793-5194e9a143c8}">
          <p14:sldIdLst>
            <p14:sldId id="256"/>
          </p14:sldIdLst>
        </p14:section>
        <p14:section name="Problem and solution" id="{eb6c9fe1-3a8f-71fe-4187-5caa8428923b}">
          <p14:sldIdLst>
            <p14:sldId id="257"/>
            <p14:sldId id="258"/>
            <p14:sldId id="259"/>
          </p14:sldIdLst>
        </p14:section>
        <p14:section name="The two AI moments" id="{02e568eb-836b-c4e3-d3c5-fe8da0230644}">
          <p14:sldIdLst>
            <p14:sldId id="260"/>
            <p14:sldId id="261"/>
          </p14:sldIdLst>
        </p14:section>
        <p14:section name="How it works" id="{b991e49f-39d1-fa60-4fdc-34d4c1e7b43d}">
          <p14:sldIdLst>
            <p14:sldId id="262"/>
            <p14:sldId id="263"/>
            <p14:sldId id="264"/>
            <p14:sldId id="265"/>
            <p14:sldId id="266"/>
            <p14:sldId id="273"/>
            <p14:sldId id="267"/>
            <p14:sldId id="268"/>
          </p14:sldIdLst>
        </p14:section>
        <p14:section name="Results and next steps" id="{a50f64f1-e823-4dd3-7e0a-d5857ca682e0}">
          <p14:sldIdLst>
            <p14:sldId id="274"/>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2.xml"/><Relationship Id="rId25"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4E4A"/>
                </a:solidFill>
                <a:latin typeface="+mj-lt"/>
              </a:defRPr>
            </a:pPr>
            <a:r>
              <a:rPr sz="1600" b="0" i="0" u="none" strike="noStrike">
                <a:solidFill>
                  <a:srgbClr val="1F4E4A"/>
                </a:solidFill>
                <a:latin typeface="+mj-lt"/>
              </a:rPr>
              <a:t>Live demo run: 17 tasks re-sorted</a:t>
            </a:r>
          </a:p>
        </c:rich>
      </c:tx>
      <c:layout/>
      <c:overlay val="0"/>
    </c:title>
    <c:autoTitleDeleted val="0"/>
    <c:plotArea>
      <c:layout/>
      <c:barChart>
        <c:barDir val="bar"/>
        <c:grouping val="clustered"/>
        <c:varyColors val="0"/>
        <c:ser>
          <c:idx val="0"/>
          <c:order val="0"/>
          <c:tx>
            <c:strRef>
              <c:f>Sheet1!$B$1</c:f>
              <c:strCache>
                <c:ptCount val="1"/>
                <c:pt idx="0">
                  <c:v>Tasks</c:v>
                </c:pt>
              </c:strCache>
            </c:strRef>
          </c:tx>
          <c:spPr>
            <a:solidFill>
              <a:srgbClr val="2F7D6D"/>
            </a:solidFill>
            <a:effectLst/>
          </c:spPr>
          <c:invertIfNegative val="0"/>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cat>
            <c:multiLvlStrRef>
              <c:f>Sheet1!$A$2:$A$5</c:f>
              <c:multiLvlStrCache>
                <c:ptCount val="4"/>
                <c:lvl>
                  <c:pt idx="0">
                    <c:v>Already sent: correction drafted</c:v>
                  </c:pt>
                  <c:pt idx="1">
                    <c:v>Bookings to move (broadband, post, bank)</c:v>
                  </c:pt>
                  <c:pt idx="2">
                    <c:v>Not sent yet: updated automatically</c:v>
                  </c:pt>
                  <c:pt idx="3">
                    <c:v>Unchanged (tied to exchange)</c:v>
                  </c:pt>
                </c:lvl>
              </c:multiLvlStrCache>
            </c:multiLvlStrRef>
          </c:cat>
          <c:val>
            <c:numRef>
              <c:f>Sheet1!$B$2:$B$5</c:f>
              <c:numCache>
                <c:formatCode>General</c:formatCode>
                <c:ptCount val="4"/>
                <c:pt idx="0">
                  <c:v>13</c:v>
                </c:pt>
                <c:pt idx="1">
                  <c:v>3</c:v>
                </c:pt>
                <c:pt idx="2">
                  <c:v>0</c:v>
                </c:pt>
                <c:pt idx="3">
                  <c:v>1</c:v>
                </c:pt>
              </c:numCache>
            </c:numRef>
          </c:val>
        </c:ser>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E2B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moment: the mortgage completes, and now there are 15 to 30 organisations to tell. This assistant finds them from the customer's own payments, plans and drafts everything, and sends nothing without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Fines are real and sourced: DVLA up to £1,000 for licence and log book; councils can charge £70 for not notifying. Banks see the cost as servicing contacts after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journey left to right. The approval step is the hinge: everything before it is preparation, everything after it acts only on what the customer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 agents and rules behind both doors. The bank route is the strongest because the bank already holds the payments and the references; standalone shows the product works for everyone. A guest who signs out comes back with their case reference and a resume code shown once when the case starts; only a salted hash is stored, and five wrong codes lock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first tidies descriptors (references and DD markers stripped) and groups them; the LLM then classifies and infers life facts. The highlighted rows are the inferences a checklist cannot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from a live run after everything had been sent. Each task keeps its status, draft and history; only its dates are recomputed, then code decides what needs a correction or a rebooking.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'is this just a checklist?': the checklist parts are deliberately code, so they are auditable; the AI does the parts a checklist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steps (profile, discovery, obligations, timeline, comms, tracker) are called in order; the four specialists use AAOSA delegation. Show the nsflow graph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LLM agents and 27 coded tools. The coordinator is the only agent the customer talks to. Pipeline agents are called in order; the four specialists use AAOSA. Every deadline, fee, send and date change runs through a coded tool, not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control is enforced in code and replayed as an attack in test_session_security.py: forged approved state is discarded, another customer's record will not open, tampered tokens are refused, and a customer ID the LLM passes to a tool cannot read another customer's payments (the evaluations caught that one). Approvals, imports and deletions in the chat need a one-time code the customer types; middleware records their real message and the tool checks it, so an LLM or an injected provider reply cannot approve. Provider replies are read only by reply_agent, which has no approve or send tools. In the app, approval comes from the customer's own signed-in browser, so no LLM is involved; it is tied to the exact wording they read.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House Move app reads the same server-side case the agents use, under the same ownership rules. The next step is worked out from the real case, so it always matches what has happened. Approve all approves every routine letter the customer has been shown, each with the fingerprint of its wording; legal requirements follow one at a time. Change asks the assistant to rewrite one letter, which then needs approving again; Skip asks for confirmation, and a legal requirement needs an explicit one. Codes are never shown here.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these rules a Belfast to Leeds move would have been told to contact 'Belfast council tax', which does not exist: Northern Ireland uses domestic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Water and sewerage come live from Ofwat's appointed area maps (April 2024, Open Government Licence) at the postcode's coordinates, so Chelmsford is Essex &amp; Suffolk Water with Anglian sewerage, and Bristol is Bristol Water with Wessex. If that service is down, a checked table answers. GP practices and phone numbers come live from the NHS; schools from the Department for Education's register.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number is from the repository: agents and tools in the network file, rules in obligations_rules.json, unit tests from pytest, and the live AI evaluation runs in tests/fixtures/hackathon/house_move.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these are pilot metrics. The insurance offer is opt-in, labelled indicative and never pre-selected.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Banking is first because it restores the strongest feature, automatic account references, for customers of any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order: sign in on the House Move app, discovery, the dated plan with local contacts, Approve all (or review one by one: approve, change, skip), send, open a Ready for you to send pack, the date slip, a provider reply, the audit trail. Show the agent graph in nsflow alongside.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approval, a complete email with every reference known goes straight to the organisation (mock in the demo). Anything else becomes a pre-filled pack: an online form, a phone call, or a letter missing something only the customer has, such as meter readings. Tapping the pack fills it in with the customer's details at that moment, never stored, with what to add and the organisation's link. I've sent it moves it to sent.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fixtures run the real network against the LLM. Each synthetic customer has its providers and life facts written down; keyword checks cover names, and an LLM judge (gist) checks inferred facts, that the plan marks exactly the legal duties, and that drafts invent no dates or fees. The first run caught a real bug: get_transactions trusted a customer ID written by the LLM, so one customer's session could read another's payments. It now reads only the case the session opened.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rtlCol="0"/>
          <a:lstStyle>
            <a:lvl1pPr indent="0" marL="0">
              <a:buNone/>
              <a:defRPr lang="en-US" sz="2200" dirty="0">
                <a:solidFill>
                  <a:schemeClr val="accent4"/>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House Move Agent  ·  EMEA Hackathon 2026  ·  Neuro SAN  ·  synthetic data only</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3-3.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House Move Agent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Tell everyone you're moving: on time, in the right order, and only with your approval</a:t>
            </a:r>
            <a:endParaRPr lang="en-US" sz="2200" dirty="0"/>
          </a:p>
        </p:txBody>
      </p:sp>
      <p:sp>
        <p:nvSpPr>
          <p:cNvPr id="4" name="event"/>
          <p:cNvSpPr txBox="1"/>
          <p:nvPr/>
        </p:nvSpPr>
        <p:spPr>
          <a:xfrm>
            <a:off x="731520" y="5074920"/>
            <a:ext cx="7315200" cy="411480"/>
          </a:xfrm>
          <a:prstGeom prst="rect">
            <a:avLst/>
          </a:prstGeom>
          <a:noFill/>
          <a:ln/>
        </p:spPr>
        <p:txBody>
          <a:bodyPr wrap="square" lIns="0" tIns="0" rIns="0" bIns="0" rtlCol="0" anchor="ctr"/>
          <a:lstStyle/>
          <a:p>
            <a:pPr indent="0" marL="0">
              <a:buNone/>
            </a:pPr>
            <a:r>
              <a:rPr lang="en-US" sz="2000" b="1" dirty="0">
                <a:solidFill>
                  <a:schemeClr val="bg1"/>
                </a:solidFill>
              </a:rPr>
              <a:t>EMEA Hackathon 2026</a:t>
            </a:r>
            <a:endParaRPr lang="en-US" sz="2000" dirty="0"/>
          </a:p>
        </p:txBody>
      </p:sp>
      <p:sp>
        <p:nvSpPr>
          <p:cNvPr id="5" name="entry"/>
          <p:cNvSpPr txBox="1"/>
          <p:nvPr/>
        </p:nvSpPr>
        <p:spPr>
          <a:xfrm>
            <a:off x="731520" y="5532120"/>
            <a:ext cx="7589520" cy="365760"/>
          </a:xfrm>
          <a:prstGeom prst="rect">
            <a:avLst/>
          </a:prstGeom>
          <a:noFill/>
          <a:ln/>
        </p:spPr>
        <p:txBody>
          <a:bodyPr wrap="square" lIns="0" tIns="0" rIns="0" bIns="0" rtlCol="0" anchor="ctr"/>
          <a:lstStyle/>
          <a:p>
            <a:pPr indent="0" marL="0">
              <a:buNone/>
            </a:pPr>
            <a:r>
              <a:rPr lang="en-US" sz="1400" dirty="0">
                <a:solidFill>
                  <a:schemeClr val="bg2"/>
                </a:solidFill>
              </a:rPr>
              <a:t>Entry by associate 110737  ·  Varadaraj.pandurangan@cognizant.com  ·  BFS UK</a:t>
            </a:r>
            <a:endParaRPr lang="en-US" sz="1400" dirty="0"/>
          </a:p>
        </p:txBody>
      </p:sp>
      <p:sp>
        <p:nvSpPr>
          <p:cNvPr id="6" name="Text 4"/>
          <p:cNvSpPr txBox="1"/>
          <p:nvPr/>
        </p:nvSpPr>
        <p:spPr>
          <a:xfrm>
            <a:off x="731520" y="5943600"/>
            <a:ext cx="7315200" cy="320040"/>
          </a:xfrm>
          <a:prstGeom prst="rect">
            <a:avLst/>
          </a:prstGeom>
          <a:noFill/>
          <a:ln/>
        </p:spPr>
        <p:txBody>
          <a:bodyPr wrap="square" lIns="0" tIns="0" rIns="0" bIns="0" rtlCol="0" anchor="ctr"/>
          <a:lstStyle/>
          <a:p>
            <a:pPr indent="0" marL="0">
              <a:buNone/>
            </a:pPr>
            <a:r>
              <a:rPr lang="en-US" sz="1200" dirty="0">
                <a:solidFill>
                  <a:schemeClr val="accent3"/>
                </a:solidFill>
              </a:rPr>
              <a:t>Multi-agent assistant built on Neuro SAN  ·  14 agents  ·  synthetic data</a:t>
            </a:r>
            <a:endParaRPr lang="en-US" sz="1200" dirty="0"/>
          </a:p>
        </p:txBody>
      </p:sp>
      <p:sp>
        <p:nvSpPr>
          <p:cNvPr id="7" name="hero circle"/>
          <p:cNvSpPr/>
          <p:nvPr/>
        </p:nvSpPr>
        <p:spPr>
          <a:xfrm>
            <a:off x="8503920" y="1463040"/>
            <a:ext cx="3108960" cy="3108960"/>
          </a:xfrm>
          <a:prstGeom prst="ellipse">
            <a:avLst/>
          </a:prstGeom>
          <a:solidFill>
            <a:schemeClr val="accent1"/>
          </a:solidFill>
          <a:ln/>
        </p:spPr>
      </p:sp>
      <p:pic>
        <p:nvPicPr>
          <p:cNvPr id="8" name="hero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Moving home means telling 15 to 30 organisations</a:t>
            </a:r>
            <a:endParaRPr lang="en-US" sz="3400" dirty="0"/>
          </a:p>
        </p:txBody>
      </p:sp>
      <p:sp>
        <p:nvSpPr>
          <p:cNvPr id="3" name="stat card 1"/>
          <p:cNvSpPr/>
          <p:nvPr/>
        </p:nvSpPr>
        <p:spPr>
          <a:xfrm>
            <a:off x="548640" y="1554480"/>
            <a:ext cx="3474720" cy="2926080"/>
          </a:xfrm>
          <a:prstGeom prst="roundRect">
            <a:avLst>
              <a:gd name="adj" fmla="val 3750"/>
            </a:avLst>
          </a:prstGeom>
          <a:solidFill>
            <a:schemeClr val="bg2"/>
          </a:solidFill>
          <a:ln/>
        </p:spPr>
      </p:sp>
      <p:sp>
        <p:nvSpPr>
          <p:cNvPr id="4" name="stat 1"/>
          <p:cNvSpPr txBox="1"/>
          <p:nvPr/>
        </p:nvSpPr>
        <p:spPr>
          <a:xfrm>
            <a:off x="822960" y="1783080"/>
            <a:ext cx="2926080" cy="128016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15–30</a:t>
            </a:r>
            <a:endParaRPr lang="en-US" sz="6000" dirty="0"/>
          </a:p>
        </p:txBody>
      </p:sp>
      <p:sp>
        <p:nvSpPr>
          <p:cNvPr id="5" name="Text 3"/>
          <p:cNvSpPr txBox="1"/>
          <p:nvPr/>
        </p:nvSpPr>
        <p:spPr>
          <a:xfrm>
            <a:off x="82296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organisations to tell about a move</a:t>
            </a:r>
            <a:endParaRPr lang="en-US" sz="1800" dirty="0"/>
          </a:p>
        </p:txBody>
      </p:sp>
      <p:sp>
        <p:nvSpPr>
          <p:cNvPr id="6" name="stat card 2"/>
          <p:cNvSpPr/>
          <p:nvPr/>
        </p:nvSpPr>
        <p:spPr>
          <a:xfrm>
            <a:off x="4297680" y="1554480"/>
            <a:ext cx="3474720" cy="2926080"/>
          </a:xfrm>
          <a:prstGeom prst="roundRect">
            <a:avLst>
              <a:gd name="adj" fmla="val 3750"/>
            </a:avLst>
          </a:prstGeom>
          <a:solidFill>
            <a:schemeClr val="bg2"/>
          </a:solidFill>
          <a:ln/>
        </p:spPr>
      </p:sp>
      <p:sp>
        <p:nvSpPr>
          <p:cNvPr id="7" name="stat 2"/>
          <p:cNvSpPr txBox="1"/>
          <p:nvPr/>
        </p:nvSpPr>
        <p:spPr>
          <a:xfrm>
            <a:off x="4572000" y="1783080"/>
            <a:ext cx="292608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£1,000</a:t>
            </a:r>
            <a:endParaRPr lang="en-US" sz="6000" dirty="0"/>
          </a:p>
        </p:txBody>
      </p:sp>
      <p:sp>
        <p:nvSpPr>
          <p:cNvPr id="8" name="Text 6"/>
          <p:cNvSpPr txBox="1"/>
          <p:nvPr/>
        </p:nvSpPr>
        <p:spPr>
          <a:xfrm>
            <a:off x="457200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maximum fine for not telling DVLA your new address</a:t>
            </a:r>
            <a:endParaRPr lang="en-US" sz="1800" dirty="0"/>
          </a:p>
        </p:txBody>
      </p:sp>
      <p:sp>
        <p:nvSpPr>
          <p:cNvPr id="9" name="stat card 3"/>
          <p:cNvSpPr/>
          <p:nvPr/>
        </p:nvSpPr>
        <p:spPr>
          <a:xfrm>
            <a:off x="8046720" y="1554480"/>
            <a:ext cx="3474720" cy="2926080"/>
          </a:xfrm>
          <a:prstGeom prst="roundRect">
            <a:avLst>
              <a:gd name="adj" fmla="val 3750"/>
            </a:avLst>
          </a:prstGeom>
          <a:solidFill>
            <a:schemeClr val="bg2"/>
          </a:solidFill>
          <a:ln/>
        </p:spPr>
      </p:sp>
      <p:sp>
        <p:nvSpPr>
          <p:cNvPr id="10" name="stat 3"/>
          <p:cNvSpPr txBox="1"/>
          <p:nvPr/>
        </p:nvSpPr>
        <p:spPr>
          <a:xfrm>
            <a:off x="8321040" y="1783080"/>
            <a:ext cx="2926080" cy="1280160"/>
          </a:xfrm>
          <a:prstGeom prst="rect">
            <a:avLst/>
          </a:prstGeom>
          <a:noFill/>
          <a:ln/>
        </p:spPr>
        <p:txBody>
          <a:bodyPr wrap="square" lIns="0" tIns="0" rIns="0" bIns="0" rtlCol="0" anchor="ctr"/>
          <a:lstStyle/>
          <a:p>
            <a:pPr indent="0" marL="0">
              <a:buNone/>
            </a:pPr>
            <a:r>
              <a:rPr lang="en-US" sz="6000" b="1" dirty="0">
                <a:solidFill>
                  <a:schemeClr val="accent5"/>
                </a:solidFill>
                <a:latin typeface="Cambria" pitchFamily="34" charset="0"/>
                <a:ea typeface="Cambria" pitchFamily="34" charset="-122"/>
                <a:cs typeface="Cambria" pitchFamily="34" charset="-120"/>
              </a:rPr>
              <a:t>£70</a:t>
            </a:r>
            <a:endParaRPr lang="en-US" sz="6000" dirty="0"/>
          </a:p>
        </p:txBody>
      </p:sp>
      <p:sp>
        <p:nvSpPr>
          <p:cNvPr id="11" name="Text 9"/>
          <p:cNvSpPr txBox="1"/>
          <p:nvPr/>
        </p:nvSpPr>
        <p:spPr>
          <a:xfrm>
            <a:off x="832104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council tax penalty for not notifying a move</a:t>
            </a:r>
            <a:endParaRPr lang="en-US" sz="1800" dirty="0"/>
          </a:p>
        </p:txBody>
      </p:sp>
      <p:sp>
        <p:nvSpPr>
          <p:cNvPr id="12" name="Text 10"/>
          <p:cNvSpPr txBox="1"/>
          <p:nvPr/>
        </p:nvSpPr>
        <p:spPr>
          <a:xfrm>
            <a:off x="548640" y="4846320"/>
            <a:ext cx="11064240" cy="731520"/>
          </a:xfrm>
          <a:prstGeom prst="rect">
            <a:avLst/>
          </a:prstGeom>
          <a:noFill/>
          <a:ln/>
        </p:spPr>
        <p:txBody>
          <a:bodyPr wrap="square" lIns="0" tIns="0" rIns="0" bIns="0" rtlCol="0" anchor="ctr"/>
          <a:lstStyle/>
          <a:p>
            <a:pPr indent="0" marL="0">
              <a:buNone/>
            </a:pPr>
            <a:r>
              <a:rPr lang="en-US" sz="1800" dirty="0">
                <a:solidFill>
                  <a:schemeClr val="tx1"/>
                </a:solidFill>
              </a:rPr>
              <a:t>People forget some, find out late, and then call their bank and providers to fix the gaps. Some of those gaps are legal obligations.</a:t>
            </a:r>
            <a:endParaRPr lang="en-US" sz="1800" dirty="0"/>
          </a:p>
        </p:txBody>
      </p:sp>
      <p:sp>
        <p:nvSpPr>
          <p:cNvPr id="13" name="Text 11"/>
          <p:cNvSpPr txBox="1"/>
          <p:nvPr/>
        </p:nvSpPr>
        <p:spPr>
          <a:xfrm>
            <a:off x="548640" y="576072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Sources: gov.uk (DVLA), Local Government Finance Act 1992 Sch. 3 (legislation.gov.uk)</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One conversation, six steps</a:t>
            </a:r>
            <a:endParaRPr lang="en-US" sz="3400" dirty="0"/>
          </a:p>
        </p:txBody>
      </p:sp>
      <p:sp>
        <p:nvSpPr>
          <p:cNvPr id="3" name="Discover circle"/>
          <p:cNvSpPr/>
          <p:nvPr/>
        </p:nvSpPr>
        <p:spPr>
          <a:xfrm>
            <a:off x="960120" y="1600200"/>
            <a:ext cx="914400" cy="914400"/>
          </a:xfrm>
          <a:prstGeom prst="ellipse">
            <a:avLst/>
          </a:prstGeom>
          <a:solidFill>
            <a:schemeClr val="accent2"/>
          </a:solidFill>
          <a:ln/>
        </p:spPr>
      </p:sp>
      <p:pic>
        <p:nvPicPr>
          <p:cNvPr id="4" name="Discover icon" descr="preencoded.png">    </p:cNvPr>
          <p:cNvPicPr>
            <a:picLocks noChangeAspect="1"/>
          </p:cNvPicPr>
          <p:nvPr/>
        </p:nvPicPr>
        <p:blipFill>
          <a:blip r:embed="rId1"/>
          <a:stretch>
            <a:fillRect/>
          </a:stretch>
        </p:blipFill>
        <p:spPr>
          <a:xfrm>
            <a:off x="1188720" y="1828800"/>
            <a:ext cx="457200" cy="457200"/>
          </a:xfrm>
          <a:prstGeom prst="rect">
            <a:avLst/>
          </a:prstGeom>
        </p:spPr>
      </p:pic>
      <p:sp>
        <p:nvSpPr>
          <p:cNvPr id="5" name="Text 2"/>
          <p:cNvSpPr txBox="1"/>
          <p:nvPr/>
        </p:nvSpPr>
        <p:spPr>
          <a:xfrm>
            <a:off x="5486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1. Discover</a:t>
            </a:r>
            <a:endParaRPr lang="en-US" sz="1800" dirty="0"/>
          </a:p>
        </p:txBody>
      </p:sp>
      <p:sp>
        <p:nvSpPr>
          <p:cNvPr id="6" name="Text 3"/>
          <p:cNvSpPr txBox="1"/>
          <p:nvPr/>
        </p:nvSpPr>
        <p:spPr>
          <a:xfrm>
            <a:off x="5486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Finds who you pay from your own transactions, including the ones you forgot</a:t>
            </a:r>
            <a:endParaRPr lang="en-US" sz="1400" dirty="0"/>
          </a:p>
        </p:txBody>
      </p:sp>
      <p:sp>
        <p:nvSpPr>
          <p:cNvPr id="7" name="Plan circle"/>
          <p:cNvSpPr/>
          <p:nvPr/>
        </p:nvSpPr>
        <p:spPr>
          <a:xfrm>
            <a:off x="2834640" y="1600200"/>
            <a:ext cx="914400" cy="914400"/>
          </a:xfrm>
          <a:prstGeom prst="ellipse">
            <a:avLst/>
          </a:prstGeom>
          <a:solidFill>
            <a:schemeClr val="accent2"/>
          </a:solidFill>
          <a:ln/>
        </p:spPr>
      </p:sp>
      <p:pic>
        <p:nvPicPr>
          <p:cNvPr id="8" name="Plan icon" descr="preencoded.png">    </p:cNvPr>
          <p:cNvPicPr>
            <a:picLocks noChangeAspect="1"/>
          </p:cNvPicPr>
          <p:nvPr/>
        </p:nvPicPr>
        <p:blipFill>
          <a:blip r:embed="rId2"/>
          <a:stretch>
            <a:fillRect/>
          </a:stretch>
        </p:blipFill>
        <p:spPr>
          <a:xfrm>
            <a:off x="3063240" y="1828800"/>
            <a:ext cx="457200" cy="457200"/>
          </a:xfrm>
          <a:prstGeom prst="rect">
            <a:avLst/>
          </a:prstGeom>
        </p:spPr>
      </p:pic>
      <p:sp>
        <p:nvSpPr>
          <p:cNvPr id="9" name="Text 5"/>
          <p:cNvSpPr txBox="1"/>
          <p:nvPr/>
        </p:nvSpPr>
        <p:spPr>
          <a:xfrm>
            <a:off x="242316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2. Plan</a:t>
            </a:r>
            <a:endParaRPr lang="en-US" sz="1800" dirty="0"/>
          </a:p>
        </p:txBody>
      </p:sp>
      <p:sp>
        <p:nvSpPr>
          <p:cNvPr id="10" name="Text 6"/>
          <p:cNvSpPr txBox="1"/>
          <p:nvPr/>
        </p:nvSpPr>
        <p:spPr>
          <a:xfrm>
            <a:off x="242316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Dated tasks from sourced rules, in UK working days</a:t>
            </a:r>
            <a:endParaRPr lang="en-US" sz="1400" dirty="0"/>
          </a:p>
        </p:txBody>
      </p:sp>
      <p:sp>
        <p:nvSpPr>
          <p:cNvPr id="11" name="Draft circle"/>
          <p:cNvSpPr/>
          <p:nvPr/>
        </p:nvSpPr>
        <p:spPr>
          <a:xfrm>
            <a:off x="4709160" y="1600200"/>
            <a:ext cx="914400" cy="914400"/>
          </a:xfrm>
          <a:prstGeom prst="ellipse">
            <a:avLst/>
          </a:prstGeom>
          <a:solidFill>
            <a:schemeClr val="accent2"/>
          </a:solidFill>
          <a:ln/>
        </p:spPr>
      </p:sp>
      <p:pic>
        <p:nvPicPr>
          <p:cNvPr id="12" name="Draft icon" descr="preencoded.png">    </p:cNvPr>
          <p:cNvPicPr>
            <a:picLocks noChangeAspect="1"/>
          </p:cNvPicPr>
          <p:nvPr/>
        </p:nvPicPr>
        <p:blipFill>
          <a:blip r:embed="rId3"/>
          <a:stretch>
            <a:fillRect/>
          </a:stretch>
        </p:blipFill>
        <p:spPr>
          <a:xfrm>
            <a:off x="4937760" y="1828800"/>
            <a:ext cx="457200" cy="457200"/>
          </a:xfrm>
          <a:prstGeom prst="rect">
            <a:avLst/>
          </a:prstGeom>
        </p:spPr>
      </p:pic>
      <p:sp>
        <p:nvSpPr>
          <p:cNvPr id="13" name="Text 8"/>
          <p:cNvSpPr txBox="1"/>
          <p:nvPr/>
        </p:nvSpPr>
        <p:spPr>
          <a:xfrm>
            <a:off x="429768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3. Draft</a:t>
            </a:r>
            <a:endParaRPr lang="en-US" sz="1800" dirty="0"/>
          </a:p>
        </p:txBody>
      </p:sp>
      <p:sp>
        <p:nvSpPr>
          <p:cNvPr id="14" name="Text 9"/>
          <p:cNvSpPr txBox="1"/>
          <p:nvPr/>
        </p:nvSpPr>
        <p:spPr>
          <a:xfrm>
            <a:off x="429768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A ready-to-send message or form for every organisation</a:t>
            </a:r>
            <a:endParaRPr lang="en-US" sz="1400" dirty="0"/>
          </a:p>
        </p:txBody>
      </p:sp>
      <p:sp>
        <p:nvSpPr>
          <p:cNvPr id="15" name="Approve circle"/>
          <p:cNvSpPr/>
          <p:nvPr/>
        </p:nvSpPr>
        <p:spPr>
          <a:xfrm>
            <a:off x="6583680" y="1600200"/>
            <a:ext cx="914400" cy="914400"/>
          </a:xfrm>
          <a:prstGeom prst="ellipse">
            <a:avLst/>
          </a:prstGeom>
          <a:solidFill>
            <a:schemeClr val="accent1"/>
          </a:solidFill>
          <a:ln/>
        </p:spPr>
      </p:sp>
      <p:pic>
        <p:nvPicPr>
          <p:cNvPr id="16" name="Approve icon" descr="preencoded.png">    </p:cNvPr>
          <p:cNvPicPr>
            <a:picLocks noChangeAspect="1"/>
          </p:cNvPicPr>
          <p:nvPr/>
        </p:nvPicPr>
        <p:blipFill>
          <a:blip r:embed="rId4"/>
          <a:stretch>
            <a:fillRect/>
          </a:stretch>
        </p:blipFill>
        <p:spPr>
          <a:xfrm>
            <a:off x="6812280" y="1828800"/>
            <a:ext cx="457200" cy="457200"/>
          </a:xfrm>
          <a:prstGeom prst="rect">
            <a:avLst/>
          </a:prstGeom>
        </p:spPr>
      </p:pic>
      <p:sp>
        <p:nvSpPr>
          <p:cNvPr id="17" name="Text 11"/>
          <p:cNvSpPr txBox="1"/>
          <p:nvPr/>
        </p:nvSpPr>
        <p:spPr>
          <a:xfrm>
            <a:off x="617220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4. Approve</a:t>
            </a:r>
            <a:endParaRPr lang="en-US" sz="1800" dirty="0"/>
          </a:p>
        </p:txBody>
      </p:sp>
      <p:sp>
        <p:nvSpPr>
          <p:cNvPr id="18" name="Text 12"/>
          <p:cNvSpPr txBox="1"/>
          <p:nvPr/>
        </p:nvSpPr>
        <p:spPr>
          <a:xfrm>
            <a:off x="617220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Approve all, or approve, change or skip each, in the app or the chat</a:t>
            </a:r>
            <a:endParaRPr lang="en-US" sz="1400" dirty="0"/>
          </a:p>
        </p:txBody>
      </p:sp>
      <p:sp>
        <p:nvSpPr>
          <p:cNvPr id="19" name="Track circle"/>
          <p:cNvSpPr/>
          <p:nvPr/>
        </p:nvSpPr>
        <p:spPr>
          <a:xfrm>
            <a:off x="8458200" y="1600200"/>
            <a:ext cx="914400" cy="914400"/>
          </a:xfrm>
          <a:prstGeom prst="ellipse">
            <a:avLst/>
          </a:prstGeom>
          <a:solidFill>
            <a:schemeClr val="accent5"/>
          </a:solidFill>
          <a:ln/>
        </p:spPr>
      </p:sp>
      <p:pic>
        <p:nvPicPr>
          <p:cNvPr id="20" name="Track icon" descr="preencoded.png">    </p:cNvPr>
          <p:cNvPicPr>
            <a:picLocks noChangeAspect="1"/>
          </p:cNvPicPr>
          <p:nvPr/>
        </p:nvPicPr>
        <p:blipFill>
          <a:blip r:embed="rId5"/>
          <a:stretch>
            <a:fillRect/>
          </a:stretch>
        </p:blipFill>
        <p:spPr>
          <a:xfrm>
            <a:off x="8686800" y="1828800"/>
            <a:ext cx="457200" cy="457200"/>
          </a:xfrm>
          <a:prstGeom prst="rect">
            <a:avLst/>
          </a:prstGeom>
        </p:spPr>
      </p:pic>
      <p:sp>
        <p:nvSpPr>
          <p:cNvPr id="21" name="Text 14"/>
          <p:cNvSpPr txBox="1"/>
          <p:nvPr/>
        </p:nvSpPr>
        <p:spPr>
          <a:xfrm>
            <a:off x="804672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5. Track</a:t>
            </a:r>
            <a:endParaRPr lang="en-US" sz="1800" dirty="0"/>
          </a:p>
        </p:txBody>
      </p:sp>
      <p:sp>
        <p:nvSpPr>
          <p:cNvPr id="22" name="Text 15"/>
          <p:cNvSpPr txBox="1"/>
          <p:nvPr/>
        </p:nvSpPr>
        <p:spPr>
          <a:xfrm>
            <a:off x="804672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Sends, replans, and hands you ready-made packs</a:t>
            </a:r>
            <a:endParaRPr lang="en-US" sz="1400" dirty="0"/>
          </a:p>
        </p:txBody>
      </p:sp>
      <p:sp>
        <p:nvSpPr>
          <p:cNvPr id="23" name="Local contacts circle"/>
          <p:cNvSpPr/>
          <p:nvPr/>
        </p:nvSpPr>
        <p:spPr>
          <a:xfrm>
            <a:off x="10332720" y="1600200"/>
            <a:ext cx="914400" cy="914400"/>
          </a:xfrm>
          <a:prstGeom prst="ellipse">
            <a:avLst/>
          </a:prstGeom>
          <a:solidFill>
            <a:schemeClr val="accent5"/>
          </a:solidFill>
          <a:ln/>
        </p:spPr>
      </p:sp>
      <p:pic>
        <p:nvPicPr>
          <p:cNvPr id="24" name="Local contacts icon" descr="preencoded.png">    </p:cNvPr>
          <p:cNvPicPr>
            <a:picLocks noChangeAspect="1"/>
          </p:cNvPicPr>
          <p:nvPr/>
        </p:nvPicPr>
        <p:blipFill>
          <a:blip r:embed="rId6"/>
          <a:stretch>
            <a:fillRect/>
          </a:stretch>
        </p:blipFill>
        <p:spPr>
          <a:xfrm>
            <a:off x="10561320" y="1828800"/>
            <a:ext cx="457200" cy="457200"/>
          </a:xfrm>
          <a:prstGeom prst="rect">
            <a:avLst/>
          </a:prstGeom>
        </p:spPr>
      </p:pic>
      <p:sp>
        <p:nvSpPr>
          <p:cNvPr id="25" name="Text 17"/>
          <p:cNvSpPr txBox="1"/>
          <p:nvPr/>
        </p:nvSpPr>
        <p:spPr>
          <a:xfrm>
            <a:off x="99212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6. Local contacts</a:t>
            </a:r>
            <a:endParaRPr lang="en-US" sz="1800" dirty="0"/>
          </a:p>
        </p:txBody>
      </p:sp>
      <p:sp>
        <p:nvSpPr>
          <p:cNvPr id="26" name="Text 18"/>
          <p:cNvSpPr txBox="1"/>
          <p:nvPr/>
        </p:nvSpPr>
        <p:spPr>
          <a:xfrm>
            <a:off x="99212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Nearby GPs, schools and water companies at the new home</a:t>
            </a:r>
            <a:endParaRPr lang="en-US" sz="1400" dirty="0"/>
          </a:p>
        </p:txBody>
      </p:sp>
      <p:sp>
        <p:nvSpPr>
          <p:cNvPr id="27" name="principle band"/>
          <p:cNvSpPr/>
          <p:nvPr/>
        </p:nvSpPr>
        <p:spPr>
          <a:xfrm>
            <a:off x="548640" y="5074920"/>
            <a:ext cx="11064240" cy="868680"/>
          </a:xfrm>
          <a:prstGeom prst="roundRect">
            <a:avLst>
              <a:gd name="adj" fmla="val 12632"/>
            </a:avLst>
          </a:prstGeom>
          <a:solidFill>
            <a:schemeClr val="bg2"/>
          </a:solidFill>
          <a:ln/>
        </p:spPr>
      </p:sp>
      <p:sp>
        <p:nvSpPr>
          <p:cNvPr id="28" name="Text 20"/>
          <p:cNvSpPr txBox="1"/>
          <p:nvPr/>
        </p:nvSpPr>
        <p:spPr>
          <a:xfrm>
            <a:off x="822960" y="5120640"/>
            <a:ext cx="10607040" cy="777240"/>
          </a:xfrm>
          <a:prstGeom prst="rect">
            <a:avLst/>
          </a:prstGeom>
          <a:noFill/>
          <a:ln/>
        </p:spPr>
        <p:txBody>
          <a:bodyPr wrap="square" lIns="0" tIns="0" rIns="0" bIns="0" rtlCol="0" anchor="ctr"/>
          <a:lstStyle/>
          <a:p>
            <a:pPr indent="0" marL="0">
              <a:buNone/>
            </a:pPr>
            <a:r>
              <a:rPr lang="en-US" sz="1800" b="1" dirty="0">
                <a:solidFill>
                  <a:schemeClr val="tx2"/>
                </a:solidFill>
              </a:rPr>
              <a:t>Principle: </a:t>
            </a:r>
            <a:pPr indent="0" marL="0">
              <a:buNone/>
            </a:pPr>
            <a:r>
              <a:rPr lang="en-US" sz="1800" dirty="0">
                <a:solidFill>
                  <a:schemeClr val="tx1"/>
                </a:solidFill>
              </a:rPr>
              <a:t>AI where judgement is needed; rules and code wherever a deadline, fee or legal duty is involved.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Two ways in: bank customer or standalone</a:t>
            </a:r>
            <a:endParaRPr lang="en-US" sz="3400" dirty="0"/>
          </a:p>
        </p:txBody>
      </p:sp>
      <p:sp>
        <p:nvSpPr>
          <p:cNvPr id="3" name="Bank customer card"/>
          <p:cNvSpPr/>
          <p:nvPr/>
        </p:nvSpPr>
        <p:spPr>
          <a:xfrm>
            <a:off x="548640" y="1463040"/>
            <a:ext cx="5394960" cy="4480560"/>
          </a:xfrm>
          <a:prstGeom prst="roundRect">
            <a:avLst>
              <a:gd name="adj" fmla="val 2449"/>
            </a:avLst>
          </a:prstGeom>
          <a:solidFill>
            <a:schemeClr val="bg2"/>
          </a:solidFill>
          <a:ln/>
        </p:spPr>
      </p:sp>
      <p:sp>
        <p:nvSpPr>
          <p:cNvPr id="4" name="Bank customer circle"/>
          <p:cNvSpPr/>
          <p:nvPr/>
        </p:nvSpPr>
        <p:spPr>
          <a:xfrm>
            <a:off x="868680" y="1737360"/>
            <a:ext cx="822960" cy="822960"/>
          </a:xfrm>
          <a:prstGeom prst="ellipse">
            <a:avLst/>
          </a:prstGeom>
          <a:solidFill>
            <a:schemeClr val="accent2"/>
          </a:solidFill>
          <a:ln/>
        </p:spPr>
      </p:sp>
      <p:pic>
        <p:nvPicPr>
          <p:cNvPr id="5" name="Bank customer icon"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187452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Bank customer</a:t>
            </a:r>
            <a:endParaRPr lang="en-US" sz="2400" dirty="0"/>
          </a:p>
        </p:txBody>
      </p:sp>
      <p:sp>
        <p:nvSpPr>
          <p:cNvPr id="7" name="Text 4"/>
          <p:cNvSpPr txBox="1"/>
          <p:nvPr/>
        </p:nvSpPr>
        <p:spPr>
          <a:xfrm>
            <a:off x="187452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Starts when the mortgage completion date is set</a:t>
            </a:r>
            <a:endParaRPr lang="en-US" sz="1500" dirty="0"/>
          </a:p>
        </p:txBody>
      </p:sp>
      <p:sp>
        <p:nvSpPr>
          <p:cNvPr id="8" name="Text 5"/>
          <p:cNvSpPr txBox="1"/>
          <p:nvPr/>
        </p:nvSpPr>
        <p:spPr>
          <a:xfrm>
            <a:off x="91440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Profile, 90 days of transactions and Direct Debit references from the bank</a:t>
            </a:r>
            <a:endParaRPr lang="en-US" sz="1700" dirty="0"/>
          </a:p>
          <a:p>
            <a:pPr marL="342900" indent="-342900">
              <a:spcAft>
                <a:spcPts val="1000"/>
              </a:spcAft>
              <a:buSzPct val="100000"/>
              <a:buChar char="•"/>
            </a:pPr>
            <a:r>
              <a:rPr lang="en-US" sz="1700" dirty="0">
                <a:solidFill>
                  <a:schemeClr val="tx1"/>
                </a:solidFill>
              </a:rPr>
              <a:t>Account and policy numbers filled in automatically</a:t>
            </a:r>
            <a:endParaRPr lang="en-US" sz="1700" dirty="0"/>
          </a:p>
          <a:p>
            <a:pPr marL="342900" indent="-342900">
              <a:spcAft>
                <a:spcPts val="1000"/>
              </a:spcAft>
              <a:buSzPct val="100000"/>
              <a:buChar char="•"/>
            </a:pPr>
            <a:r>
              <a:rPr lang="en-US" sz="1700" dirty="0">
                <a:solidFill>
                  <a:schemeClr val="tx1"/>
                </a:solidFill>
              </a:rPr>
              <a:t>The bank updates its own records directly</a:t>
            </a:r>
            <a:endParaRPr lang="en-US" sz="1700" dirty="0"/>
          </a:p>
        </p:txBody>
      </p:sp>
      <p:sp>
        <p:nvSpPr>
          <p:cNvPr id="9" name="Standalone card"/>
          <p:cNvSpPr/>
          <p:nvPr/>
        </p:nvSpPr>
        <p:spPr>
          <a:xfrm>
            <a:off x="6217920" y="1463040"/>
            <a:ext cx="5394960" cy="4480560"/>
          </a:xfrm>
          <a:prstGeom prst="roundRect">
            <a:avLst>
              <a:gd name="adj" fmla="val 2449"/>
            </a:avLst>
          </a:prstGeom>
          <a:solidFill>
            <a:schemeClr val="bg2"/>
          </a:solidFill>
          <a:ln/>
        </p:spPr>
      </p:sp>
      <p:sp>
        <p:nvSpPr>
          <p:cNvPr id="10" name="Standalone circle"/>
          <p:cNvSpPr/>
          <p:nvPr/>
        </p:nvSpPr>
        <p:spPr>
          <a:xfrm>
            <a:off x="6537960" y="1737360"/>
            <a:ext cx="822960" cy="822960"/>
          </a:xfrm>
          <a:prstGeom prst="ellipse">
            <a:avLst/>
          </a:prstGeom>
          <a:solidFill>
            <a:schemeClr val="accent1"/>
          </a:solidFill>
          <a:ln/>
        </p:spPr>
      </p:sp>
      <p:pic>
        <p:nvPicPr>
          <p:cNvPr id="11" name="Standalone icon" descr="preencoded.png">    </p:cNvPr>
          <p:cNvPicPr>
            <a:picLocks noChangeAspect="1"/>
          </p:cNvPicPr>
          <p:nvPr/>
        </p:nvPicPr>
        <p:blipFill>
          <a:blip r:embed="rId2"/>
          <a:stretch>
            <a:fillRect/>
          </a:stretch>
        </p:blipFill>
        <p:spPr>
          <a:xfrm>
            <a:off x="6743700" y="1943100"/>
            <a:ext cx="411480" cy="411480"/>
          </a:xfrm>
          <a:prstGeom prst="rect">
            <a:avLst/>
          </a:prstGeom>
        </p:spPr>
      </p:pic>
      <p:sp>
        <p:nvSpPr>
          <p:cNvPr id="12" name="Text 8"/>
          <p:cNvSpPr txBox="1"/>
          <p:nvPr/>
        </p:nvSpPr>
        <p:spPr>
          <a:xfrm>
            <a:off x="754380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Standalone</a:t>
            </a:r>
            <a:endParaRPr lang="en-US" sz="2400" dirty="0"/>
          </a:p>
        </p:txBody>
      </p:sp>
      <p:sp>
        <p:nvSpPr>
          <p:cNvPr id="13" name="Text 9"/>
          <p:cNvSpPr txBox="1"/>
          <p:nvPr/>
        </p:nvSpPr>
        <p:spPr>
          <a:xfrm>
            <a:off x="754380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Anyone moving, customer or not</a:t>
            </a:r>
            <a:endParaRPr lang="en-US" sz="1500" dirty="0"/>
          </a:p>
        </p:txBody>
      </p:sp>
      <p:sp>
        <p:nvSpPr>
          <p:cNvPr id="14" name="Text 10"/>
          <p:cNvSpPr txBox="1"/>
          <p:nvPr/>
        </p:nvSpPr>
        <p:spPr>
          <a:xfrm>
            <a:off x="658368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Short chat, plus a statement upload (CSV or OFX) or a list of providers</a:t>
            </a:r>
            <a:endParaRPr lang="en-US" sz="1700" dirty="0"/>
          </a:p>
          <a:p>
            <a:pPr marL="342900" indent="-342900">
              <a:spcAft>
                <a:spcPts val="1000"/>
              </a:spcAft>
              <a:buSzPct val="100000"/>
              <a:buChar char="•"/>
            </a:pPr>
            <a:r>
              <a:rPr lang="en-US" sz="1700" dirty="0">
                <a:solidFill>
                  <a:schemeClr val="tx1"/>
                </a:solidFill>
              </a:rPr>
              <a:t>Personal details from a secure form, encrypted in SQLite</a:t>
            </a:r>
            <a:endParaRPr lang="en-US" sz="1700" dirty="0"/>
          </a:p>
          <a:p>
            <a:pPr marL="342900" indent="-342900">
              <a:spcAft>
                <a:spcPts val="1000"/>
              </a:spcAft>
              <a:buSzPct val="100000"/>
              <a:buChar char="•"/>
            </a:pPr>
            <a:r>
              <a:rPr lang="en-US" sz="1700" dirty="0">
                <a:solidFill>
                  <a:schemeClr val="tx1"/>
                </a:solidFill>
              </a:rPr>
              <a:t>Come back with your case reference and a resume code; delete on request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1: finding who you pay, and what it implies</a:t>
            </a:r>
            <a:endParaRPr lang="en-US" sz="3400" dirty="0"/>
          </a:p>
        </p:txBody>
      </p:sp>
      <p:sp>
        <p:nvSpPr>
          <p:cNvPr id="3" name="Text 1"/>
          <p:cNvSpPr txBox="1"/>
          <p:nvPr/>
        </p:nvSpPr>
        <p:spPr>
          <a:xfrm>
            <a:off x="548640" y="1371600"/>
            <a:ext cx="4754880" cy="411480"/>
          </a:xfrm>
          <a:prstGeom prst="rect">
            <a:avLst/>
          </a:prstGeom>
          <a:noFill/>
          <a:ln/>
        </p:spPr>
        <p:txBody>
          <a:bodyPr wrap="square" lIns="0" tIns="0" rIns="0" bIns="0" rtlCol="0" anchor="ctr"/>
          <a:lstStyle/>
          <a:p>
            <a:pPr indent="0" marL="0">
              <a:buNone/>
            </a:pPr>
            <a:r>
              <a:rPr lang="en-US" sz="1800" b="1" dirty="0">
                <a:solidFill>
                  <a:schemeClr val="accent6"/>
                </a:solidFill>
              </a:rPr>
              <a:t>Bank transactions</a:t>
            </a:r>
            <a:endParaRPr lang="en-US" sz="1800" dirty="0"/>
          </a:p>
        </p:txBody>
      </p:sp>
      <p:sp>
        <p:nvSpPr>
          <p:cNvPr id="4" name="Text 2"/>
          <p:cNvSpPr txBox="1"/>
          <p:nvPr/>
        </p:nvSpPr>
        <p:spPr>
          <a:xfrm>
            <a:off x="6492240" y="1371600"/>
            <a:ext cx="5120640" cy="411480"/>
          </a:xfrm>
          <a:prstGeom prst="rect">
            <a:avLst/>
          </a:prstGeom>
          <a:noFill/>
          <a:ln/>
        </p:spPr>
        <p:txBody>
          <a:bodyPr wrap="square" lIns="0" tIns="0" rIns="0" bIns="0" rtlCol="0" anchor="ctr"/>
          <a:lstStyle/>
          <a:p>
            <a:pPr indent="0" marL="0">
              <a:buNone/>
            </a:pPr>
            <a:r>
              <a:rPr lang="en-US" sz="1800" b="1" dirty="0">
                <a:solidFill>
                  <a:schemeClr val="accent6"/>
                </a:solidFill>
              </a:rPr>
              <a:t>What the agents found</a:t>
            </a:r>
            <a:endParaRPr lang="en-US" sz="1800" dirty="0"/>
          </a:p>
        </p:txBody>
      </p:sp>
      <p:sp>
        <p:nvSpPr>
          <p:cNvPr id="5" name="raw 1"/>
          <p:cNvSpPr/>
          <p:nvPr/>
        </p:nvSpPr>
        <p:spPr>
          <a:xfrm>
            <a:off x="548640" y="1874520"/>
            <a:ext cx="4754880" cy="603504"/>
          </a:xfrm>
          <a:prstGeom prst="roundRect">
            <a:avLst>
              <a:gd name="adj" fmla="val 18182"/>
            </a:avLst>
          </a:prstGeom>
          <a:solidFill>
            <a:schemeClr val="bg2"/>
          </a:solidFill>
          <a:ln/>
        </p:spPr>
      </p:sp>
      <p:sp>
        <p:nvSpPr>
          <p:cNvPr id="6" name="Text 4"/>
          <p:cNvSpPr txBox="1"/>
          <p:nvPr/>
        </p:nvSpPr>
        <p:spPr>
          <a:xfrm>
            <a:off x="731520" y="1874520"/>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BRIGHTWATT EN DD 0034X1274</a:t>
            </a:r>
            <a:endParaRPr lang="en-US" sz="1500" dirty="0"/>
          </a:p>
        </p:txBody>
      </p:sp>
      <p:sp>
        <p:nvSpPr>
          <p:cNvPr id="7" name="found 1"/>
          <p:cNvSpPr/>
          <p:nvPr/>
        </p:nvSpPr>
        <p:spPr>
          <a:xfrm>
            <a:off x="6492240" y="1874520"/>
            <a:ext cx="5120640" cy="603504"/>
          </a:xfrm>
          <a:prstGeom prst="roundRect">
            <a:avLst>
              <a:gd name="adj" fmla="val 18182"/>
            </a:avLst>
          </a:prstGeom>
          <a:solidFill>
            <a:schemeClr val="bg2"/>
          </a:solidFill>
          <a:ln/>
        </p:spPr>
      </p:sp>
      <p:sp>
        <p:nvSpPr>
          <p:cNvPr id="8" name="Text 6"/>
          <p:cNvSpPr txBox="1"/>
          <p:nvPr/>
        </p:nvSpPr>
        <p:spPr>
          <a:xfrm>
            <a:off x="6675120" y="1874520"/>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Brightwatt Energy</a:t>
            </a:r>
            <a:pPr indent="0" marL="0">
              <a:buNone/>
            </a:pPr>
            <a:r>
              <a:rPr lang="en-US" sz="1500" dirty="0">
                <a:solidFill>
                  <a:schemeClr val="tx1"/>
                </a:solidFill>
              </a:rPr>
              <a:t>  ·  energy supplier</a:t>
            </a:r>
            <a:endParaRPr lang="en-US" sz="1500" dirty="0"/>
          </a:p>
        </p:txBody>
      </p:sp>
      <p:sp>
        <p:nvSpPr>
          <p:cNvPr id="9" name="raw 2"/>
          <p:cNvSpPr/>
          <p:nvPr/>
        </p:nvSpPr>
        <p:spPr>
          <a:xfrm>
            <a:off x="548640" y="2624328"/>
            <a:ext cx="4754880" cy="603504"/>
          </a:xfrm>
          <a:prstGeom prst="roundRect">
            <a:avLst>
              <a:gd name="adj" fmla="val 18182"/>
            </a:avLst>
          </a:prstGeom>
          <a:solidFill>
            <a:schemeClr val="bg2"/>
          </a:solidFill>
          <a:ln/>
        </p:spPr>
      </p:sp>
      <p:sp>
        <p:nvSpPr>
          <p:cNvPr id="10" name="Text 8"/>
          <p:cNvSpPr txBox="1"/>
          <p:nvPr/>
        </p:nvSpPr>
        <p:spPr>
          <a:xfrm>
            <a:off x="731520" y="2624328"/>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NVW WATER SVCS 1074205</a:t>
            </a:r>
            <a:endParaRPr lang="en-US" sz="1500" dirty="0"/>
          </a:p>
        </p:txBody>
      </p:sp>
      <p:sp>
        <p:nvSpPr>
          <p:cNvPr id="11" name="found 2"/>
          <p:cNvSpPr/>
          <p:nvPr/>
        </p:nvSpPr>
        <p:spPr>
          <a:xfrm>
            <a:off x="6492240" y="2624328"/>
            <a:ext cx="5120640" cy="603504"/>
          </a:xfrm>
          <a:prstGeom prst="roundRect">
            <a:avLst>
              <a:gd name="adj" fmla="val 18182"/>
            </a:avLst>
          </a:prstGeom>
          <a:solidFill>
            <a:schemeClr val="bg2"/>
          </a:solidFill>
          <a:ln/>
        </p:spPr>
      </p:sp>
      <p:sp>
        <p:nvSpPr>
          <p:cNvPr id="12" name="Text 10"/>
          <p:cNvSpPr txBox="1"/>
          <p:nvPr/>
        </p:nvSpPr>
        <p:spPr>
          <a:xfrm>
            <a:off x="6675120" y="2624328"/>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NVW Water Services</a:t>
            </a:r>
            <a:pPr indent="0" marL="0">
              <a:buNone/>
            </a:pPr>
            <a:r>
              <a:rPr lang="en-US" sz="1500" dirty="0">
                <a:solidFill>
                  <a:schemeClr val="tx1"/>
                </a:solidFill>
              </a:rPr>
              <a:t>  ·  water company</a:t>
            </a:r>
            <a:endParaRPr lang="en-US" sz="1500" dirty="0"/>
          </a:p>
        </p:txBody>
      </p:sp>
      <p:sp>
        <p:nvSpPr>
          <p:cNvPr id="13" name="raw 3"/>
          <p:cNvSpPr/>
          <p:nvPr/>
        </p:nvSpPr>
        <p:spPr>
          <a:xfrm>
            <a:off x="548640" y="3374136"/>
            <a:ext cx="4754880" cy="603504"/>
          </a:xfrm>
          <a:prstGeom prst="roundRect">
            <a:avLst>
              <a:gd name="adj" fmla="val 18182"/>
            </a:avLst>
          </a:prstGeom>
          <a:solidFill>
            <a:schemeClr val="bg2"/>
          </a:solidFill>
          <a:ln/>
        </p:spPr>
      </p:sp>
      <p:sp>
        <p:nvSpPr>
          <p:cNvPr id="14" name="Text 12"/>
          <p:cNvSpPr txBox="1"/>
          <p:nvPr/>
        </p:nvSpPr>
        <p:spPr>
          <a:xfrm>
            <a:off x="731520" y="3374136"/>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DVLA-VEH TAX 2274101</a:t>
            </a:r>
            <a:endParaRPr lang="en-US" sz="1500" dirty="0"/>
          </a:p>
        </p:txBody>
      </p:sp>
      <p:sp>
        <p:nvSpPr>
          <p:cNvPr id="15" name="found 3"/>
          <p:cNvSpPr/>
          <p:nvPr/>
        </p:nvSpPr>
        <p:spPr>
          <a:xfrm>
            <a:off x="6492240" y="3374136"/>
            <a:ext cx="5120640" cy="603504"/>
          </a:xfrm>
          <a:prstGeom prst="roundRect">
            <a:avLst>
              <a:gd name="adj" fmla="val 18182"/>
            </a:avLst>
          </a:prstGeom>
          <a:solidFill>
            <a:schemeClr val="accent4"/>
          </a:solidFill>
          <a:ln/>
        </p:spPr>
      </p:sp>
      <p:sp>
        <p:nvSpPr>
          <p:cNvPr id="16" name="Text 14"/>
          <p:cNvSpPr txBox="1"/>
          <p:nvPr/>
        </p:nvSpPr>
        <p:spPr>
          <a:xfrm>
            <a:off x="6675120" y="3374136"/>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DVLA vehicle tax</a:t>
            </a:r>
            <a:pPr indent="0" marL="0">
              <a:buNone/>
            </a:pPr>
            <a:r>
              <a:rPr lang="en-US" sz="1500" dirty="0">
                <a:solidFill>
                  <a:schemeClr val="tx1"/>
                </a:solidFill>
              </a:rPr>
              <a:t>  ·  has a car: log book and licence</a:t>
            </a:r>
            <a:endParaRPr lang="en-US" sz="1500" dirty="0"/>
          </a:p>
        </p:txBody>
      </p:sp>
      <p:sp>
        <p:nvSpPr>
          <p:cNvPr id="17" name="raw 4"/>
          <p:cNvSpPr/>
          <p:nvPr/>
        </p:nvSpPr>
        <p:spPr>
          <a:xfrm>
            <a:off x="548640" y="4123944"/>
            <a:ext cx="4754880" cy="603504"/>
          </a:xfrm>
          <a:prstGeom prst="roundRect">
            <a:avLst>
              <a:gd name="adj" fmla="val 18182"/>
            </a:avLst>
          </a:prstGeom>
          <a:solidFill>
            <a:schemeClr val="bg2"/>
          </a:solidFill>
          <a:ln/>
        </p:spPr>
      </p:sp>
      <p:sp>
        <p:nvSpPr>
          <p:cNvPr id="18" name="Text 16"/>
          <p:cNvSpPr txBox="1"/>
          <p:nvPr/>
        </p:nvSpPr>
        <p:spPr>
          <a:xfrm>
            <a:off x="731520" y="4123944"/>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PAWSURE LTD 4110415 PETPOL</a:t>
            </a:r>
            <a:endParaRPr lang="en-US" sz="1500" dirty="0"/>
          </a:p>
        </p:txBody>
      </p:sp>
      <p:sp>
        <p:nvSpPr>
          <p:cNvPr id="19" name="found 4"/>
          <p:cNvSpPr/>
          <p:nvPr/>
        </p:nvSpPr>
        <p:spPr>
          <a:xfrm>
            <a:off x="6492240" y="4123944"/>
            <a:ext cx="5120640" cy="603504"/>
          </a:xfrm>
          <a:prstGeom prst="roundRect">
            <a:avLst>
              <a:gd name="adj" fmla="val 18182"/>
            </a:avLst>
          </a:prstGeom>
          <a:solidFill>
            <a:schemeClr val="accent4"/>
          </a:solidFill>
          <a:ln/>
        </p:spPr>
      </p:sp>
      <p:sp>
        <p:nvSpPr>
          <p:cNvPr id="20" name="Text 18"/>
          <p:cNvSpPr txBox="1"/>
          <p:nvPr/>
        </p:nvSpPr>
        <p:spPr>
          <a:xfrm>
            <a:off x="6675120" y="4123944"/>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Pawsure pet insurance</a:t>
            </a:r>
            <a:pPr indent="0" marL="0">
              <a:buNone/>
            </a:pPr>
            <a:r>
              <a:rPr lang="en-US" sz="1500" dirty="0">
                <a:solidFill>
                  <a:schemeClr val="tx1"/>
                </a:solidFill>
              </a:rPr>
              <a:t>  ·  has a pet: update the microchip</a:t>
            </a:r>
            <a:endParaRPr lang="en-US" sz="1500" dirty="0"/>
          </a:p>
        </p:txBody>
      </p:sp>
      <p:sp>
        <p:nvSpPr>
          <p:cNvPr id="21" name="raw 5"/>
          <p:cNvSpPr/>
          <p:nvPr/>
        </p:nvSpPr>
        <p:spPr>
          <a:xfrm>
            <a:off x="548640" y="4873752"/>
            <a:ext cx="4754880" cy="603504"/>
          </a:xfrm>
          <a:prstGeom prst="roundRect">
            <a:avLst>
              <a:gd name="adj" fmla="val 18182"/>
            </a:avLst>
          </a:prstGeom>
          <a:solidFill>
            <a:schemeClr val="bg2"/>
          </a:solidFill>
          <a:ln/>
        </p:spPr>
      </p:sp>
      <p:sp>
        <p:nvSpPr>
          <p:cNvPr id="22" name="Text 20"/>
          <p:cNvSpPr txBox="1"/>
          <p:nvPr/>
        </p:nvSpPr>
        <p:spPr>
          <a:xfrm>
            <a:off x="731520" y="4873752"/>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LITTLE ACORNS NURSERY SO</a:t>
            </a:r>
            <a:endParaRPr lang="en-US" sz="1500" dirty="0"/>
          </a:p>
        </p:txBody>
      </p:sp>
      <p:sp>
        <p:nvSpPr>
          <p:cNvPr id="23" name="found 5"/>
          <p:cNvSpPr/>
          <p:nvPr/>
        </p:nvSpPr>
        <p:spPr>
          <a:xfrm>
            <a:off x="6492240" y="4873752"/>
            <a:ext cx="5120640" cy="603504"/>
          </a:xfrm>
          <a:prstGeom prst="roundRect">
            <a:avLst>
              <a:gd name="adj" fmla="val 18182"/>
            </a:avLst>
          </a:prstGeom>
          <a:solidFill>
            <a:schemeClr val="accent4"/>
          </a:solidFill>
          <a:ln/>
        </p:spPr>
      </p:sp>
      <p:sp>
        <p:nvSpPr>
          <p:cNvPr id="24" name="Text 22"/>
          <p:cNvSpPr txBox="1"/>
          <p:nvPr/>
        </p:nvSpPr>
        <p:spPr>
          <a:xfrm>
            <a:off x="6675120" y="4873752"/>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Little Acorns Nursery</a:t>
            </a:r>
            <a:pPr indent="0" marL="0">
              <a:buNone/>
            </a:pPr>
            <a:r>
              <a:rPr lang="en-US" sz="1500" dirty="0">
                <a:solidFill>
                  <a:schemeClr val="tx1"/>
                </a:solidFill>
              </a:rPr>
              <a:t>  ·  young child: give notice</a:t>
            </a:r>
            <a:endParaRPr lang="en-US" sz="1500" dirty="0"/>
          </a:p>
        </p:txBody>
      </p:sp>
      <p:sp>
        <p:nvSpPr>
          <p:cNvPr id="25" name="arrow"/>
          <p:cNvSpPr/>
          <p:nvPr/>
        </p:nvSpPr>
        <p:spPr>
          <a:xfrm>
            <a:off x="5532120" y="3154680"/>
            <a:ext cx="731520" cy="548640"/>
          </a:xfrm>
          <a:prstGeom prst="rightArrow">
            <a:avLst/>
          </a:prstGeom>
          <a:solidFill>
            <a:schemeClr val="accent1"/>
          </a:solidFill>
          <a:ln/>
        </p:spPr>
      </p:sp>
      <p:sp>
        <p:nvSpPr>
          <p:cNvPr id="26" name="Text 24"/>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Demo customer: 14 organisations found, including the forgotten pet insurance and a credit card. Anything below 70% confidence is asked, not assumed.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2: when completion slips, the plan fixes itself</a:t>
            </a:r>
            <a:endParaRPr lang="en-US" sz="3400" dirty="0"/>
          </a:p>
        </p:txBody>
      </p:sp>
      <p:sp>
        <p:nvSpPr>
          <p:cNvPr id="3" name="date card"/>
          <p:cNvSpPr/>
          <p:nvPr/>
        </p:nvSpPr>
        <p:spPr>
          <a:xfrm>
            <a:off x="548640" y="1463040"/>
            <a:ext cx="4023360" cy="4206240"/>
          </a:xfrm>
          <a:prstGeom prst="roundRect">
            <a:avLst>
              <a:gd name="adj" fmla="val 2727"/>
            </a:avLst>
          </a:prstGeom>
          <a:solidFill>
            <a:schemeClr val="tx2"/>
          </a:solidFill>
          <a:ln/>
        </p:spPr>
      </p:sp>
      <p:sp>
        <p:nvSpPr>
          <p:cNvPr id="4" name="Text 2"/>
          <p:cNvSpPr txBox="1"/>
          <p:nvPr/>
        </p:nvSpPr>
        <p:spPr>
          <a:xfrm>
            <a:off x="822960" y="1691640"/>
            <a:ext cx="3474720" cy="411480"/>
          </a:xfrm>
          <a:prstGeom prst="rect">
            <a:avLst/>
          </a:prstGeom>
          <a:noFill/>
          <a:ln/>
        </p:spPr>
        <p:txBody>
          <a:bodyPr wrap="square" lIns="0" tIns="0" rIns="0" bIns="0" rtlCol="0" anchor="ctr"/>
          <a:lstStyle/>
          <a:p>
            <a:pPr indent="0" marL="0">
              <a:buNone/>
            </a:pPr>
            <a:r>
              <a:rPr lang="en-US" sz="1800" dirty="0">
                <a:solidFill>
                  <a:schemeClr val="accent4"/>
                </a:solidFill>
              </a:rPr>
              <a:t>Completion moved</a:t>
            </a:r>
            <a:endParaRPr lang="en-US" sz="1800" dirty="0"/>
          </a:p>
        </p:txBody>
      </p:sp>
      <p:sp>
        <p:nvSpPr>
          <p:cNvPr id="5" name="Text 3"/>
          <p:cNvSpPr txBox="1"/>
          <p:nvPr/>
        </p:nvSpPr>
        <p:spPr>
          <a:xfrm>
            <a:off x="822960" y="2194560"/>
            <a:ext cx="3474720" cy="822960"/>
          </a:xfrm>
          <a:prstGeom prst="rect">
            <a:avLst/>
          </a:prstGeom>
          <a:noFill/>
          <a:ln/>
        </p:spPr>
        <p:txBody>
          <a:bodyPr wrap="square" lIns="0" tIns="0" rIns="0" bIns="0" rtlCol="0" anchor="ctr"/>
          <a:lstStyle/>
          <a:p>
            <a:pPr indent="0" marL="0">
              <a:buNone/>
            </a:pPr>
            <a:r>
              <a:rPr lang="en-US" sz="4400" b="1" strike="sngStrike" dirty="0">
                <a:solidFill>
                  <a:schemeClr val="bg2"/>
                </a:solidFill>
                <a:latin typeface="Cambria" pitchFamily="34" charset="0"/>
                <a:ea typeface="Cambria" pitchFamily="34" charset="-122"/>
                <a:cs typeface="Cambria" pitchFamily="34" charset="-120"/>
              </a:rPr>
              <a:t>27 Nov</a:t>
            </a:r>
            <a:endParaRPr lang="en-US" sz="4400" dirty="0"/>
          </a:p>
        </p:txBody>
      </p:sp>
      <p:sp>
        <p:nvSpPr>
          <p:cNvPr id="6" name="Text 4"/>
          <p:cNvSpPr txBox="1"/>
          <p:nvPr/>
        </p:nvSpPr>
        <p:spPr>
          <a:xfrm>
            <a:off x="822960" y="3017520"/>
            <a:ext cx="3474720" cy="822960"/>
          </a:xfrm>
          <a:prstGeom prst="rect">
            <a:avLst/>
          </a:prstGeom>
          <a:noFill/>
          <a:ln/>
        </p:spPr>
        <p:txBody>
          <a:bodyPr wrap="square" lIns="0" tIns="0" rIns="0" bIns="0" rtlCol="0" anchor="ctr"/>
          <a:lstStyle/>
          <a:p>
            <a:pPr indent="0" marL="0">
              <a:buNone/>
            </a:pPr>
            <a:r>
              <a:rPr lang="en-US" sz="5400" b="1" dirty="0">
                <a:solidFill>
                  <a:schemeClr val="accent4"/>
                </a:solidFill>
                <a:latin typeface="Cambria" pitchFamily="34" charset="0"/>
                <a:ea typeface="Cambria" pitchFamily="34" charset="-122"/>
                <a:cs typeface="Cambria" pitchFamily="34" charset="-120"/>
              </a:rPr>
              <a:t>11 Dec</a:t>
            </a:r>
            <a:endParaRPr lang="en-US" sz="5400" dirty="0"/>
          </a:p>
        </p:txBody>
      </p:sp>
      <p:sp>
        <p:nvSpPr>
          <p:cNvPr id="7" name="Text 5"/>
          <p:cNvSpPr txBox="1"/>
          <p:nvPr/>
        </p:nvSpPr>
        <p:spPr>
          <a:xfrm>
            <a:off x="822960" y="4114800"/>
            <a:ext cx="3474720" cy="1280160"/>
          </a:xfrm>
          <a:prstGeom prst="rect">
            <a:avLst/>
          </a:prstGeom>
          <a:noFill/>
          <a:ln/>
        </p:spPr>
        <p:txBody>
          <a:bodyPr wrap="square" lIns="0" tIns="0" rIns="0" bIns="0" rtlCol="0" anchor="t"/>
          <a:lstStyle/>
          <a:p>
            <a:pPr indent="0" marL="0">
              <a:buNone/>
            </a:pPr>
            <a:r>
              <a:rPr lang="en-US" sz="1600" dirty="0">
                <a:solidFill>
                  <a:schemeClr val="bg1"/>
                </a:solidFill>
              </a:rPr>
              <a:t>Dates come from code. The agent never works them out itself.</a:t>
            </a:r>
            <a:endParaRPr lang="en-US" sz="1600" dirty="0"/>
          </a:p>
        </p:txBody>
      </p:sp>
      <p:graphicFrame>
        <p:nvGraphicFramePr>
          <p:cNvPr id="8" name="Chart 0" descr=""/>
          <p:cNvGraphicFramePr/>
          <p:nvPr/>
        </p:nvGraphicFramePr>
        <p:xfrm>
          <a:off x="4937760" y="1371600"/>
          <a:ext cx="6675120" cy="4389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Then: correction drafts for approval, and a provider reply ("please confirm your meter serial") handled automatically.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only where it adds value</a:t>
            </a:r>
            <a:endParaRPr lang="en-US" sz="3400" dirty="0"/>
          </a:p>
        </p:txBody>
      </p:sp>
      <p:sp>
        <p:nvSpPr>
          <p:cNvPr id="3" name="Rules and code card"/>
          <p:cNvSpPr/>
          <p:nvPr/>
        </p:nvSpPr>
        <p:spPr>
          <a:xfrm>
            <a:off x="548640" y="1417320"/>
            <a:ext cx="5394960" cy="3886200"/>
          </a:xfrm>
          <a:prstGeom prst="roundRect">
            <a:avLst>
              <a:gd name="adj" fmla="val 2824"/>
            </a:avLst>
          </a:prstGeom>
          <a:solidFill>
            <a:schemeClr val="bg2"/>
          </a:solidFill>
          <a:ln/>
        </p:spPr>
      </p:sp>
      <p:sp>
        <p:nvSpPr>
          <p:cNvPr id="4" name="Rules and code circle"/>
          <p:cNvSpPr/>
          <p:nvPr/>
        </p:nvSpPr>
        <p:spPr>
          <a:xfrm>
            <a:off x="822960" y="1645920"/>
            <a:ext cx="731520" cy="731520"/>
          </a:xfrm>
          <a:prstGeom prst="ellipse">
            <a:avLst/>
          </a:prstGeom>
          <a:solidFill>
            <a:schemeClr val="accent5"/>
          </a:solidFill>
          <a:ln/>
        </p:spPr>
      </p:sp>
      <p:pic>
        <p:nvPicPr>
          <p:cNvPr id="5" name="Rules and code icon" descr="preencoded.png">    </p:cNvPr>
          <p:cNvPicPr>
            <a:picLocks noChangeAspect="1"/>
          </p:cNvPicPr>
          <p:nvPr/>
        </p:nvPicPr>
        <p:blipFill>
          <a:blip r:embed="rId1"/>
          <a:stretch>
            <a:fillRect/>
          </a:stretch>
        </p:blipFill>
        <p:spPr>
          <a:xfrm>
            <a:off x="1005840" y="1828800"/>
            <a:ext cx="365760" cy="365760"/>
          </a:xfrm>
          <a:prstGeom prst="rect">
            <a:avLst/>
          </a:prstGeom>
        </p:spPr>
      </p:pic>
      <p:sp>
        <p:nvSpPr>
          <p:cNvPr id="6" name="Text 3"/>
          <p:cNvSpPr txBox="1"/>
          <p:nvPr/>
        </p:nvSpPr>
        <p:spPr>
          <a:xfrm>
            <a:off x="173736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Rules and code</a:t>
            </a:r>
            <a:endParaRPr lang="en-US" sz="2400" dirty="0"/>
          </a:p>
        </p:txBody>
      </p:sp>
      <p:sp>
        <p:nvSpPr>
          <p:cNvPr id="7" name="Text 4"/>
          <p:cNvSpPr txBox="1"/>
          <p:nvPr/>
        </p:nvSpPr>
        <p:spPr>
          <a:xfrm>
            <a:off x="86868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Which obligations apply (25 rules, each with a source)</a:t>
            </a:r>
            <a:endParaRPr lang="en-US" sz="1600" dirty="0"/>
          </a:p>
          <a:p>
            <a:pPr marL="342900" indent="-342900">
              <a:spcAft>
                <a:spcPts val="600"/>
              </a:spcAft>
              <a:buSzPct val="100000"/>
              <a:buChar char="•"/>
            </a:pPr>
            <a:r>
              <a:rPr lang="en-US" sz="1600" dirty="0">
                <a:solidFill>
                  <a:schemeClr val="tx1"/>
                </a:solidFill>
              </a:rPr>
              <a:t>Deadlines in working days, per nation</a:t>
            </a:r>
            <a:endParaRPr lang="en-US" sz="1600" dirty="0"/>
          </a:p>
          <a:p>
            <a:pPr marL="342900" indent="-342900">
              <a:spcAft>
                <a:spcPts val="600"/>
              </a:spcAft>
              <a:buSzPct val="100000"/>
              <a:buChar char="•"/>
            </a:pPr>
            <a:r>
              <a:rPr lang="en-US" sz="1600" dirty="0">
                <a:solidFill>
                  <a:schemeClr val="tx1"/>
                </a:solidFill>
              </a:rPr>
              <a:t>Legal flags and penalties</a:t>
            </a:r>
            <a:endParaRPr lang="en-US" sz="1600" dirty="0"/>
          </a:p>
          <a:p>
            <a:pPr marL="342900" indent="-342900">
              <a:spcAft>
                <a:spcPts val="600"/>
              </a:spcAft>
              <a:buSzPct val="100000"/>
              <a:buChar char="•"/>
            </a:pPr>
            <a:r>
              <a:rPr lang="en-US" sz="1600" dirty="0">
                <a:solidFill>
                  <a:schemeClr val="tx1"/>
                </a:solidFill>
              </a:rPr>
              <a:t>The approval gate</a:t>
            </a:r>
            <a:endParaRPr lang="en-US" sz="1600" dirty="0"/>
          </a:p>
          <a:p>
            <a:pPr marL="342900" indent="-342900">
              <a:spcAft>
                <a:spcPts val="600"/>
              </a:spcAft>
              <a:buSzPct val="100000"/>
              <a:buChar char="•"/>
            </a:pPr>
            <a:r>
              <a:rPr lang="en-US" sz="1600" dirty="0">
                <a:solidFill>
                  <a:schemeClr val="tx1"/>
                </a:solidFill>
              </a:rPr>
              <a:t>What a date change means for each task</a:t>
            </a:r>
            <a:endParaRPr lang="en-US" sz="1600" dirty="0"/>
          </a:p>
          <a:p>
            <a:pPr marL="342900" indent="-342900">
              <a:spcAft>
                <a:spcPts val="600"/>
              </a:spcAft>
              <a:buSzPct val="100000"/>
              <a:buChar char="•"/>
            </a:pPr>
            <a:r>
              <a:rPr lang="en-US" sz="1600" dirty="0">
                <a:solidFill>
                  <a:schemeClr val="tx1"/>
                </a:solidFill>
              </a:rPr>
              <a:t>Audit log, encryption, statement parsing</a:t>
            </a:r>
            <a:endParaRPr lang="en-US" sz="1600" dirty="0"/>
          </a:p>
        </p:txBody>
      </p:sp>
      <p:sp>
        <p:nvSpPr>
          <p:cNvPr id="8" name="LLM agents card"/>
          <p:cNvSpPr/>
          <p:nvPr/>
        </p:nvSpPr>
        <p:spPr>
          <a:xfrm>
            <a:off x="6217920" y="1417320"/>
            <a:ext cx="5394960" cy="3886200"/>
          </a:xfrm>
          <a:prstGeom prst="roundRect">
            <a:avLst>
              <a:gd name="adj" fmla="val 2824"/>
            </a:avLst>
          </a:prstGeom>
          <a:solidFill>
            <a:schemeClr val="bg2"/>
          </a:solidFill>
          <a:ln/>
        </p:spPr>
      </p:sp>
      <p:sp>
        <p:nvSpPr>
          <p:cNvPr id="9" name="LLM agents circle"/>
          <p:cNvSpPr/>
          <p:nvPr/>
        </p:nvSpPr>
        <p:spPr>
          <a:xfrm>
            <a:off x="6492240" y="1645920"/>
            <a:ext cx="731520" cy="731520"/>
          </a:xfrm>
          <a:prstGeom prst="ellipse">
            <a:avLst/>
          </a:prstGeom>
          <a:solidFill>
            <a:schemeClr val="accent2"/>
          </a:solidFill>
          <a:ln/>
        </p:spPr>
      </p:sp>
      <p:pic>
        <p:nvPicPr>
          <p:cNvPr id="10" name="LLM agents icon" descr="preencoded.png">    </p:cNvPr>
          <p:cNvPicPr>
            <a:picLocks noChangeAspect="1"/>
          </p:cNvPicPr>
          <p:nvPr/>
        </p:nvPicPr>
        <p:blipFill>
          <a:blip r:embed="rId2"/>
          <a:stretch>
            <a:fillRect/>
          </a:stretch>
        </p:blipFill>
        <p:spPr>
          <a:xfrm>
            <a:off x="6675120" y="1828800"/>
            <a:ext cx="365760" cy="365760"/>
          </a:xfrm>
          <a:prstGeom prst="rect">
            <a:avLst/>
          </a:prstGeom>
        </p:spPr>
      </p:pic>
      <p:sp>
        <p:nvSpPr>
          <p:cNvPr id="11" name="Text 7"/>
          <p:cNvSpPr txBox="1"/>
          <p:nvPr/>
        </p:nvSpPr>
        <p:spPr>
          <a:xfrm>
            <a:off x="740664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LLM agents</a:t>
            </a:r>
            <a:endParaRPr lang="en-US" sz="2400" dirty="0"/>
          </a:p>
        </p:txBody>
      </p:sp>
      <p:sp>
        <p:nvSpPr>
          <p:cNvPr id="12" name="Text 8"/>
          <p:cNvSpPr txBox="1"/>
          <p:nvPr/>
        </p:nvSpPr>
        <p:spPr>
          <a:xfrm>
            <a:off x="653796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Messy descriptors into providers and life facts</a:t>
            </a:r>
            <a:endParaRPr lang="en-US" sz="1600" dirty="0"/>
          </a:p>
          <a:p>
            <a:pPr marL="342900" indent="-342900">
              <a:spcAft>
                <a:spcPts val="600"/>
              </a:spcAft>
              <a:buSzPct val="100000"/>
              <a:buChar char="•"/>
            </a:pPr>
            <a:r>
              <a:rPr lang="en-US" sz="1600" dirty="0">
                <a:solidFill>
                  <a:schemeClr val="tx1"/>
                </a:solidFill>
              </a:rPr>
              <a:t>Free-text answers into structured facts</a:t>
            </a:r>
            <a:endParaRPr lang="en-US" sz="1600" dirty="0"/>
          </a:p>
          <a:p>
            <a:pPr marL="342900" indent="-342900">
              <a:spcAft>
                <a:spcPts val="600"/>
              </a:spcAft>
              <a:buSzPct val="100000"/>
              <a:buChar char="•"/>
            </a:pPr>
            <a:r>
              <a:rPr lang="en-US" sz="1600" dirty="0">
                <a:solidFill>
                  <a:schemeClr val="tx1"/>
                </a:solidFill>
              </a:rPr>
              <a:t>Edge cases (letting the old home, joint owners)</a:t>
            </a:r>
            <a:endParaRPr lang="en-US" sz="1600" dirty="0"/>
          </a:p>
          <a:p>
            <a:pPr marL="342900" indent="-342900">
              <a:spcAft>
                <a:spcPts val="600"/>
              </a:spcAft>
              <a:buSzPct val="100000"/>
              <a:buChar char="•"/>
            </a:pPr>
            <a:r>
              <a:rPr lang="en-US" sz="1600" dirty="0">
                <a:solidFill>
                  <a:schemeClr val="tx1"/>
                </a:solidFill>
              </a:rPr>
              <a:t>A personal draft for each organisation</a:t>
            </a:r>
            <a:endParaRPr lang="en-US" sz="1600" dirty="0"/>
          </a:p>
          <a:p>
            <a:pPr marL="342900" indent="-342900">
              <a:spcAft>
                <a:spcPts val="600"/>
              </a:spcAft>
              <a:buSzPct val="100000"/>
              <a:buChar char="•"/>
            </a:pPr>
            <a:r>
              <a:rPr lang="en-US" sz="1600" dirty="0">
                <a:solidFill>
                  <a:schemeClr val="tx1"/>
                </a:solidFill>
              </a:rPr>
              <a:t>Reading provider replies</a:t>
            </a:r>
            <a:endParaRPr lang="en-US" sz="1600" dirty="0"/>
          </a:p>
          <a:p>
            <a:pPr marL="342900" indent="-342900">
              <a:spcAft>
                <a:spcPts val="600"/>
              </a:spcAft>
              <a:buSzPct val="100000"/>
              <a:buChar char="•"/>
            </a:pPr>
            <a:r>
              <a:rPr lang="en-US" sz="1600" dirty="0">
                <a:solidFill>
                  <a:schemeClr val="tx1"/>
                </a:solidFill>
              </a:rPr>
              <a:t>Explaining the plan in plain English</a:t>
            </a:r>
            <a:endParaRPr lang="en-US" sz="1600" dirty="0"/>
          </a:p>
        </p:txBody>
      </p:sp>
      <p:sp>
        <p:nvSpPr>
          <p:cNvPr id="13" name="Text 9"/>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An LLM never invents a deadline, fee or legal obligation.</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14 agents on Neuro SAN, 27 coded tools</a:t>
            </a:r>
            <a:endParaRPr lang="en-US" sz="3400" dirty="0"/>
          </a:p>
        </p:txBody>
      </p:sp>
      <p:sp>
        <p:nvSpPr>
          <p:cNvPr id="3" name="coordinator"/>
          <p:cNvSpPr/>
          <p:nvPr/>
        </p:nvSpPr>
        <p:spPr>
          <a:xfrm>
            <a:off x="4480560" y="2971800"/>
            <a:ext cx="3200400" cy="1005840"/>
          </a:xfrm>
          <a:prstGeom prst="roundRect">
            <a:avLst>
              <a:gd name="adj" fmla="val 10909"/>
            </a:avLst>
          </a:prstGeom>
          <a:solidFill>
            <a:schemeClr val="accent1"/>
          </a:solidFill>
          <a:ln/>
        </p:spPr>
      </p:sp>
      <p:sp>
        <p:nvSpPr>
          <p:cNvPr id="4" name="Text 2"/>
          <p:cNvSpPr txBox="1"/>
          <p:nvPr/>
        </p:nvSpPr>
        <p:spPr>
          <a:xfrm>
            <a:off x="4480560" y="2971800"/>
            <a:ext cx="3200400" cy="1005840"/>
          </a:xfrm>
          <a:prstGeom prst="rect">
            <a:avLst/>
          </a:prstGeom>
          <a:noFill/>
          <a:ln/>
        </p:spPr>
        <p:txBody>
          <a:bodyPr wrap="square" lIns="0" tIns="0" rIns="0" bIns="0" rtlCol="0" anchor="ctr"/>
          <a:lstStyle/>
          <a:p>
            <a:pPr algn="ctr" indent="0" marL="0">
              <a:buNone/>
            </a:pPr>
            <a:r>
              <a:rPr lang="en-US" sz="1800" b="1" dirty="0">
                <a:solidFill>
                  <a:schemeClr val="bg1"/>
                </a:solidFill>
              </a:rPr>
              <a:t>move_coordinator</a:t>
            </a:r>
            <a:endParaRPr lang="en-US" sz="1800" dirty="0"/>
          </a:p>
          <a:p>
            <a:pPr algn="ctr" indent="0" marL="0">
              <a:buNone/>
            </a:pPr>
            <a:r>
              <a:rPr lang="en-US" sz="1400" dirty="0">
                <a:solidFill>
                  <a:schemeClr val="bg1"/>
                </a:solidFill>
              </a:rPr>
              <a:t>talks to the customer</a:t>
            </a:r>
            <a:endParaRPr lang="en-US" sz="1800" dirty="0"/>
          </a:p>
        </p:txBody>
      </p:sp>
      <p:sp>
        <p:nvSpPr>
          <p:cNvPr id="5" name="Intake and discovery"/>
          <p:cNvSpPr/>
          <p:nvPr/>
        </p:nvSpPr>
        <p:spPr>
          <a:xfrm>
            <a:off x="548640" y="1371600"/>
            <a:ext cx="3657600" cy="1371600"/>
          </a:xfrm>
          <a:prstGeom prst="roundRect">
            <a:avLst>
              <a:gd name="adj" fmla="val 8000"/>
            </a:avLst>
          </a:prstGeom>
          <a:solidFill>
            <a:schemeClr val="bg2"/>
          </a:solidFill>
          <a:ln/>
        </p:spPr>
      </p:sp>
      <p:sp>
        <p:nvSpPr>
          <p:cNvPr id="6" name="Text 4"/>
          <p:cNvSpPr txBox="1"/>
          <p:nvPr/>
        </p:nvSpPr>
        <p:spPr>
          <a:xfrm>
            <a:off x="73152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Intake and discovery</a:t>
            </a:r>
            <a:endParaRPr lang="en-US" sz="1800" dirty="0"/>
          </a:p>
          <a:p>
            <a:pPr indent="0" marL="0">
              <a:buNone/>
            </a:pPr>
            <a:r>
              <a:rPr lang="en-US" sz="1400" dirty="0">
                <a:solidFill>
                  <a:schemeClr val="tx1"/>
                </a:solidFill>
              </a:rPr>
              <a:t>intake · profile · discovery</a:t>
            </a:r>
            <a:endParaRPr lang="en-US" sz="1800" dirty="0"/>
          </a:p>
        </p:txBody>
      </p:sp>
      <p:sp>
        <p:nvSpPr>
          <p:cNvPr id="7" name="link 1"/>
          <p:cNvSpPr/>
          <p:nvPr/>
        </p:nvSpPr>
        <p:spPr>
          <a:xfrm>
            <a:off x="4206240" y="2057400"/>
            <a:ext cx="274320" cy="1051560"/>
          </a:xfrm>
          <a:prstGeom prst="line">
            <a:avLst/>
          </a:prstGeom>
          <a:noFill/>
          <a:ln w="19050">
            <a:solidFill>
              <a:schemeClr val="accent6"/>
            </a:solidFill>
            <a:prstDash val="solid"/>
          </a:ln>
        </p:spPr>
      </p:sp>
      <p:sp>
        <p:nvSpPr>
          <p:cNvPr id="8" name="Planning"/>
          <p:cNvSpPr/>
          <p:nvPr/>
        </p:nvSpPr>
        <p:spPr>
          <a:xfrm>
            <a:off x="7955280" y="1371600"/>
            <a:ext cx="3657600" cy="1371600"/>
          </a:xfrm>
          <a:prstGeom prst="roundRect">
            <a:avLst>
              <a:gd name="adj" fmla="val 8000"/>
            </a:avLst>
          </a:prstGeom>
          <a:solidFill>
            <a:schemeClr val="bg2"/>
          </a:solidFill>
          <a:ln/>
        </p:spPr>
      </p:sp>
      <p:sp>
        <p:nvSpPr>
          <p:cNvPr id="9" name="Text 7"/>
          <p:cNvSpPr txBox="1"/>
          <p:nvPr/>
        </p:nvSpPr>
        <p:spPr>
          <a:xfrm>
            <a:off x="813816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Planning</a:t>
            </a:r>
            <a:endParaRPr lang="en-US" sz="1800" dirty="0"/>
          </a:p>
          <a:p>
            <a:pPr indent="0" marL="0">
              <a:buNone/>
            </a:pPr>
            <a:r>
              <a:rPr lang="en-US" sz="1400" dirty="0">
                <a:solidFill>
                  <a:schemeClr val="tx1"/>
                </a:solidFill>
              </a:rPr>
              <a:t>obligations · timeline · local services</a:t>
            </a:r>
            <a:endParaRPr lang="en-US" sz="1800" dirty="0"/>
          </a:p>
        </p:txBody>
      </p:sp>
      <p:sp>
        <p:nvSpPr>
          <p:cNvPr id="10" name="link 2"/>
          <p:cNvSpPr/>
          <p:nvPr/>
        </p:nvSpPr>
        <p:spPr>
          <a:xfrm flipV="1">
            <a:off x="7680960" y="2057400"/>
            <a:ext cx="274320" cy="1051560"/>
          </a:xfrm>
          <a:prstGeom prst="line">
            <a:avLst/>
          </a:prstGeom>
          <a:noFill/>
          <a:ln w="19050">
            <a:solidFill>
              <a:schemeClr val="accent6"/>
            </a:solidFill>
            <a:prstDash val="solid"/>
          </a:ln>
        </p:spPr>
      </p:sp>
      <p:sp>
        <p:nvSpPr>
          <p:cNvPr id="11" name="AAOSA specialists"/>
          <p:cNvSpPr/>
          <p:nvPr/>
        </p:nvSpPr>
        <p:spPr>
          <a:xfrm>
            <a:off x="548640" y="4480560"/>
            <a:ext cx="3657600" cy="1371600"/>
          </a:xfrm>
          <a:prstGeom prst="roundRect">
            <a:avLst>
              <a:gd name="adj" fmla="val 8000"/>
            </a:avLst>
          </a:prstGeom>
          <a:solidFill>
            <a:schemeClr val="bg2"/>
          </a:solidFill>
          <a:ln/>
        </p:spPr>
      </p:sp>
      <p:sp>
        <p:nvSpPr>
          <p:cNvPr id="12" name="Text 10"/>
          <p:cNvSpPr txBox="1"/>
          <p:nvPr/>
        </p:nvSpPr>
        <p:spPr>
          <a:xfrm>
            <a:off x="73152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AAOSA specialists</a:t>
            </a:r>
            <a:endParaRPr lang="en-US" sz="1800" dirty="0"/>
          </a:p>
          <a:p>
            <a:pPr indent="0" marL="0">
              <a:buNone/>
            </a:pPr>
            <a:r>
              <a:rPr lang="en-US" sz="1400" dirty="0">
                <a:solidFill>
                  <a:schemeClr val="tx1"/>
                </a:solidFill>
              </a:rPr>
              <a:t>government · home &amp; utilities · financial · health &amp; family</a:t>
            </a:r>
            <a:endParaRPr lang="en-US" sz="1800" dirty="0"/>
          </a:p>
        </p:txBody>
      </p:sp>
      <p:sp>
        <p:nvSpPr>
          <p:cNvPr id="13" name="link 3"/>
          <p:cNvSpPr/>
          <p:nvPr/>
        </p:nvSpPr>
        <p:spPr>
          <a:xfrm flipV="1">
            <a:off x="4206240" y="3840480"/>
            <a:ext cx="274320" cy="1325880"/>
          </a:xfrm>
          <a:prstGeom prst="line">
            <a:avLst/>
          </a:prstGeom>
          <a:noFill/>
          <a:ln w="19050">
            <a:solidFill>
              <a:schemeClr val="accent6"/>
            </a:solidFill>
            <a:prstDash val="solid"/>
          </a:ln>
        </p:spPr>
      </p:sp>
      <p:sp>
        <p:nvSpPr>
          <p:cNvPr id="14" name="Delivery"/>
          <p:cNvSpPr/>
          <p:nvPr/>
        </p:nvSpPr>
        <p:spPr>
          <a:xfrm>
            <a:off x="7955280" y="4480560"/>
            <a:ext cx="3657600" cy="1371600"/>
          </a:xfrm>
          <a:prstGeom prst="roundRect">
            <a:avLst>
              <a:gd name="adj" fmla="val 8000"/>
            </a:avLst>
          </a:prstGeom>
          <a:solidFill>
            <a:schemeClr val="bg2"/>
          </a:solidFill>
          <a:ln/>
        </p:spPr>
      </p:sp>
      <p:sp>
        <p:nvSpPr>
          <p:cNvPr id="15" name="Text 13"/>
          <p:cNvSpPr txBox="1"/>
          <p:nvPr/>
        </p:nvSpPr>
        <p:spPr>
          <a:xfrm>
            <a:off x="813816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Delivery</a:t>
            </a:r>
            <a:endParaRPr lang="en-US" sz="1800" dirty="0"/>
          </a:p>
          <a:p>
            <a:pPr indent="0" marL="0">
              <a:buNone/>
            </a:pPr>
            <a:r>
              <a:rPr lang="en-US" sz="1400" dirty="0">
                <a:solidFill>
                  <a:schemeClr val="tx1"/>
                </a:solidFill>
              </a:rPr>
              <a:t>comms (drafts) · tracker (approval codes, send, replan) · reply agent</a:t>
            </a:r>
            <a:endParaRPr lang="en-US" sz="1800" dirty="0"/>
          </a:p>
        </p:txBody>
      </p:sp>
      <p:sp>
        <p:nvSpPr>
          <p:cNvPr id="16" name="link 4"/>
          <p:cNvSpPr/>
          <p:nvPr/>
        </p:nvSpPr>
        <p:spPr>
          <a:xfrm>
            <a:off x="7680960" y="3840480"/>
            <a:ext cx="274320" cy="1325880"/>
          </a:xfrm>
          <a:prstGeom prst="line">
            <a:avLst/>
          </a:prstGeom>
          <a:noFill/>
          <a:ln w="19050">
            <a:solidFill>
              <a:schemeClr val="accent6"/>
            </a:solidFill>
            <a:prstDash val="solid"/>
          </a:ln>
        </p:spPr>
      </p:sp>
      <p:sp>
        <p:nvSpPr>
          <p:cNvPr id="17" name="Text 15"/>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400" dirty="0">
                <a:solidFill>
                  <a:schemeClr val="accent6"/>
                </a:solidFill>
              </a:rPr>
              <a:t>Specialists use AAOSA: each says whether a task is theirs, then records how to do it. State lives in sly_data and a SQLite case store; tools read and write it, the LLM sees redacted views.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The agents, their jobs and main tools</a:t>
            </a:r>
            <a:endParaRPr lang="en-US" sz="3400" dirty="0"/>
          </a:p>
        </p:txBody>
      </p:sp>
      <p:graphicFrame>
        <p:nvGraphicFramePr>
          <p:cNvPr id="10" name="ag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4114800"/>
                <a:gridCol w="4572000"/>
              </a:tblGrid>
              <a:tr h="301752">
                <a:tc>
                  <a:txBody>
                    <a:bodyPr/>
                    <a:lstStyle/>
                    <a:p>
                      <a:pPr indent="0" marL="0">
                        <a:buNone/>
                      </a:pPr>
                      <a:r>
                        <a:rPr lang="en-US" sz="1400" b="1" dirty="0">
                          <a:solidFill>
                            <a:schemeClr val="bg1"/>
                          </a:solidFill>
                        </a:rPr>
                        <a:t>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Job</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Main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r>
              <a:tr h="301752">
                <a:tc>
                  <a:txBody>
                    <a:bodyPr/>
                    <a:lstStyle/>
                    <a:p>
                      <a:pPr indent="0" marL="0">
                        <a:buNone/>
                      </a:pPr>
                      <a:r>
                        <a:rPr lang="en-US" sz="1400" b="1" dirty="0">
                          <a:solidFill>
                            <a:schemeClr val="tx2"/>
                          </a:solidFill>
                        </a:rPr>
                        <a:t>move_coordinator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Runs the conversation and the whole journey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all 12 agents below</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intake_agent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Starts standalone cases; imports statements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create_case, import_statement, add_manual_providers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profile_agent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What we know, what is missing; resumes cases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customer_profile_lookup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discovery_agent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AI moment 1: providers and life facts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get_transactions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obligations_agent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Which organisations must be told</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obligations_rules, council_lookup (live)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timeline_agent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Dated plan in UK working days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build_timeline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local_services_agent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GPs, schools and water at the new home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gp_finder, school_finder, water_supplier_lookup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government_agent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DVLA, council tax or rates, electoral register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gov_service_directory,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home_utilities_agent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Energy, water, broadband, TV Licensing, post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provider_directory,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financial_agent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Bank address, home and car insurance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bank_address_api, insurance_quote_api</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health_family_agent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GP, pet microchip, nursery or school</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gp_finder, gov_service_directory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comms_agent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One draft per task, with placeholders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letter_templates, save_drafts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tracker_agent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AI moment 2: approval codes, send, replan, audit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request_approval, confirm_with_code, send_notification</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reply_agent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Reads provider replies; no approve or send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check_inbox, record_reply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4" name="Text 1"/>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200" b="1" dirty="0">
                <a:solidFill>
                  <a:schemeClr val="tx2"/>
                </a:solidFill>
              </a:rPr>
              <a:t>Highlighted: </a:t>
            </a:r>
            <a:pPr indent="0" marL="0">
              <a:buNone/>
            </a:pPr>
            <a:r>
              <a:rPr lang="en-US" sz="1200" dirty="0">
                <a:solidFill>
                  <a:schemeClr val="accent6"/>
                </a:solidFill>
              </a:rPr>
              <a:t>the four AAOSA specialists. Each says whether a task is theirs, then records how to do it.</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Trust is built into the code, not the prompt</a:t>
            </a:r>
            <a:endParaRPr lang="en-US" sz="3400" dirty="0"/>
          </a:p>
        </p:txBody>
      </p:sp>
      <p:sp>
        <p:nvSpPr>
          <p:cNvPr id="3" name="The server holds the state"/>
          <p:cNvSpPr/>
          <p:nvPr/>
        </p:nvSpPr>
        <p:spPr>
          <a:xfrm>
            <a:off x="548640" y="1463040"/>
            <a:ext cx="3474720" cy="2103120"/>
          </a:xfrm>
          <a:prstGeom prst="roundRect">
            <a:avLst>
              <a:gd name="adj" fmla="val 5217"/>
            </a:avLst>
          </a:prstGeom>
          <a:solidFill>
            <a:schemeClr val="bg2"/>
          </a:solidFill>
          <a:ln/>
        </p:spPr>
      </p:sp>
      <p:sp>
        <p:nvSpPr>
          <p:cNvPr id="4" name="The server holds the state circle"/>
          <p:cNvSpPr/>
          <p:nvPr/>
        </p:nvSpPr>
        <p:spPr>
          <a:xfrm>
            <a:off x="822960" y="1737360"/>
            <a:ext cx="685800" cy="685800"/>
          </a:xfrm>
          <a:prstGeom prst="ellipse">
            <a:avLst/>
          </a:prstGeom>
          <a:solidFill>
            <a:schemeClr val="accent2"/>
          </a:solidFill>
          <a:ln/>
        </p:spPr>
      </p:sp>
      <p:pic>
        <p:nvPicPr>
          <p:cNvPr id="5" name="The server holds the state icon" descr="preencoded.png">    </p:cNvPr>
          <p:cNvPicPr>
            <a:picLocks noChangeAspect="1"/>
          </p:cNvPicPr>
          <p:nvPr/>
        </p:nvPicPr>
        <p:blipFill>
          <a:blip r:embed="rId1"/>
          <a:stretch>
            <a:fillRect/>
          </a:stretch>
        </p:blipFill>
        <p:spPr>
          <a:xfrm>
            <a:off x="994410" y="1908810"/>
            <a:ext cx="342900" cy="342900"/>
          </a:xfrm>
          <a:prstGeom prst="rect">
            <a:avLst/>
          </a:prstGeom>
        </p:spPr>
      </p:pic>
      <p:sp>
        <p:nvSpPr>
          <p:cNvPr id="6" name="Text 3"/>
          <p:cNvSpPr txBox="1"/>
          <p:nvPr/>
        </p:nvSpPr>
        <p:spPr>
          <a:xfrm>
            <a:off x="164592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The server holds the state</a:t>
            </a:r>
            <a:endParaRPr lang="en-US" sz="1700" dirty="0"/>
          </a:p>
        </p:txBody>
      </p:sp>
      <p:sp>
        <p:nvSpPr>
          <p:cNvPr id="7" name="Text 4"/>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The client only holds a signed session; any state it sends is discarded</a:t>
            </a:r>
            <a:endParaRPr lang="en-US" sz="1400" dirty="0"/>
          </a:p>
        </p:txBody>
      </p:sp>
      <p:sp>
        <p:nvSpPr>
          <p:cNvPr id="8" name="You open only your own case"/>
          <p:cNvSpPr/>
          <p:nvPr/>
        </p:nvSpPr>
        <p:spPr>
          <a:xfrm>
            <a:off x="4297680" y="1463040"/>
            <a:ext cx="3474720" cy="2103120"/>
          </a:xfrm>
          <a:prstGeom prst="roundRect">
            <a:avLst>
              <a:gd name="adj" fmla="val 5217"/>
            </a:avLst>
          </a:prstGeom>
          <a:solidFill>
            <a:schemeClr val="bg2"/>
          </a:solidFill>
          <a:ln/>
        </p:spPr>
      </p:sp>
      <p:sp>
        <p:nvSpPr>
          <p:cNvPr id="9" name="You open only your own case circle"/>
          <p:cNvSpPr/>
          <p:nvPr/>
        </p:nvSpPr>
        <p:spPr>
          <a:xfrm>
            <a:off x="4572000" y="1737360"/>
            <a:ext cx="685800" cy="685800"/>
          </a:xfrm>
          <a:prstGeom prst="ellipse">
            <a:avLst/>
          </a:prstGeom>
          <a:solidFill>
            <a:schemeClr val="accent2"/>
          </a:solidFill>
          <a:ln/>
        </p:spPr>
      </p:sp>
      <p:pic>
        <p:nvPicPr>
          <p:cNvPr id="10" name="You open only your own case icon" descr="preencoded.png">    </p:cNvPr>
          <p:cNvPicPr>
            <a:picLocks noChangeAspect="1"/>
          </p:cNvPicPr>
          <p:nvPr/>
        </p:nvPicPr>
        <p:blipFill>
          <a:blip r:embed="rId2"/>
          <a:stretch>
            <a:fillRect/>
          </a:stretch>
        </p:blipFill>
        <p:spPr>
          <a:xfrm>
            <a:off x="4743450" y="1908810"/>
            <a:ext cx="342900" cy="342900"/>
          </a:xfrm>
          <a:prstGeom prst="rect">
            <a:avLst/>
          </a:prstGeom>
        </p:spPr>
      </p:pic>
      <p:sp>
        <p:nvSpPr>
          <p:cNvPr id="11" name="Text 7"/>
          <p:cNvSpPr txBox="1"/>
          <p:nvPr/>
        </p:nvSpPr>
        <p:spPr>
          <a:xfrm>
            <a:off x="539496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You open only your own case</a:t>
            </a:r>
            <a:endParaRPr lang="en-US" sz="1700" dirty="0"/>
          </a:p>
        </p:txBody>
      </p:sp>
      <p:sp>
        <p:nvSpPr>
          <p:cNvPr id="12" name="Text 8"/>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Signed sessions, ownership checks and unguessable case IDs</a:t>
            </a:r>
            <a:endParaRPr lang="en-US" sz="1400" dirty="0"/>
          </a:p>
        </p:txBody>
      </p:sp>
      <p:sp>
        <p:nvSpPr>
          <p:cNvPr id="13" name="Personal data stays out of the LLM"/>
          <p:cNvSpPr/>
          <p:nvPr/>
        </p:nvSpPr>
        <p:spPr>
          <a:xfrm>
            <a:off x="8046720" y="1463040"/>
            <a:ext cx="3474720" cy="2103120"/>
          </a:xfrm>
          <a:prstGeom prst="roundRect">
            <a:avLst>
              <a:gd name="adj" fmla="val 5217"/>
            </a:avLst>
          </a:prstGeom>
          <a:solidFill>
            <a:schemeClr val="bg2"/>
          </a:solidFill>
          <a:ln/>
        </p:spPr>
      </p:sp>
      <p:sp>
        <p:nvSpPr>
          <p:cNvPr id="14" name="Personal data stays out of the LLM circle"/>
          <p:cNvSpPr/>
          <p:nvPr/>
        </p:nvSpPr>
        <p:spPr>
          <a:xfrm>
            <a:off x="8321040" y="1737360"/>
            <a:ext cx="685800" cy="685800"/>
          </a:xfrm>
          <a:prstGeom prst="ellipse">
            <a:avLst/>
          </a:prstGeom>
          <a:solidFill>
            <a:schemeClr val="accent2"/>
          </a:solidFill>
          <a:ln/>
        </p:spPr>
      </p:sp>
      <p:pic>
        <p:nvPicPr>
          <p:cNvPr id="15" name="Personal data stays out of the LLM icon" descr="preencoded.png">    </p:cNvPr>
          <p:cNvPicPr>
            <a:picLocks noChangeAspect="1"/>
          </p:cNvPicPr>
          <p:nvPr/>
        </p:nvPicPr>
        <p:blipFill>
          <a:blip r:embed="rId3"/>
          <a:stretch>
            <a:fillRect/>
          </a:stretch>
        </p:blipFill>
        <p:spPr>
          <a:xfrm>
            <a:off x="8492490" y="1908810"/>
            <a:ext cx="342900" cy="342900"/>
          </a:xfrm>
          <a:prstGeom prst="rect">
            <a:avLst/>
          </a:prstGeom>
        </p:spPr>
      </p:pic>
      <p:sp>
        <p:nvSpPr>
          <p:cNvPr id="16" name="Text 11"/>
          <p:cNvSpPr txBox="1"/>
          <p:nvPr/>
        </p:nvSpPr>
        <p:spPr>
          <a:xfrm>
            <a:off x="914400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Personal data stays out of the LLM</a:t>
            </a:r>
            <a:endParaRPr lang="en-US" sz="1700" dirty="0"/>
          </a:p>
        </p:txBody>
      </p:sp>
      <p:sp>
        <p:nvSpPr>
          <p:cNvPr id="17" name="Text 12"/>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Drafts use {{placeholders}} filled in by code at send time</a:t>
            </a:r>
            <a:endParaRPr lang="en-US" sz="1400" dirty="0"/>
          </a:p>
        </p:txBody>
      </p:sp>
      <p:sp>
        <p:nvSpPr>
          <p:cNvPr id="18" name="Encrypted at rest"/>
          <p:cNvSpPr/>
          <p:nvPr/>
        </p:nvSpPr>
        <p:spPr>
          <a:xfrm>
            <a:off x="548640" y="3794760"/>
            <a:ext cx="3474720" cy="2103120"/>
          </a:xfrm>
          <a:prstGeom prst="roundRect">
            <a:avLst>
              <a:gd name="adj" fmla="val 5217"/>
            </a:avLst>
          </a:prstGeom>
          <a:solidFill>
            <a:schemeClr val="bg2"/>
          </a:solidFill>
          <a:ln/>
        </p:spPr>
      </p:sp>
      <p:sp>
        <p:nvSpPr>
          <p:cNvPr id="19" name="Encrypted at rest circle"/>
          <p:cNvSpPr/>
          <p:nvPr/>
        </p:nvSpPr>
        <p:spPr>
          <a:xfrm>
            <a:off x="822960" y="4069080"/>
            <a:ext cx="685800" cy="685800"/>
          </a:xfrm>
          <a:prstGeom prst="ellipse">
            <a:avLst/>
          </a:prstGeom>
          <a:solidFill>
            <a:schemeClr val="accent5"/>
          </a:solidFill>
          <a:ln/>
        </p:spPr>
      </p:sp>
      <p:pic>
        <p:nvPicPr>
          <p:cNvPr id="20" name="Encrypted at rest icon" descr="preencoded.png">    </p:cNvPr>
          <p:cNvPicPr>
            <a:picLocks noChangeAspect="1"/>
          </p:cNvPicPr>
          <p:nvPr/>
        </p:nvPicPr>
        <p:blipFill>
          <a:blip r:embed="rId4"/>
          <a:stretch>
            <a:fillRect/>
          </a:stretch>
        </p:blipFill>
        <p:spPr>
          <a:xfrm>
            <a:off x="994410" y="4240530"/>
            <a:ext cx="342900" cy="342900"/>
          </a:xfrm>
          <a:prstGeom prst="rect">
            <a:avLst/>
          </a:prstGeom>
        </p:spPr>
      </p:pic>
      <p:sp>
        <p:nvSpPr>
          <p:cNvPr id="21" name="Text 15"/>
          <p:cNvSpPr txBox="1"/>
          <p:nvPr/>
        </p:nvSpPr>
        <p:spPr>
          <a:xfrm>
            <a:off x="164592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Encrypted at rest</a:t>
            </a:r>
            <a:endParaRPr lang="en-US" sz="1700" dirty="0"/>
          </a:p>
        </p:txBody>
      </p:sp>
      <p:sp>
        <p:nvSpPr>
          <p:cNvPr id="22" name="Text 16"/>
          <p:cNvSpPr txBox="1"/>
          <p:nvPr/>
        </p:nvSpPr>
        <p:spPr>
          <a:xfrm>
            <a:off x="82296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Details, statements and plans encrypted; keys kept apart</a:t>
            </a:r>
            <a:endParaRPr lang="en-US" sz="1400" dirty="0"/>
          </a:p>
        </p:txBody>
      </p:sp>
      <p:sp>
        <p:nvSpPr>
          <p:cNvPr id="23" name="Statements kept out of the chat"/>
          <p:cNvSpPr/>
          <p:nvPr/>
        </p:nvSpPr>
        <p:spPr>
          <a:xfrm>
            <a:off x="4297680" y="3794760"/>
            <a:ext cx="3474720" cy="2103120"/>
          </a:xfrm>
          <a:prstGeom prst="roundRect">
            <a:avLst>
              <a:gd name="adj" fmla="val 5217"/>
            </a:avLst>
          </a:prstGeom>
          <a:solidFill>
            <a:schemeClr val="bg2"/>
          </a:solidFill>
          <a:ln/>
        </p:spPr>
      </p:sp>
      <p:sp>
        <p:nvSpPr>
          <p:cNvPr id="24" name="Statements kept out of the chat circle"/>
          <p:cNvSpPr/>
          <p:nvPr/>
        </p:nvSpPr>
        <p:spPr>
          <a:xfrm>
            <a:off x="4572000" y="4069080"/>
            <a:ext cx="685800" cy="685800"/>
          </a:xfrm>
          <a:prstGeom prst="ellipse">
            <a:avLst/>
          </a:prstGeom>
          <a:solidFill>
            <a:schemeClr val="accent5"/>
          </a:solidFill>
          <a:ln/>
        </p:spPr>
      </p:sp>
      <p:pic>
        <p:nvPicPr>
          <p:cNvPr id="25" name="Statements kept out of the chat icon" descr="preencoded.png">    </p:cNvPr>
          <p:cNvPicPr>
            <a:picLocks noChangeAspect="1"/>
          </p:cNvPicPr>
          <p:nvPr/>
        </p:nvPicPr>
        <p:blipFill>
          <a:blip r:embed="rId5"/>
          <a:stretch>
            <a:fillRect/>
          </a:stretch>
        </p:blipFill>
        <p:spPr>
          <a:xfrm>
            <a:off x="4743450" y="4240530"/>
            <a:ext cx="342900" cy="342900"/>
          </a:xfrm>
          <a:prstGeom prst="rect">
            <a:avLst/>
          </a:prstGeom>
        </p:spPr>
      </p:pic>
      <p:sp>
        <p:nvSpPr>
          <p:cNvPr id="26" name="Text 19"/>
          <p:cNvSpPr txBox="1"/>
          <p:nvPr/>
        </p:nvSpPr>
        <p:spPr>
          <a:xfrm>
            <a:off x="539496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Statements kept out of the chat</a:t>
            </a:r>
            <a:endParaRPr lang="en-US" sz="1700" dirty="0"/>
          </a:p>
        </p:txBody>
      </p:sp>
      <p:sp>
        <p:nvSpPr>
          <p:cNvPr id="27" name="Text 20"/>
          <p:cNvSpPr txBox="1"/>
          <p:nvPr/>
        </p:nvSpPr>
        <p:spPr>
          <a:xfrm>
            <a:off x="457200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Uploaded to your own folder, read once, then deleted</a:t>
            </a:r>
            <a:endParaRPr lang="en-US" sz="1400" dirty="0"/>
          </a:p>
        </p:txBody>
      </p:sp>
      <p:sp>
        <p:nvSpPr>
          <p:cNvPr id="28" name="Consent the LLM cannot fake"/>
          <p:cNvSpPr/>
          <p:nvPr/>
        </p:nvSpPr>
        <p:spPr>
          <a:xfrm>
            <a:off x="8046720" y="3794760"/>
            <a:ext cx="3474720" cy="2103120"/>
          </a:xfrm>
          <a:prstGeom prst="roundRect">
            <a:avLst>
              <a:gd name="adj" fmla="val 5217"/>
            </a:avLst>
          </a:prstGeom>
          <a:solidFill>
            <a:schemeClr val="bg2"/>
          </a:solidFill>
          <a:ln/>
        </p:spPr>
      </p:sp>
      <p:sp>
        <p:nvSpPr>
          <p:cNvPr id="29" name="Consent the LLM cannot fake circle"/>
          <p:cNvSpPr/>
          <p:nvPr/>
        </p:nvSpPr>
        <p:spPr>
          <a:xfrm>
            <a:off x="8321040" y="4069080"/>
            <a:ext cx="685800" cy="685800"/>
          </a:xfrm>
          <a:prstGeom prst="ellipse">
            <a:avLst/>
          </a:prstGeom>
          <a:solidFill>
            <a:schemeClr val="accent5"/>
          </a:solidFill>
          <a:ln/>
        </p:spPr>
      </p:sp>
      <p:pic>
        <p:nvPicPr>
          <p:cNvPr id="30" name="Consent the LLM cannot fake icon" descr="preencoded.png">    </p:cNvPr>
          <p:cNvPicPr>
            <a:picLocks noChangeAspect="1"/>
          </p:cNvPicPr>
          <p:nvPr/>
        </p:nvPicPr>
        <p:blipFill>
          <a:blip r:embed="rId6"/>
          <a:stretch>
            <a:fillRect/>
          </a:stretch>
        </p:blipFill>
        <p:spPr>
          <a:xfrm>
            <a:off x="8492490" y="4240530"/>
            <a:ext cx="342900" cy="342900"/>
          </a:xfrm>
          <a:prstGeom prst="rect">
            <a:avLst/>
          </a:prstGeom>
        </p:spPr>
      </p:pic>
      <p:sp>
        <p:nvSpPr>
          <p:cNvPr id="31" name="Text 23"/>
          <p:cNvSpPr txBox="1"/>
          <p:nvPr/>
        </p:nvSpPr>
        <p:spPr>
          <a:xfrm>
            <a:off x="914400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Consent the LLM cannot fake</a:t>
            </a:r>
            <a:endParaRPr lang="en-US" sz="1700" dirty="0"/>
          </a:p>
        </p:txBody>
      </p:sp>
      <p:sp>
        <p:nvSpPr>
          <p:cNvPr id="32" name="Text 24"/>
          <p:cNvSpPr txBox="1"/>
          <p:nvPr/>
        </p:nvSpPr>
        <p:spPr>
          <a:xfrm>
            <a:off x="832104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Approve on your signed-in portal, or type a one-time code in chat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The app always shows the next step</a:t>
            </a:r>
            <a:endParaRPr lang="en-US" sz="3400" dirty="0"/>
          </a:p>
        </p:txBody>
      </p:sp>
      <p:sp>
        <p:nvSpPr>
          <p:cNvPr id="3" name="status page mock"/>
          <p:cNvSpPr/>
          <p:nvPr/>
        </p:nvSpPr>
        <p:spPr>
          <a:xfrm>
            <a:off x="548640" y="1417320"/>
            <a:ext cx="6949440" cy="4526280"/>
          </a:xfrm>
          <a:prstGeom prst="roundRect">
            <a:avLst>
              <a:gd name="adj" fmla="val 2424"/>
            </a:avLst>
          </a:prstGeom>
          <a:solidFill>
            <a:schemeClr val="bg2"/>
          </a:solidFill>
          <a:ln/>
        </p:spPr>
      </p:sp>
      <p:sp>
        <p:nvSpPr>
          <p:cNvPr id="4" name="stage Started"/>
          <p:cNvSpPr/>
          <p:nvPr/>
        </p:nvSpPr>
        <p:spPr>
          <a:xfrm>
            <a:off x="777240" y="1691640"/>
            <a:ext cx="877824" cy="457200"/>
          </a:xfrm>
          <a:prstGeom prst="roundRect">
            <a:avLst>
              <a:gd name="adj" fmla="val 16000"/>
            </a:avLst>
          </a:prstGeom>
          <a:solidFill>
            <a:schemeClr val="accent3"/>
          </a:solidFill>
          <a:ln/>
        </p:spPr>
      </p:sp>
      <p:sp>
        <p:nvSpPr>
          <p:cNvPr id="5" name="Text 3"/>
          <p:cNvSpPr txBox="1"/>
          <p:nvPr/>
        </p:nvSpPr>
        <p:spPr>
          <a:xfrm>
            <a:off x="777240"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Started</a:t>
            </a:r>
            <a:endParaRPr lang="en-US" sz="1000" dirty="0"/>
          </a:p>
        </p:txBody>
      </p:sp>
      <p:sp>
        <p:nvSpPr>
          <p:cNvPr id="6" name="stage Plan ready"/>
          <p:cNvSpPr/>
          <p:nvPr/>
        </p:nvSpPr>
        <p:spPr>
          <a:xfrm>
            <a:off x="1728216" y="1691640"/>
            <a:ext cx="877824" cy="457200"/>
          </a:xfrm>
          <a:prstGeom prst="roundRect">
            <a:avLst>
              <a:gd name="adj" fmla="val 16000"/>
            </a:avLst>
          </a:prstGeom>
          <a:solidFill>
            <a:schemeClr val="accent3"/>
          </a:solidFill>
          <a:ln/>
        </p:spPr>
      </p:sp>
      <p:sp>
        <p:nvSpPr>
          <p:cNvPr id="7" name="Text 5"/>
          <p:cNvSpPr txBox="1"/>
          <p:nvPr/>
        </p:nvSpPr>
        <p:spPr>
          <a:xfrm>
            <a:off x="1728216"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Plan ready</a:t>
            </a:r>
            <a:endParaRPr lang="en-US" sz="1000" dirty="0"/>
          </a:p>
        </p:txBody>
      </p:sp>
      <p:sp>
        <p:nvSpPr>
          <p:cNvPr id="8" name="stage Drafts ready"/>
          <p:cNvSpPr/>
          <p:nvPr/>
        </p:nvSpPr>
        <p:spPr>
          <a:xfrm>
            <a:off x="2679192" y="1691640"/>
            <a:ext cx="877824" cy="457200"/>
          </a:xfrm>
          <a:prstGeom prst="roundRect">
            <a:avLst>
              <a:gd name="adj" fmla="val 16000"/>
            </a:avLst>
          </a:prstGeom>
          <a:solidFill>
            <a:schemeClr val="accent2"/>
          </a:solidFill>
          <a:ln/>
        </p:spPr>
      </p:sp>
      <p:sp>
        <p:nvSpPr>
          <p:cNvPr id="9" name="Text 7"/>
          <p:cNvSpPr txBox="1"/>
          <p:nvPr/>
        </p:nvSpPr>
        <p:spPr>
          <a:xfrm>
            <a:off x="2679192" y="1691640"/>
            <a:ext cx="877824" cy="457200"/>
          </a:xfrm>
          <a:prstGeom prst="rect">
            <a:avLst/>
          </a:prstGeom>
          <a:noFill/>
          <a:ln/>
        </p:spPr>
        <p:txBody>
          <a:bodyPr wrap="square" lIns="0" tIns="0" rIns="0" bIns="0" rtlCol="0" anchor="ctr"/>
          <a:lstStyle/>
          <a:p>
            <a:pPr algn="ctr" indent="0" marL="0">
              <a:buNone/>
            </a:pPr>
            <a:r>
              <a:rPr lang="en-US" sz="1000" b="1" dirty="0">
                <a:solidFill>
                  <a:schemeClr val="bg1"/>
                </a:solidFill>
              </a:rPr>
              <a:t>Drafts ready</a:t>
            </a:r>
            <a:endParaRPr lang="en-US" sz="1000" dirty="0"/>
          </a:p>
        </p:txBody>
      </p:sp>
      <p:sp>
        <p:nvSpPr>
          <p:cNvPr id="10" name="stage Approved"/>
          <p:cNvSpPr/>
          <p:nvPr/>
        </p:nvSpPr>
        <p:spPr>
          <a:xfrm>
            <a:off x="3630168" y="1691640"/>
            <a:ext cx="877824" cy="457200"/>
          </a:xfrm>
          <a:prstGeom prst="roundRect">
            <a:avLst>
              <a:gd name="adj" fmla="val 16000"/>
            </a:avLst>
          </a:prstGeom>
          <a:solidFill>
            <a:schemeClr val="bg1"/>
          </a:solidFill>
          <a:ln/>
        </p:spPr>
      </p:sp>
      <p:sp>
        <p:nvSpPr>
          <p:cNvPr id="11" name="Text 9"/>
          <p:cNvSpPr txBox="1"/>
          <p:nvPr/>
        </p:nvSpPr>
        <p:spPr>
          <a:xfrm>
            <a:off x="3630168"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Approved</a:t>
            </a:r>
            <a:endParaRPr lang="en-US" sz="1000" dirty="0"/>
          </a:p>
        </p:txBody>
      </p:sp>
      <p:sp>
        <p:nvSpPr>
          <p:cNvPr id="12" name="stage Sent"/>
          <p:cNvSpPr/>
          <p:nvPr/>
        </p:nvSpPr>
        <p:spPr>
          <a:xfrm>
            <a:off x="4581144" y="1691640"/>
            <a:ext cx="877824" cy="457200"/>
          </a:xfrm>
          <a:prstGeom prst="roundRect">
            <a:avLst>
              <a:gd name="adj" fmla="val 16000"/>
            </a:avLst>
          </a:prstGeom>
          <a:solidFill>
            <a:schemeClr val="bg1"/>
          </a:solidFill>
          <a:ln/>
        </p:spPr>
      </p:sp>
      <p:sp>
        <p:nvSpPr>
          <p:cNvPr id="13" name="Text 11"/>
          <p:cNvSpPr txBox="1"/>
          <p:nvPr/>
        </p:nvSpPr>
        <p:spPr>
          <a:xfrm>
            <a:off x="4581144"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Sent</a:t>
            </a:r>
            <a:endParaRPr lang="en-US" sz="1000" dirty="0"/>
          </a:p>
        </p:txBody>
      </p:sp>
      <p:sp>
        <p:nvSpPr>
          <p:cNvPr id="14" name="stage Follow-up"/>
          <p:cNvSpPr/>
          <p:nvPr/>
        </p:nvSpPr>
        <p:spPr>
          <a:xfrm>
            <a:off x="5532120" y="1691640"/>
            <a:ext cx="877824" cy="457200"/>
          </a:xfrm>
          <a:prstGeom prst="roundRect">
            <a:avLst>
              <a:gd name="adj" fmla="val 16000"/>
            </a:avLst>
          </a:prstGeom>
          <a:solidFill>
            <a:schemeClr val="bg1"/>
          </a:solidFill>
          <a:ln/>
        </p:spPr>
      </p:sp>
      <p:sp>
        <p:nvSpPr>
          <p:cNvPr id="15" name="Text 13"/>
          <p:cNvSpPr txBox="1"/>
          <p:nvPr/>
        </p:nvSpPr>
        <p:spPr>
          <a:xfrm>
            <a:off x="5532120"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Follow-up</a:t>
            </a:r>
            <a:endParaRPr lang="en-US" sz="1000" dirty="0"/>
          </a:p>
        </p:txBody>
      </p:sp>
      <p:sp>
        <p:nvSpPr>
          <p:cNvPr id="16" name="stage Done"/>
          <p:cNvSpPr/>
          <p:nvPr/>
        </p:nvSpPr>
        <p:spPr>
          <a:xfrm>
            <a:off x="6483096" y="1691640"/>
            <a:ext cx="877824" cy="457200"/>
          </a:xfrm>
          <a:prstGeom prst="roundRect">
            <a:avLst>
              <a:gd name="adj" fmla="val 16000"/>
            </a:avLst>
          </a:prstGeom>
          <a:solidFill>
            <a:schemeClr val="bg1"/>
          </a:solidFill>
          <a:ln/>
        </p:spPr>
      </p:sp>
      <p:sp>
        <p:nvSpPr>
          <p:cNvPr id="17" name="Text 15"/>
          <p:cNvSpPr txBox="1"/>
          <p:nvPr/>
        </p:nvSpPr>
        <p:spPr>
          <a:xfrm>
            <a:off x="6483096"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Done</a:t>
            </a:r>
            <a:endParaRPr lang="en-US" sz="1000" dirty="0"/>
          </a:p>
        </p:txBody>
      </p:sp>
      <p:sp>
        <p:nvSpPr>
          <p:cNvPr id="18" name="Text 16"/>
          <p:cNvSpPr txBox="1"/>
          <p:nvPr/>
        </p:nvSpPr>
        <p:spPr>
          <a:xfrm>
            <a:off x="822960" y="2423160"/>
            <a:ext cx="4572000" cy="365760"/>
          </a:xfrm>
          <a:prstGeom prst="rect">
            <a:avLst/>
          </a:prstGeom>
          <a:noFill/>
          <a:ln/>
        </p:spPr>
        <p:txBody>
          <a:bodyPr wrap="square" lIns="0" tIns="0" rIns="0" bIns="0" rtlCol="0" anchor="ctr"/>
          <a:lstStyle/>
          <a:p>
            <a:pPr indent="0" marL="0">
              <a:buNone/>
            </a:pPr>
            <a:r>
              <a:rPr lang="en-US" sz="1500" b="1" dirty="0">
                <a:solidFill>
                  <a:schemeClr val="tx2"/>
                </a:solidFill>
              </a:rPr>
              <a:t>Approve your 15 letters</a:t>
            </a:r>
            <a:endParaRPr lang="en-US" sz="1500" dirty="0"/>
          </a:p>
        </p:txBody>
      </p:sp>
      <p:sp>
        <p:nvSpPr>
          <p:cNvPr id="19" name="row line 1"/>
          <p:cNvSpPr/>
          <p:nvPr/>
        </p:nvSpPr>
        <p:spPr>
          <a:xfrm>
            <a:off x="822960" y="3392424"/>
            <a:ext cx="6400800" cy="0"/>
          </a:xfrm>
          <a:prstGeom prst="line">
            <a:avLst/>
          </a:prstGeom>
          <a:noFill/>
          <a:ln w="9525">
            <a:solidFill>
              <a:schemeClr val="accent3"/>
            </a:solidFill>
            <a:prstDash val="solid"/>
          </a:ln>
        </p:spPr>
      </p:sp>
      <p:sp>
        <p:nvSpPr>
          <p:cNvPr id="20" name="Text 18"/>
          <p:cNvSpPr txBox="1"/>
          <p:nvPr/>
        </p:nvSpPr>
        <p:spPr>
          <a:xfrm>
            <a:off x="822960" y="2880360"/>
            <a:ext cx="3017520" cy="457200"/>
          </a:xfrm>
          <a:prstGeom prst="rect">
            <a:avLst/>
          </a:prstGeom>
          <a:noFill/>
          <a:ln/>
        </p:spPr>
        <p:txBody>
          <a:bodyPr wrap="square" lIns="0" tIns="0" rIns="0" bIns="0" rtlCol="0" anchor="ctr"/>
          <a:lstStyle/>
          <a:p>
            <a:pPr indent="0" marL="0">
              <a:buNone/>
            </a:pPr>
            <a:r>
              <a:rPr lang="en-US" sz="1300" dirty="0">
                <a:solidFill>
                  <a:schemeClr val="tx1"/>
                </a:solidFill>
              </a:rPr>
              <a:t>Broadband provider</a:t>
            </a:r>
            <a:endParaRPr lang="en-US" sz="1300" dirty="0"/>
          </a:p>
        </p:txBody>
      </p:sp>
      <p:sp>
        <p:nvSpPr>
          <p:cNvPr id="21" name="Text 19"/>
          <p:cNvSpPr txBox="1"/>
          <p:nvPr/>
        </p:nvSpPr>
        <p:spPr>
          <a:xfrm>
            <a:off x="4572000" y="2880360"/>
            <a:ext cx="914400" cy="457200"/>
          </a:xfrm>
          <a:prstGeom prst="rect">
            <a:avLst/>
          </a:prstGeom>
          <a:noFill/>
          <a:ln/>
        </p:spPr>
        <p:txBody>
          <a:bodyPr wrap="square" lIns="0" tIns="0" rIns="0" bIns="0" rtlCol="0" anchor="ctr"/>
          <a:lstStyle/>
          <a:p>
            <a:pPr indent="0" marL="0">
              <a:buNone/>
            </a:pPr>
            <a:r>
              <a:rPr lang="en-US" sz="1300" dirty="0">
                <a:solidFill>
                  <a:schemeClr val="tx1"/>
                </a:solidFill>
              </a:rPr>
              <a:t>13 Nov</a:t>
            </a:r>
            <a:endParaRPr lang="en-US" sz="1300" dirty="0"/>
          </a:p>
        </p:txBody>
      </p:sp>
      <p:sp>
        <p:nvSpPr>
          <p:cNvPr id="22" name="button 1"/>
          <p:cNvSpPr/>
          <p:nvPr/>
        </p:nvSpPr>
        <p:spPr>
          <a:xfrm>
            <a:off x="5577840" y="2953512"/>
            <a:ext cx="1645920" cy="329184"/>
          </a:xfrm>
          <a:prstGeom prst="roundRect">
            <a:avLst>
              <a:gd name="adj" fmla="val 22222"/>
            </a:avLst>
          </a:prstGeom>
          <a:solidFill>
            <a:schemeClr val="bg1"/>
          </a:solidFill>
          <a:ln w="12700">
            <a:solidFill>
              <a:schemeClr val="accent2"/>
            </a:solidFill>
            <a:prstDash val="solid"/>
          </a:ln>
        </p:spPr>
      </p:sp>
      <p:sp>
        <p:nvSpPr>
          <p:cNvPr id="23" name="Text 21"/>
          <p:cNvSpPr txBox="1"/>
          <p:nvPr/>
        </p:nvSpPr>
        <p:spPr>
          <a:xfrm>
            <a:off x="5577840" y="2953512"/>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24" name="row line 2"/>
          <p:cNvSpPr/>
          <p:nvPr/>
        </p:nvSpPr>
        <p:spPr>
          <a:xfrm>
            <a:off x="822960" y="3959352"/>
            <a:ext cx="6400800" cy="0"/>
          </a:xfrm>
          <a:prstGeom prst="line">
            <a:avLst/>
          </a:prstGeom>
          <a:noFill/>
          <a:ln w="9525">
            <a:solidFill>
              <a:schemeClr val="accent3"/>
            </a:solidFill>
            <a:prstDash val="solid"/>
          </a:ln>
        </p:spPr>
      </p:sp>
      <p:sp>
        <p:nvSpPr>
          <p:cNvPr id="25" name="Text 23"/>
          <p:cNvSpPr txBox="1"/>
          <p:nvPr/>
        </p:nvSpPr>
        <p:spPr>
          <a:xfrm>
            <a:off x="822960" y="3447288"/>
            <a:ext cx="3017520" cy="457200"/>
          </a:xfrm>
          <a:prstGeom prst="rect">
            <a:avLst/>
          </a:prstGeom>
          <a:noFill/>
          <a:ln/>
        </p:spPr>
        <p:txBody>
          <a:bodyPr wrap="square" lIns="0" tIns="0" rIns="0" bIns="0" rtlCol="0" anchor="ctr"/>
          <a:lstStyle/>
          <a:p>
            <a:pPr indent="0" marL="0">
              <a:buNone/>
            </a:pPr>
            <a:r>
              <a:rPr lang="en-US" sz="1300" dirty="0">
                <a:solidFill>
                  <a:schemeClr val="tx1"/>
                </a:solidFill>
              </a:rPr>
              <a:t>Council tax: new council</a:t>
            </a:r>
            <a:endParaRPr lang="en-US" sz="1300" dirty="0"/>
          </a:p>
        </p:txBody>
      </p:sp>
      <p:sp>
        <p:nvSpPr>
          <p:cNvPr id="26" name="legal badge 2"/>
          <p:cNvSpPr/>
          <p:nvPr/>
        </p:nvSpPr>
        <p:spPr>
          <a:xfrm>
            <a:off x="3794760" y="3557016"/>
            <a:ext cx="548640" cy="246888"/>
          </a:xfrm>
          <a:prstGeom prst="roundRect">
            <a:avLst>
              <a:gd name="adj" fmla="val 48148"/>
            </a:avLst>
          </a:prstGeom>
          <a:solidFill>
            <a:schemeClr val="accent1"/>
          </a:solidFill>
          <a:ln/>
        </p:spPr>
      </p:sp>
      <p:sp>
        <p:nvSpPr>
          <p:cNvPr id="27" name="Text 25"/>
          <p:cNvSpPr txBox="1"/>
          <p:nvPr/>
        </p:nvSpPr>
        <p:spPr>
          <a:xfrm>
            <a:off x="3794760" y="3557016"/>
            <a:ext cx="548640" cy="246888"/>
          </a:xfrm>
          <a:prstGeom prst="rect">
            <a:avLst/>
          </a:prstGeom>
          <a:noFill/>
          <a:ln/>
        </p:spPr>
        <p:txBody>
          <a:bodyPr wrap="square" lIns="0" tIns="0" rIns="0" bIns="0" rtlCol="0" anchor="ctr"/>
          <a:lstStyle/>
          <a:p>
            <a:pPr algn="ctr" indent="0" marL="0">
              <a:buNone/>
            </a:pPr>
            <a:r>
              <a:rPr lang="en-US" sz="1000" dirty="0">
                <a:solidFill>
                  <a:schemeClr val="bg1"/>
                </a:solidFill>
              </a:rPr>
              <a:t>legal</a:t>
            </a:r>
            <a:endParaRPr lang="en-US" sz="1000" dirty="0"/>
          </a:p>
        </p:txBody>
      </p:sp>
      <p:sp>
        <p:nvSpPr>
          <p:cNvPr id="28" name="Text 26"/>
          <p:cNvSpPr txBox="1"/>
          <p:nvPr/>
        </p:nvSpPr>
        <p:spPr>
          <a:xfrm>
            <a:off x="4572000" y="3447288"/>
            <a:ext cx="914400" cy="457200"/>
          </a:xfrm>
          <a:prstGeom prst="rect">
            <a:avLst/>
          </a:prstGeom>
          <a:noFill/>
          <a:ln/>
        </p:spPr>
        <p:txBody>
          <a:bodyPr wrap="square" lIns="0" tIns="0" rIns="0" bIns="0" rtlCol="0" anchor="ctr"/>
          <a:lstStyle/>
          <a:p>
            <a:pPr indent="0" marL="0">
              <a:buNone/>
            </a:pPr>
            <a:r>
              <a:rPr lang="en-US" sz="1300" dirty="0">
                <a:solidFill>
                  <a:schemeClr val="tx1"/>
                </a:solidFill>
              </a:rPr>
              <a:t>27 Nov</a:t>
            </a:r>
            <a:endParaRPr lang="en-US" sz="1300" dirty="0"/>
          </a:p>
        </p:txBody>
      </p:sp>
      <p:sp>
        <p:nvSpPr>
          <p:cNvPr id="29" name="button 2"/>
          <p:cNvSpPr/>
          <p:nvPr/>
        </p:nvSpPr>
        <p:spPr>
          <a:xfrm>
            <a:off x="5577840" y="3520440"/>
            <a:ext cx="1645920" cy="329184"/>
          </a:xfrm>
          <a:prstGeom prst="roundRect">
            <a:avLst>
              <a:gd name="adj" fmla="val 22222"/>
            </a:avLst>
          </a:prstGeom>
          <a:solidFill>
            <a:schemeClr val="bg1"/>
          </a:solidFill>
          <a:ln w="12700">
            <a:solidFill>
              <a:schemeClr val="accent2"/>
            </a:solidFill>
            <a:prstDash val="solid"/>
          </a:ln>
        </p:spPr>
      </p:sp>
      <p:sp>
        <p:nvSpPr>
          <p:cNvPr id="30" name="Text 28"/>
          <p:cNvSpPr txBox="1"/>
          <p:nvPr/>
        </p:nvSpPr>
        <p:spPr>
          <a:xfrm>
            <a:off x="5577840" y="3520440"/>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31" name="row line 3"/>
          <p:cNvSpPr/>
          <p:nvPr/>
        </p:nvSpPr>
        <p:spPr>
          <a:xfrm>
            <a:off x="822960" y="4526280"/>
            <a:ext cx="6400800" cy="0"/>
          </a:xfrm>
          <a:prstGeom prst="line">
            <a:avLst/>
          </a:prstGeom>
          <a:noFill/>
          <a:ln w="9525">
            <a:solidFill>
              <a:schemeClr val="accent3"/>
            </a:solidFill>
            <a:prstDash val="solid"/>
          </a:ln>
        </p:spPr>
      </p:sp>
      <p:sp>
        <p:nvSpPr>
          <p:cNvPr id="32" name="Text 30"/>
          <p:cNvSpPr txBox="1"/>
          <p:nvPr/>
        </p:nvSpPr>
        <p:spPr>
          <a:xfrm>
            <a:off x="822960" y="4014216"/>
            <a:ext cx="3017520" cy="457200"/>
          </a:xfrm>
          <a:prstGeom prst="rect">
            <a:avLst/>
          </a:prstGeom>
          <a:noFill/>
          <a:ln/>
        </p:spPr>
        <p:txBody>
          <a:bodyPr wrap="square" lIns="0" tIns="0" rIns="0" bIns="0" rtlCol="0" anchor="ctr"/>
          <a:lstStyle/>
          <a:p>
            <a:pPr indent="0" marL="0">
              <a:buNone/>
            </a:pPr>
            <a:r>
              <a:rPr lang="en-US" sz="1300" dirty="0">
                <a:solidFill>
                  <a:schemeClr val="tx1"/>
                </a:solidFill>
              </a:rPr>
              <a:t>DVLA: driving licence</a:t>
            </a:r>
            <a:endParaRPr lang="en-US" sz="1300" dirty="0"/>
          </a:p>
        </p:txBody>
      </p:sp>
      <p:sp>
        <p:nvSpPr>
          <p:cNvPr id="33" name="legal badge 3"/>
          <p:cNvSpPr/>
          <p:nvPr/>
        </p:nvSpPr>
        <p:spPr>
          <a:xfrm>
            <a:off x="3794760" y="4123944"/>
            <a:ext cx="548640" cy="246888"/>
          </a:xfrm>
          <a:prstGeom prst="roundRect">
            <a:avLst>
              <a:gd name="adj" fmla="val 48148"/>
            </a:avLst>
          </a:prstGeom>
          <a:solidFill>
            <a:schemeClr val="accent1"/>
          </a:solidFill>
          <a:ln/>
        </p:spPr>
      </p:sp>
      <p:sp>
        <p:nvSpPr>
          <p:cNvPr id="34" name="Text 32"/>
          <p:cNvSpPr txBox="1"/>
          <p:nvPr/>
        </p:nvSpPr>
        <p:spPr>
          <a:xfrm>
            <a:off x="3794760" y="4123944"/>
            <a:ext cx="548640" cy="246888"/>
          </a:xfrm>
          <a:prstGeom prst="rect">
            <a:avLst/>
          </a:prstGeom>
          <a:noFill/>
          <a:ln/>
        </p:spPr>
        <p:txBody>
          <a:bodyPr wrap="square" lIns="0" tIns="0" rIns="0" bIns="0" rtlCol="0" anchor="ctr"/>
          <a:lstStyle/>
          <a:p>
            <a:pPr algn="ctr" indent="0" marL="0">
              <a:buNone/>
            </a:pPr>
            <a:r>
              <a:rPr lang="en-US" sz="1000" dirty="0">
                <a:solidFill>
                  <a:schemeClr val="bg1"/>
                </a:solidFill>
              </a:rPr>
              <a:t>legal</a:t>
            </a:r>
            <a:endParaRPr lang="en-US" sz="1000" dirty="0"/>
          </a:p>
        </p:txBody>
      </p:sp>
      <p:sp>
        <p:nvSpPr>
          <p:cNvPr id="35" name="Text 33"/>
          <p:cNvSpPr txBox="1"/>
          <p:nvPr/>
        </p:nvSpPr>
        <p:spPr>
          <a:xfrm>
            <a:off x="4572000" y="4014216"/>
            <a:ext cx="914400" cy="457200"/>
          </a:xfrm>
          <a:prstGeom prst="rect">
            <a:avLst/>
          </a:prstGeom>
          <a:noFill/>
          <a:ln/>
        </p:spPr>
        <p:txBody>
          <a:bodyPr wrap="square" lIns="0" tIns="0" rIns="0" bIns="0" rtlCol="0" anchor="ctr"/>
          <a:lstStyle/>
          <a:p>
            <a:pPr indent="0" marL="0">
              <a:buNone/>
            </a:pPr>
            <a:r>
              <a:rPr lang="en-US" sz="1300" dirty="0">
                <a:solidFill>
                  <a:schemeClr val="tx1"/>
                </a:solidFill>
              </a:rPr>
              <a:t>4 Dec</a:t>
            </a:r>
            <a:endParaRPr lang="en-US" sz="1300" dirty="0"/>
          </a:p>
        </p:txBody>
      </p:sp>
      <p:sp>
        <p:nvSpPr>
          <p:cNvPr id="36" name="button 3"/>
          <p:cNvSpPr/>
          <p:nvPr/>
        </p:nvSpPr>
        <p:spPr>
          <a:xfrm>
            <a:off x="5577840" y="4087368"/>
            <a:ext cx="1645920" cy="329184"/>
          </a:xfrm>
          <a:prstGeom prst="roundRect">
            <a:avLst>
              <a:gd name="adj" fmla="val 22222"/>
            </a:avLst>
          </a:prstGeom>
          <a:solidFill>
            <a:schemeClr val="bg1"/>
          </a:solidFill>
          <a:ln w="12700">
            <a:solidFill>
              <a:schemeClr val="accent2"/>
            </a:solidFill>
            <a:prstDash val="solid"/>
          </a:ln>
        </p:spPr>
      </p:sp>
      <p:sp>
        <p:nvSpPr>
          <p:cNvPr id="37" name="Text 35"/>
          <p:cNvSpPr txBox="1"/>
          <p:nvPr/>
        </p:nvSpPr>
        <p:spPr>
          <a:xfrm>
            <a:off x="5577840" y="4087368"/>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38" name="row line 4"/>
          <p:cNvSpPr/>
          <p:nvPr/>
        </p:nvSpPr>
        <p:spPr>
          <a:xfrm>
            <a:off x="822960" y="5093208"/>
            <a:ext cx="6400800" cy="0"/>
          </a:xfrm>
          <a:prstGeom prst="line">
            <a:avLst/>
          </a:prstGeom>
          <a:noFill/>
          <a:ln w="9525">
            <a:solidFill>
              <a:schemeClr val="accent3"/>
            </a:solidFill>
            <a:prstDash val="solid"/>
          </a:ln>
        </p:spPr>
      </p:sp>
      <p:sp>
        <p:nvSpPr>
          <p:cNvPr id="39" name="Text 37"/>
          <p:cNvSpPr txBox="1"/>
          <p:nvPr/>
        </p:nvSpPr>
        <p:spPr>
          <a:xfrm>
            <a:off x="822960" y="4581144"/>
            <a:ext cx="3017520" cy="457200"/>
          </a:xfrm>
          <a:prstGeom prst="rect">
            <a:avLst/>
          </a:prstGeom>
          <a:noFill/>
          <a:ln/>
        </p:spPr>
        <p:txBody>
          <a:bodyPr wrap="square" lIns="0" tIns="0" rIns="0" bIns="0" rtlCol="0" anchor="ctr"/>
          <a:lstStyle/>
          <a:p>
            <a:pPr indent="0" marL="0">
              <a:buNone/>
            </a:pPr>
            <a:r>
              <a:rPr lang="en-US" sz="1300" dirty="0">
                <a:solidFill>
                  <a:schemeClr val="tx1"/>
                </a:solidFill>
              </a:rPr>
              <a:t>Energy supplier</a:t>
            </a:r>
            <a:endParaRPr lang="en-US" sz="1300" dirty="0"/>
          </a:p>
        </p:txBody>
      </p:sp>
      <p:sp>
        <p:nvSpPr>
          <p:cNvPr id="40" name="Text 38"/>
          <p:cNvSpPr txBox="1"/>
          <p:nvPr/>
        </p:nvSpPr>
        <p:spPr>
          <a:xfrm>
            <a:off x="4572000" y="4581144"/>
            <a:ext cx="914400" cy="457200"/>
          </a:xfrm>
          <a:prstGeom prst="rect">
            <a:avLst/>
          </a:prstGeom>
          <a:noFill/>
          <a:ln/>
        </p:spPr>
        <p:txBody>
          <a:bodyPr wrap="square" lIns="0" tIns="0" rIns="0" bIns="0" rtlCol="0" anchor="ctr"/>
          <a:lstStyle/>
          <a:p>
            <a:pPr indent="0" marL="0">
              <a:buNone/>
            </a:pPr>
            <a:r>
              <a:rPr lang="en-US" sz="1300" dirty="0">
                <a:solidFill>
                  <a:schemeClr val="tx1"/>
                </a:solidFill>
              </a:rPr>
              <a:t>2 Dec</a:t>
            </a:r>
            <a:endParaRPr lang="en-US" sz="1300" dirty="0"/>
          </a:p>
        </p:txBody>
      </p:sp>
      <p:sp>
        <p:nvSpPr>
          <p:cNvPr id="41" name="button 4"/>
          <p:cNvSpPr/>
          <p:nvPr/>
        </p:nvSpPr>
        <p:spPr>
          <a:xfrm>
            <a:off x="5577840" y="4654296"/>
            <a:ext cx="1645920" cy="329184"/>
          </a:xfrm>
          <a:prstGeom prst="roundRect">
            <a:avLst>
              <a:gd name="adj" fmla="val 22222"/>
            </a:avLst>
          </a:prstGeom>
          <a:solidFill>
            <a:schemeClr val="bg1"/>
          </a:solidFill>
          <a:ln w="12700">
            <a:solidFill>
              <a:schemeClr val="accent2"/>
            </a:solidFill>
            <a:prstDash val="solid"/>
          </a:ln>
        </p:spPr>
      </p:sp>
      <p:sp>
        <p:nvSpPr>
          <p:cNvPr id="42" name="Text 40"/>
          <p:cNvSpPr txBox="1"/>
          <p:nvPr/>
        </p:nvSpPr>
        <p:spPr>
          <a:xfrm>
            <a:off x="5577840" y="4654296"/>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43" name="Text 41"/>
          <p:cNvSpPr txBox="1"/>
          <p:nvPr/>
        </p:nvSpPr>
        <p:spPr>
          <a:xfrm>
            <a:off x="822960" y="5349240"/>
            <a:ext cx="6400800" cy="365760"/>
          </a:xfrm>
          <a:prstGeom prst="rect">
            <a:avLst/>
          </a:prstGeom>
          <a:noFill/>
          <a:ln/>
        </p:spPr>
        <p:txBody>
          <a:bodyPr wrap="square" lIns="0" tIns="0" rIns="0" bIns="0" rtlCol="0" anchor="ctr"/>
          <a:lstStyle/>
          <a:p>
            <a:pPr indent="0" marL="0">
              <a:buNone/>
            </a:pPr>
            <a:r>
              <a:rPr lang="en-US" sz="1200" i="1" dirty="0">
                <a:solidFill>
                  <a:schemeClr val="accent6"/>
                </a:solidFill>
              </a:rPr>
              <a:t>House Move app: Move, Chat and Account tabs</a:t>
            </a:r>
            <a:endParaRPr lang="en-US" sz="1200" dirty="0"/>
          </a:p>
        </p:txBody>
      </p:sp>
      <p:sp>
        <p:nvSpPr>
          <p:cNvPr id="44" name="Stage and next step circle"/>
          <p:cNvSpPr/>
          <p:nvPr/>
        </p:nvSpPr>
        <p:spPr>
          <a:xfrm>
            <a:off x="7863840" y="1463040"/>
            <a:ext cx="685800" cy="685800"/>
          </a:xfrm>
          <a:prstGeom prst="ellipse">
            <a:avLst/>
          </a:prstGeom>
          <a:solidFill>
            <a:schemeClr val="accent2"/>
          </a:solidFill>
          <a:ln/>
        </p:spPr>
      </p:sp>
      <p:pic>
        <p:nvPicPr>
          <p:cNvPr id="45" name="Stage and next step icon" descr="preencoded.png">    </p:cNvPr>
          <p:cNvPicPr>
            <a:picLocks noChangeAspect="1"/>
          </p:cNvPicPr>
          <p:nvPr/>
        </p:nvPicPr>
        <p:blipFill>
          <a:blip r:embed="rId1"/>
          <a:stretch>
            <a:fillRect/>
          </a:stretch>
        </p:blipFill>
        <p:spPr>
          <a:xfrm>
            <a:off x="8035290" y="1634490"/>
            <a:ext cx="342900" cy="342900"/>
          </a:xfrm>
          <a:prstGeom prst="rect">
            <a:avLst/>
          </a:prstGeom>
        </p:spPr>
      </p:pic>
      <p:sp>
        <p:nvSpPr>
          <p:cNvPr id="46" name="Text 43"/>
          <p:cNvSpPr txBox="1"/>
          <p:nvPr/>
        </p:nvSpPr>
        <p:spPr>
          <a:xfrm>
            <a:off x="8732520" y="141732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One next step at a time</a:t>
            </a:r>
            <a:endParaRPr lang="en-US" sz="1700" dirty="0"/>
          </a:p>
          <a:p>
            <a:pPr indent="0" marL="0">
              <a:buNone/>
            </a:pPr>
            <a:r>
              <a:rPr lang="en-US" sz="1400" dirty="0">
                <a:solidFill>
                  <a:schemeClr val="tx1"/>
                </a:solidFill>
              </a:rPr>
              <a:t>A card on the Move tab and under every chat reply takes you there</a:t>
            </a:r>
            <a:endParaRPr lang="en-US" sz="1700" dirty="0"/>
          </a:p>
        </p:txBody>
      </p:sp>
      <p:sp>
        <p:nvSpPr>
          <p:cNvPr id="47" name="Read, then approve circle"/>
          <p:cNvSpPr/>
          <p:nvPr/>
        </p:nvSpPr>
        <p:spPr>
          <a:xfrm>
            <a:off x="7863840" y="2971800"/>
            <a:ext cx="685800" cy="685800"/>
          </a:xfrm>
          <a:prstGeom prst="ellipse">
            <a:avLst/>
          </a:prstGeom>
          <a:solidFill>
            <a:schemeClr val="accent2"/>
          </a:solidFill>
          <a:ln/>
        </p:spPr>
      </p:sp>
      <p:pic>
        <p:nvPicPr>
          <p:cNvPr id="48" name="Read, then approve icon" descr="preencoded.png">    </p:cNvPr>
          <p:cNvPicPr>
            <a:picLocks noChangeAspect="1"/>
          </p:cNvPicPr>
          <p:nvPr/>
        </p:nvPicPr>
        <p:blipFill>
          <a:blip r:embed="rId2"/>
          <a:stretch>
            <a:fillRect/>
          </a:stretch>
        </p:blipFill>
        <p:spPr>
          <a:xfrm>
            <a:off x="8035290" y="3143250"/>
            <a:ext cx="342900" cy="342900"/>
          </a:xfrm>
          <a:prstGeom prst="rect">
            <a:avLst/>
          </a:prstGeom>
        </p:spPr>
      </p:pic>
      <p:sp>
        <p:nvSpPr>
          <p:cNvPr id="49" name="Text 45"/>
          <p:cNvSpPr txBox="1"/>
          <p:nvPr/>
        </p:nvSpPr>
        <p:spPr>
          <a:xfrm>
            <a:off x="8732520" y="292608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Approve all, or one by one</a:t>
            </a:r>
            <a:endParaRPr lang="en-US" sz="1700" dirty="0"/>
          </a:p>
          <a:p>
            <a:pPr indent="0" marL="0">
              <a:buNone/>
            </a:pPr>
            <a:r>
              <a:rPr lang="en-US" sz="1400" dirty="0">
                <a:solidFill>
                  <a:schemeClr val="tx1"/>
                </a:solidFill>
              </a:rPr>
              <a:t>Read every letter, then approve, change or skip it, tied to that exact wording</a:t>
            </a:r>
            <a:endParaRPr lang="en-US" sz="1700" dirty="0"/>
          </a:p>
        </p:txBody>
      </p:sp>
      <p:sp>
        <p:nvSpPr>
          <p:cNvPr id="50" name="Legal duties one by one circle"/>
          <p:cNvSpPr/>
          <p:nvPr/>
        </p:nvSpPr>
        <p:spPr>
          <a:xfrm>
            <a:off x="7863840" y="4480560"/>
            <a:ext cx="685800" cy="685800"/>
          </a:xfrm>
          <a:prstGeom prst="ellipse">
            <a:avLst/>
          </a:prstGeom>
          <a:solidFill>
            <a:schemeClr val="accent1"/>
          </a:solidFill>
          <a:ln/>
        </p:spPr>
      </p:sp>
      <p:pic>
        <p:nvPicPr>
          <p:cNvPr id="51" name="Legal duties one by one icon" descr="preencoded.png">    </p:cNvPr>
          <p:cNvPicPr>
            <a:picLocks noChangeAspect="1"/>
          </p:cNvPicPr>
          <p:nvPr/>
        </p:nvPicPr>
        <p:blipFill>
          <a:blip r:embed="rId3"/>
          <a:stretch>
            <a:fillRect/>
          </a:stretch>
        </p:blipFill>
        <p:spPr>
          <a:xfrm>
            <a:off x="8035290" y="4652010"/>
            <a:ext cx="342900" cy="342900"/>
          </a:xfrm>
          <a:prstGeom prst="rect">
            <a:avLst/>
          </a:prstGeom>
        </p:spPr>
      </p:pic>
      <p:sp>
        <p:nvSpPr>
          <p:cNvPr id="52" name="Text 47"/>
          <p:cNvSpPr txBox="1"/>
          <p:nvPr/>
        </p:nvSpPr>
        <p:spPr>
          <a:xfrm>
            <a:off x="8732520" y="443484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Legal duties one by one</a:t>
            </a:r>
            <a:endParaRPr lang="en-US" sz="1700" dirty="0"/>
          </a:p>
          <a:p>
            <a:pPr indent="0" marL="0">
              <a:buNone/>
            </a:pPr>
            <a:r>
              <a:rPr lang="en-US" sz="1400" dirty="0">
                <a:solidFill>
                  <a:schemeClr val="tx1"/>
                </a:solidFill>
              </a:rPr>
              <a:t>Never in "approve all"; a reworded draft needs approving again</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Sent for you, or ready for you to send</a:t>
            </a:r>
            <a:endParaRPr lang="en-US" sz="3400" dirty="0"/>
          </a:p>
        </p:txBody>
      </p:sp>
      <p:sp>
        <p:nvSpPr>
          <p:cNvPr id="3" name="Bank customer card"/>
          <p:cNvSpPr/>
          <p:nvPr/>
        </p:nvSpPr>
        <p:spPr>
          <a:xfrm>
            <a:off x="548640" y="1463040"/>
            <a:ext cx="5394960" cy="4480560"/>
          </a:xfrm>
          <a:prstGeom prst="roundRect">
            <a:avLst>
              <a:gd name="adj" fmla="val 2449"/>
            </a:avLst>
          </a:prstGeom>
          <a:solidFill>
            <a:schemeClr val="bg2"/>
          </a:solidFill>
          <a:ln/>
        </p:spPr>
      </p:sp>
      <p:sp>
        <p:nvSpPr>
          <p:cNvPr id="4" name="Bank customer circle"/>
          <p:cNvSpPr/>
          <p:nvPr/>
        </p:nvSpPr>
        <p:spPr>
          <a:xfrm>
            <a:off x="868680" y="1737360"/>
            <a:ext cx="822960" cy="822960"/>
          </a:xfrm>
          <a:prstGeom prst="ellipse">
            <a:avLst/>
          </a:prstGeom>
          <a:solidFill>
            <a:schemeClr val="accent2"/>
          </a:solidFill>
          <a:ln/>
        </p:spPr>
      </p:sp>
      <p:pic>
        <p:nvPicPr>
          <p:cNvPr id="5" name="Sent for you icon"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187452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Sent for you</a:t>
            </a:r>
            <a:endParaRPr lang="en-US" sz="2400" dirty="0"/>
          </a:p>
        </p:txBody>
      </p:sp>
      <p:sp>
        <p:nvSpPr>
          <p:cNvPr id="7" name="Text 4"/>
          <p:cNvSpPr txBox="1"/>
          <p:nvPr/>
        </p:nvSpPr>
        <p:spPr>
          <a:xfrm>
            <a:off x="187452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Complete emails with every reference known</a:t>
            </a:r>
            <a:endParaRPr lang="en-US" sz="1500" dirty="0"/>
          </a:p>
        </p:txBody>
      </p:sp>
      <p:sp>
        <p:nvSpPr>
          <p:cNvPr id="8" name="Text 5"/>
          <p:cNvSpPr txBox="1"/>
          <p:nvPr/>
        </p:nvSpPr>
        <p:spPr>
          <a:xfrm>
            <a:off x="91440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Account, policy and licence numbers filled in from your Direct Debits</a:t>
            </a:r>
            <a:endParaRPr lang="en-US" sz="1700" dirty="0"/>
          </a:p>
          <a:p>
            <a:pPr marL="342900" indent="-342900">
              <a:spcAft>
                <a:spcPts val="1000"/>
              </a:spcAft>
              <a:buSzPct val="100000"/>
              <a:buChar char="•"/>
            </a:pPr>
            <a:r>
              <a:rPr lang="en-US" sz="1700" dirty="0">
                <a:solidFill>
                  <a:schemeClr val="tx1"/>
                </a:solidFill>
              </a:rPr>
              <a:t>Delivered straight to the organisation</a:t>
            </a:r>
            <a:endParaRPr lang="en-US" sz="1700" dirty="0"/>
          </a:p>
          <a:p>
            <a:pPr marL="342900" indent="-342900">
              <a:spcAft>
                <a:spcPts val="1000"/>
              </a:spcAft>
              <a:buSzPct val="100000"/>
              <a:buChar char="•"/>
            </a:pPr>
            <a:r>
              <a:rPr lang="en-US" sz="1700" dirty="0">
                <a:solidFill>
                  <a:schemeClr val="tx1"/>
                </a:solidFill>
              </a:rPr>
              <a:t>Replies come back here; the bank updates its own records</a:t>
            </a:r>
            <a:endParaRPr lang="en-US" sz="1700" dirty="0"/>
          </a:p>
        </p:txBody>
      </p:sp>
      <p:sp>
        <p:nvSpPr>
          <p:cNvPr id="9" name="Standalone card"/>
          <p:cNvSpPr/>
          <p:nvPr/>
        </p:nvSpPr>
        <p:spPr>
          <a:xfrm>
            <a:off x="6217920" y="1463040"/>
            <a:ext cx="5394960" cy="4480560"/>
          </a:xfrm>
          <a:prstGeom prst="roundRect">
            <a:avLst>
              <a:gd name="adj" fmla="val 2449"/>
            </a:avLst>
          </a:prstGeom>
          <a:solidFill>
            <a:schemeClr val="bg2"/>
          </a:solidFill>
          <a:ln/>
        </p:spPr>
      </p:sp>
      <p:sp>
        <p:nvSpPr>
          <p:cNvPr id="10" name="Standalone circle"/>
          <p:cNvSpPr/>
          <p:nvPr/>
        </p:nvSpPr>
        <p:spPr>
          <a:xfrm>
            <a:off x="6537960" y="1737360"/>
            <a:ext cx="822960" cy="822960"/>
          </a:xfrm>
          <a:prstGeom prst="ellipse">
            <a:avLst/>
          </a:prstGeom>
          <a:solidFill>
            <a:schemeClr val="accent1"/>
          </a:solidFill>
          <a:ln/>
        </p:spPr>
      </p:sp>
      <p:pic>
        <p:nvPicPr>
          <p:cNvPr id="11" name="Ready for you to send icon" descr="preencoded.png">    </p:cNvPr>
          <p:cNvPicPr>
            <a:picLocks noChangeAspect="1"/>
          </p:cNvPicPr>
          <p:nvPr/>
        </p:nvPicPr>
        <p:blipFill>
          <a:blip r:embed="rId2"/>
          <a:stretch>
            <a:fillRect/>
          </a:stretch>
        </p:blipFill>
        <p:spPr>
          <a:xfrm>
            <a:off x="6743700" y="1943100"/>
            <a:ext cx="411480" cy="411480"/>
          </a:xfrm>
          <a:prstGeom prst="rect">
            <a:avLst/>
          </a:prstGeom>
        </p:spPr>
      </p:pic>
      <p:sp>
        <p:nvSpPr>
          <p:cNvPr id="12" name="Text 8"/>
          <p:cNvSpPr txBox="1"/>
          <p:nvPr/>
        </p:nvSpPr>
        <p:spPr>
          <a:xfrm>
            <a:off x="754380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Ready for you to send</a:t>
            </a:r>
            <a:endParaRPr lang="en-US" sz="2400" dirty="0"/>
          </a:p>
        </p:txBody>
      </p:sp>
      <p:sp>
        <p:nvSpPr>
          <p:cNvPr id="13" name="Text 9"/>
          <p:cNvSpPr txBox="1"/>
          <p:nvPr/>
        </p:nvSpPr>
        <p:spPr>
          <a:xfrm>
            <a:off x="754380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Forms, calls, or details only you have</a:t>
            </a:r>
            <a:endParaRPr lang="en-US" sz="1500" dirty="0"/>
          </a:p>
        </p:txBody>
      </p:sp>
      <p:sp>
        <p:nvSpPr>
          <p:cNvPr id="14" name="Text 10"/>
          <p:cNvSpPr txBox="1"/>
          <p:nvPr/>
        </p:nvSpPr>
        <p:spPr>
          <a:xfrm>
            <a:off x="658368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Tap the letter: filled in with your details as you open it</a:t>
            </a:r>
            <a:endParaRPr lang="en-US" sz="1700" dirty="0"/>
          </a:p>
          <a:p>
            <a:pPr marL="342900" indent="-342900">
              <a:spcAft>
                <a:spcPts val="1000"/>
              </a:spcAft>
              <a:buSzPct val="100000"/>
              <a:buChar char="•"/>
            </a:pPr>
            <a:r>
              <a:rPr lang="en-US" sz="1700" dirty="0">
                <a:solidFill>
                  <a:schemeClr val="tx1"/>
                </a:solidFill>
              </a:rPr>
              <a:t>What to add, then Copy text and Open the organisation's page</a:t>
            </a:r>
            <a:endParaRPr lang="en-US" sz="1700" dirty="0"/>
          </a:p>
          <a:p>
            <a:pPr marL="342900" indent="-342900">
              <a:spcAft>
                <a:spcPts val="1000"/>
              </a:spcAft>
              <a:buSzPct val="100000"/>
              <a:buChar char="•"/>
            </a:pPr>
            <a:r>
              <a:rPr lang="en-US" sz="1700" dirty="0">
                <a:solidFill>
                  <a:schemeClr val="tx1"/>
                </a:solidFill>
              </a:rPr>
              <a:t>Tap "I've sent it" and the plan shows it as sent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Works across all four UK nations</a:t>
            </a:r>
            <a:endParaRPr lang="en-US" sz="3400" dirty="0"/>
          </a:p>
        </p:txBody>
      </p:sp>
      <p:sp>
        <p:nvSpPr>
          <p:cNvPr id="3" name="England"/>
          <p:cNvSpPr/>
          <p:nvPr/>
        </p:nvSpPr>
        <p:spPr>
          <a:xfrm>
            <a:off x="548640" y="1463040"/>
            <a:ext cx="2606040" cy="3291840"/>
          </a:xfrm>
          <a:prstGeom prst="roundRect">
            <a:avLst>
              <a:gd name="adj" fmla="val 4211"/>
            </a:avLst>
          </a:prstGeom>
          <a:solidFill>
            <a:schemeClr val="bg2"/>
          </a:solidFill>
          <a:ln/>
        </p:spPr>
      </p:sp>
      <p:sp>
        <p:nvSpPr>
          <p:cNvPr id="4" name="England dot"/>
          <p:cNvSpPr/>
          <p:nvPr/>
        </p:nvSpPr>
        <p:spPr>
          <a:xfrm>
            <a:off x="822960" y="1737360"/>
            <a:ext cx="502920" cy="502920"/>
          </a:xfrm>
          <a:prstGeom prst="ellipse">
            <a:avLst/>
          </a:prstGeom>
          <a:solidFill>
            <a:schemeClr val="accent2"/>
          </a:solidFill>
          <a:ln/>
        </p:spPr>
      </p:sp>
      <p:sp>
        <p:nvSpPr>
          <p:cNvPr id="5" name="Text 3"/>
          <p:cNvSpPr txBox="1"/>
          <p:nvPr/>
        </p:nvSpPr>
        <p:spPr>
          <a:xfrm>
            <a:off x="822960"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England</a:t>
            </a:r>
            <a:endParaRPr lang="en-US" sz="2000" dirty="0"/>
          </a:p>
        </p:txBody>
      </p:sp>
      <p:sp>
        <p:nvSpPr>
          <p:cNvPr id="6" name="Text 4"/>
          <p:cNvSpPr txBox="1"/>
          <p:nvPr/>
        </p:nvSpPr>
        <p:spPr>
          <a:xfrm>
            <a:off x="822960"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Council tax, a water company for the old and new home, NHS GP and school search</a:t>
            </a:r>
            <a:endParaRPr lang="en-US" sz="1500" dirty="0"/>
          </a:p>
        </p:txBody>
      </p:sp>
      <p:sp>
        <p:nvSpPr>
          <p:cNvPr id="7" name="Wales"/>
          <p:cNvSpPr/>
          <p:nvPr/>
        </p:nvSpPr>
        <p:spPr>
          <a:xfrm>
            <a:off x="3364992" y="1463040"/>
            <a:ext cx="2606040" cy="3291840"/>
          </a:xfrm>
          <a:prstGeom prst="roundRect">
            <a:avLst>
              <a:gd name="adj" fmla="val 4211"/>
            </a:avLst>
          </a:prstGeom>
          <a:solidFill>
            <a:schemeClr val="bg2"/>
          </a:solidFill>
          <a:ln/>
        </p:spPr>
      </p:sp>
      <p:sp>
        <p:nvSpPr>
          <p:cNvPr id="8" name="Wales dot"/>
          <p:cNvSpPr/>
          <p:nvPr/>
        </p:nvSpPr>
        <p:spPr>
          <a:xfrm>
            <a:off x="3639312" y="1737360"/>
            <a:ext cx="502920" cy="502920"/>
          </a:xfrm>
          <a:prstGeom prst="ellipse">
            <a:avLst/>
          </a:prstGeom>
          <a:solidFill>
            <a:schemeClr val="accent1"/>
          </a:solidFill>
          <a:ln/>
        </p:spPr>
      </p:sp>
      <p:sp>
        <p:nvSpPr>
          <p:cNvPr id="9" name="Text 7"/>
          <p:cNvSpPr txBox="1"/>
          <p:nvPr/>
        </p:nvSpPr>
        <p:spPr>
          <a:xfrm>
            <a:off x="3639312"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Wales</a:t>
            </a:r>
            <a:endParaRPr lang="en-US" sz="2000" dirty="0"/>
          </a:p>
        </p:txBody>
      </p:sp>
      <p:sp>
        <p:nvSpPr>
          <p:cNvPr id="10" name="Text 8"/>
          <p:cNvSpPr txBox="1"/>
          <p:nvPr/>
        </p:nvSpPr>
        <p:spPr>
          <a:xfrm>
            <a:off x="3639312"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Close the Welsh water account; Welsh GP and school finders signposted</a:t>
            </a:r>
            <a:endParaRPr lang="en-US" sz="1500" dirty="0"/>
          </a:p>
        </p:txBody>
      </p:sp>
      <p:sp>
        <p:nvSpPr>
          <p:cNvPr id="11" name="Scotland"/>
          <p:cNvSpPr/>
          <p:nvPr/>
        </p:nvSpPr>
        <p:spPr>
          <a:xfrm>
            <a:off x="6181344" y="1463040"/>
            <a:ext cx="2606040" cy="3291840"/>
          </a:xfrm>
          <a:prstGeom prst="roundRect">
            <a:avLst>
              <a:gd name="adj" fmla="val 4211"/>
            </a:avLst>
          </a:prstGeom>
          <a:solidFill>
            <a:schemeClr val="bg2"/>
          </a:solidFill>
          <a:ln/>
        </p:spPr>
      </p:sp>
      <p:sp>
        <p:nvSpPr>
          <p:cNvPr id="12" name="Scotland dot"/>
          <p:cNvSpPr/>
          <p:nvPr/>
        </p:nvSpPr>
        <p:spPr>
          <a:xfrm>
            <a:off x="6455664" y="1737360"/>
            <a:ext cx="502920" cy="502920"/>
          </a:xfrm>
          <a:prstGeom prst="ellipse">
            <a:avLst/>
          </a:prstGeom>
          <a:solidFill>
            <a:schemeClr val="accent5"/>
          </a:solidFill>
          <a:ln/>
        </p:spPr>
      </p:sp>
      <p:sp>
        <p:nvSpPr>
          <p:cNvPr id="13" name="Text 11"/>
          <p:cNvSpPr txBox="1"/>
          <p:nvPr/>
        </p:nvSpPr>
        <p:spPr>
          <a:xfrm>
            <a:off x="6455664"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Scotland</a:t>
            </a:r>
            <a:endParaRPr lang="en-US" sz="2000" dirty="0"/>
          </a:p>
        </p:txBody>
      </p:sp>
      <p:sp>
        <p:nvSpPr>
          <p:cNvPr id="14" name="Text 12"/>
          <p:cNvSpPr txBox="1"/>
          <p:nvPr/>
        </p:nvSpPr>
        <p:spPr>
          <a:xfrm>
            <a:off x="6455664"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Water billed with council tax, Scottish bank holidays, Scottish GP finder</a:t>
            </a:r>
            <a:endParaRPr lang="en-US" sz="1500" dirty="0"/>
          </a:p>
        </p:txBody>
      </p:sp>
      <p:sp>
        <p:nvSpPr>
          <p:cNvPr id="15" name="Northern Ireland"/>
          <p:cNvSpPr/>
          <p:nvPr/>
        </p:nvSpPr>
        <p:spPr>
          <a:xfrm>
            <a:off x="8997696" y="1463040"/>
            <a:ext cx="2606040" cy="3291840"/>
          </a:xfrm>
          <a:prstGeom prst="roundRect">
            <a:avLst>
              <a:gd name="adj" fmla="val 4211"/>
            </a:avLst>
          </a:prstGeom>
          <a:solidFill>
            <a:schemeClr val="bg2"/>
          </a:solidFill>
          <a:ln/>
        </p:spPr>
      </p:sp>
      <p:sp>
        <p:nvSpPr>
          <p:cNvPr id="16" name="Northern Ireland dot"/>
          <p:cNvSpPr/>
          <p:nvPr/>
        </p:nvSpPr>
        <p:spPr>
          <a:xfrm>
            <a:off x="9272016" y="1737360"/>
            <a:ext cx="502920" cy="502920"/>
          </a:xfrm>
          <a:prstGeom prst="ellipse">
            <a:avLst/>
          </a:prstGeom>
          <a:solidFill>
            <a:schemeClr val="accent3"/>
          </a:solidFill>
          <a:ln/>
        </p:spPr>
      </p:sp>
      <p:sp>
        <p:nvSpPr>
          <p:cNvPr id="17" name="Text 15"/>
          <p:cNvSpPr txBox="1"/>
          <p:nvPr/>
        </p:nvSpPr>
        <p:spPr>
          <a:xfrm>
            <a:off x="9272016"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Northern Ireland</a:t>
            </a:r>
            <a:endParaRPr lang="en-US" sz="2000" dirty="0"/>
          </a:p>
        </p:txBody>
      </p:sp>
      <p:sp>
        <p:nvSpPr>
          <p:cNvPr id="18" name="Text 16"/>
          <p:cNvSpPr txBox="1"/>
          <p:nvPr/>
        </p:nvSpPr>
        <p:spPr>
          <a:xfrm>
            <a:off x="9272016"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Domestic rates through Land &amp; Property Services; NI licence route via DVLA</a:t>
            </a:r>
            <a:endParaRPr lang="en-US" sz="1500" dirty="0"/>
          </a:p>
        </p:txBody>
      </p:sp>
      <p:sp>
        <p:nvSpPr>
          <p:cNvPr id="19" name="Text 17"/>
          <p:cNvSpPr txBox="1"/>
          <p:nvPr/>
        </p:nvSpPr>
        <p:spPr>
          <a:xfrm>
            <a:off x="548640" y="5074920"/>
            <a:ext cx="11064240" cy="731520"/>
          </a:xfrm>
          <a:prstGeom prst="rect">
            <a:avLst/>
          </a:prstGeom>
          <a:noFill/>
          <a:ln/>
        </p:spPr>
        <p:txBody>
          <a:bodyPr wrap="square" lIns="0" tIns="0" rIns="0" bIns="0" rtlCol="0" anchor="ctr"/>
          <a:lstStyle/>
          <a:p>
            <a:pPr indent="0" marL="0">
              <a:buNone/>
            </a:pPr>
            <a:r>
              <a:rPr lang="en-US" sz="1600" dirty="0">
                <a:solidFill>
                  <a:schemeClr val="tx1"/>
                </a:solidFill>
              </a:rPr>
              <a:t>Tested with five customers: Leeds → Harrogate, Halifax → Chelmsford, Glasgow → Darlington, Cardiff → Edinburgh, Belfast → Leeds, plus a standalone Bristol → Nottingham move.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Who to contact near the new home</a:t>
            </a:r>
            <a:endParaRPr lang="en-US" sz="3400" dirty="0"/>
          </a:p>
        </p:txBody>
      </p:sp>
      <p:sp>
        <p:nvSpPr>
          <p:cNvPr id="3" name="GP practices"/>
          <p:cNvSpPr/>
          <p:nvPr/>
        </p:nvSpPr>
        <p:spPr>
          <a:xfrm>
            <a:off x="548640" y="1463040"/>
            <a:ext cx="3474720" cy="4023360"/>
          </a:xfrm>
          <a:prstGeom prst="roundRect">
            <a:avLst>
              <a:gd name="adj" fmla="val 3158"/>
            </a:avLst>
          </a:prstGeom>
          <a:solidFill>
            <a:schemeClr val="bg2"/>
          </a:solidFill>
          <a:ln/>
        </p:spPr>
      </p:sp>
      <p:sp>
        <p:nvSpPr>
          <p:cNvPr id="4" name="GP practices circle"/>
          <p:cNvSpPr/>
          <p:nvPr/>
        </p:nvSpPr>
        <p:spPr>
          <a:xfrm>
            <a:off x="822960" y="1691640"/>
            <a:ext cx="731520" cy="731520"/>
          </a:xfrm>
          <a:prstGeom prst="ellipse">
            <a:avLst/>
          </a:prstGeom>
          <a:solidFill>
            <a:schemeClr val="accent2"/>
          </a:solidFill>
          <a:ln/>
        </p:spPr>
      </p:sp>
      <p:pic>
        <p:nvPicPr>
          <p:cNvPr id="5" name="GP practices icon"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69164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GP practices</a:t>
            </a:r>
            <a:endParaRPr lang="en-US" sz="22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NHS Organisation Data Service, live</a:t>
            </a:r>
            <a:endParaRPr lang="en-US" sz="1300" dirty="0"/>
          </a:p>
        </p:txBody>
      </p:sp>
      <p:sp>
        <p:nvSpPr>
          <p:cNvPr id="8" name="Text 5"/>
          <p:cNvSpPr txBox="1"/>
          <p:nvPr/>
        </p:nvSpPr>
        <p:spPr>
          <a:xfrm>
            <a:off x="82296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Burton Croft Surgery · 0.2 km</a:t>
            </a:r>
            <a:endParaRPr lang="en-US" sz="1500" dirty="0"/>
          </a:p>
          <a:p>
            <a:pPr marL="342900" indent="-342900">
              <a:spcAft>
                <a:spcPts val="800"/>
              </a:spcAft>
              <a:buSzPct val="100000"/>
              <a:buChar char="•"/>
            </a:pPr>
            <a:r>
              <a:rPr lang="en-US" sz="1500" dirty="0">
                <a:solidFill>
                  <a:schemeClr val="tx1"/>
                </a:solidFill>
              </a:rPr>
              <a:t>Laurel Bank Surgery · 0.6 km</a:t>
            </a:r>
            <a:endParaRPr lang="en-US" sz="1500" dirty="0"/>
          </a:p>
          <a:p>
            <a:pPr marL="342900" indent="-342900">
              <a:spcAft>
                <a:spcPts val="800"/>
              </a:spcAft>
              <a:buSzPct val="100000"/>
              <a:buChar char="•"/>
            </a:pPr>
            <a:r>
              <a:rPr lang="en-US" sz="1500" dirty="0">
                <a:solidFill>
                  <a:schemeClr val="tx1"/>
                </a:solidFill>
              </a:rPr>
              <a:t>Meanwood Health Centre · 1.3 km</a:t>
            </a:r>
            <a:endParaRPr lang="en-US" sz="1500" dirty="0"/>
          </a:p>
        </p:txBody>
      </p:sp>
      <p:sp>
        <p:nvSpPr>
          <p:cNvPr id="9" name="Schools"/>
          <p:cNvSpPr/>
          <p:nvPr/>
        </p:nvSpPr>
        <p:spPr>
          <a:xfrm>
            <a:off x="4297680" y="1463040"/>
            <a:ext cx="3474720" cy="4023360"/>
          </a:xfrm>
          <a:prstGeom prst="roundRect">
            <a:avLst>
              <a:gd name="adj" fmla="val 3158"/>
            </a:avLst>
          </a:prstGeom>
          <a:solidFill>
            <a:schemeClr val="bg2"/>
          </a:solidFill>
          <a:ln/>
        </p:spPr>
      </p:sp>
      <p:sp>
        <p:nvSpPr>
          <p:cNvPr id="10" name="Schools circle"/>
          <p:cNvSpPr/>
          <p:nvPr/>
        </p:nvSpPr>
        <p:spPr>
          <a:xfrm>
            <a:off x="4572000" y="1691640"/>
            <a:ext cx="731520" cy="731520"/>
          </a:xfrm>
          <a:prstGeom prst="ellipse">
            <a:avLst/>
          </a:prstGeom>
          <a:solidFill>
            <a:schemeClr val="accent2"/>
          </a:solidFill>
          <a:ln/>
        </p:spPr>
      </p:sp>
      <p:pic>
        <p:nvPicPr>
          <p:cNvPr id="11" name="Schools icon" descr="preencoded.png">    </p:cNvPr>
          <p:cNvPicPr>
            <a:picLocks noChangeAspect="1"/>
          </p:cNvPicPr>
          <p:nvPr/>
        </p:nvPicPr>
        <p:blipFill>
          <a:blip r:embed="rId2"/>
          <a:stretch>
            <a:fillRect/>
          </a:stretch>
        </p:blipFill>
        <p:spPr>
          <a:xfrm>
            <a:off x="4754880" y="1874520"/>
            <a:ext cx="365760" cy="365760"/>
          </a:xfrm>
          <a:prstGeom prst="rect">
            <a:avLst/>
          </a:prstGeom>
        </p:spPr>
      </p:pic>
      <p:sp>
        <p:nvSpPr>
          <p:cNvPr id="12" name="Text 8"/>
          <p:cNvSpPr txBox="1"/>
          <p:nvPr/>
        </p:nvSpPr>
        <p:spPr>
          <a:xfrm>
            <a:off x="544068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Schools</a:t>
            </a:r>
            <a:endParaRPr lang="en-US" sz="2200" dirty="0"/>
          </a:p>
        </p:txBody>
      </p:sp>
      <p:sp>
        <p:nvSpPr>
          <p:cNvPr id="13" name="Text 9"/>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Department for Education, 26,483 schools</a:t>
            </a:r>
            <a:endParaRPr lang="en-US" sz="1300" dirty="0"/>
          </a:p>
        </p:txBody>
      </p:sp>
      <p:sp>
        <p:nvSpPr>
          <p:cNvPr id="14" name="Text 10"/>
          <p:cNvSpPr txBox="1"/>
          <p:nvPr/>
        </p:nvSpPr>
        <p:spPr>
          <a:xfrm>
            <a:off x="457200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Nearest schools for each child's age</a:t>
            </a:r>
            <a:endParaRPr lang="en-US" sz="1500" dirty="0"/>
          </a:p>
          <a:p>
            <a:pPr marL="342900" indent="-342900">
              <a:spcAft>
                <a:spcPts val="800"/>
              </a:spcAft>
              <a:buSzPct val="100000"/>
              <a:buChar char="•"/>
            </a:pPr>
            <a:r>
              <a:rPr lang="en-US" sz="1500" dirty="0">
                <a:solidFill>
                  <a:schemeClr val="tx1"/>
                </a:solidFill>
              </a:rPr>
              <a:t>Phone, website and distance</a:t>
            </a:r>
            <a:endParaRPr lang="en-US" sz="1500" dirty="0"/>
          </a:p>
          <a:p>
            <a:pPr marL="342900" indent="-342900">
              <a:spcAft>
                <a:spcPts val="800"/>
              </a:spcAft>
              <a:buSzPct val="100000"/>
              <a:buChar char="•"/>
            </a:pPr>
            <a:r>
              <a:rPr lang="en-US" sz="1500" dirty="0">
                <a:solidFill>
                  <a:schemeClr val="tx1"/>
                </a:solidFill>
              </a:rPr>
              <a:t>Council admissions and childcare links</a:t>
            </a:r>
            <a:endParaRPr lang="en-US" sz="1500" dirty="0"/>
          </a:p>
        </p:txBody>
      </p:sp>
      <p:sp>
        <p:nvSpPr>
          <p:cNvPr id="15" name="Water"/>
          <p:cNvSpPr/>
          <p:nvPr/>
        </p:nvSpPr>
        <p:spPr>
          <a:xfrm>
            <a:off x="8046720" y="1463040"/>
            <a:ext cx="3474720" cy="4023360"/>
          </a:xfrm>
          <a:prstGeom prst="roundRect">
            <a:avLst>
              <a:gd name="adj" fmla="val 3158"/>
            </a:avLst>
          </a:prstGeom>
          <a:solidFill>
            <a:schemeClr val="bg2"/>
          </a:solidFill>
          <a:ln/>
        </p:spPr>
      </p:sp>
      <p:sp>
        <p:nvSpPr>
          <p:cNvPr id="16" name="Water circle"/>
          <p:cNvSpPr/>
          <p:nvPr/>
        </p:nvSpPr>
        <p:spPr>
          <a:xfrm>
            <a:off x="8321040" y="1691640"/>
            <a:ext cx="731520" cy="731520"/>
          </a:xfrm>
          <a:prstGeom prst="ellipse">
            <a:avLst/>
          </a:prstGeom>
          <a:solidFill>
            <a:schemeClr val="accent2"/>
          </a:solidFill>
          <a:ln/>
        </p:spPr>
      </p:sp>
      <p:pic>
        <p:nvPicPr>
          <p:cNvPr id="17" name="Water icon" descr="preencoded.png">    </p:cNvPr>
          <p:cNvPicPr>
            <a:picLocks noChangeAspect="1"/>
          </p:cNvPicPr>
          <p:nvPr/>
        </p:nvPicPr>
        <p:blipFill>
          <a:blip r:embed="rId3"/>
          <a:stretch>
            <a:fillRect/>
          </a:stretch>
        </p:blipFill>
        <p:spPr>
          <a:xfrm>
            <a:off x="8503920" y="1874520"/>
            <a:ext cx="365760" cy="365760"/>
          </a:xfrm>
          <a:prstGeom prst="rect">
            <a:avLst/>
          </a:prstGeom>
        </p:spPr>
      </p:pic>
      <p:sp>
        <p:nvSpPr>
          <p:cNvPr id="18" name="Text 13"/>
          <p:cNvSpPr txBox="1"/>
          <p:nvPr/>
        </p:nvSpPr>
        <p:spPr>
          <a:xfrm>
            <a:off x="918972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Water</a:t>
            </a:r>
            <a:endParaRPr lang="en-US" sz="2200" dirty="0"/>
          </a:p>
        </p:txBody>
      </p:sp>
      <p:sp>
        <p:nvSpPr>
          <p:cNvPr id="19" name="Text 14"/>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Ofwat's official area maps, live</a:t>
            </a:r>
            <a:endParaRPr lang="en-US" sz="1300" dirty="0"/>
          </a:p>
        </p:txBody>
      </p:sp>
      <p:sp>
        <p:nvSpPr>
          <p:cNvPr id="20" name="Text 15"/>
          <p:cNvSpPr txBox="1"/>
          <p:nvPr/>
        </p:nvSpPr>
        <p:spPr>
          <a:xfrm>
            <a:off x="832104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Yorkshire Water, confirmed</a:t>
            </a:r>
            <a:endParaRPr lang="en-US" sz="1500" dirty="0"/>
          </a:p>
          <a:p>
            <a:pPr marL="342900" indent="-342900">
              <a:spcAft>
                <a:spcPts val="800"/>
              </a:spcAft>
              <a:buSzPct val="100000"/>
              <a:buChar char="•"/>
            </a:pPr>
            <a:r>
              <a:rPr lang="en-US" sz="1500" dirty="0">
                <a:solidFill>
                  <a:schemeClr val="tx1"/>
                </a:solidFill>
              </a:rPr>
              <a:t>Water and sewerage named separately</a:t>
            </a:r>
            <a:endParaRPr lang="en-US" sz="1500" dirty="0"/>
          </a:p>
          <a:p>
            <a:pPr marL="342900" indent="-342900">
              <a:spcAft>
                <a:spcPts val="800"/>
              </a:spcAft>
              <a:buSzPct val="100000"/>
              <a:buChar char="•"/>
            </a:pPr>
            <a:r>
              <a:rPr lang="en-US" sz="1500" dirty="0">
                <a:solidFill>
                  <a:schemeClr val="tx1"/>
                </a:solidFill>
              </a:rPr>
              <a:t>Scotland and NI: no account needed</a:t>
            </a:r>
            <a:endParaRPr lang="en-US" sz="1500" dirty="0"/>
          </a:p>
        </p:txBody>
      </p:sp>
      <p:sp>
        <p:nvSpPr>
          <p:cNvPr id="21" name="Text 16"/>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500" i="1" dirty="0">
                <a:solidFill>
                  <a:schemeClr val="tx2"/>
                </a:solidFill>
              </a:rPr>
              <a:t>Live example: Belfast → Leeds LS6 3BQ. Distance is not catchment: the list says how to check practice areas and school admissions.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Evaluated against ground truth, not just tested</a:t>
            </a:r>
            <a:endParaRPr lang="en-US" sz="3400" dirty="0"/>
          </a:p>
        </p:txBody>
      </p:sp>
      <p:sp>
        <p:nvSpPr>
          <p:cNvPr id="3" name="stat card 1"/>
          <p:cNvSpPr/>
          <p:nvPr/>
        </p:nvSpPr>
        <p:spPr>
          <a:xfrm>
            <a:off x="548640" y="1554480"/>
            <a:ext cx="3474720" cy="2926080"/>
          </a:xfrm>
          <a:prstGeom prst="roundRect">
            <a:avLst>
              <a:gd name="adj" fmla="val 3750"/>
            </a:avLst>
          </a:prstGeom>
          <a:solidFill>
            <a:schemeClr val="bg2"/>
          </a:solidFill>
          <a:ln/>
        </p:spPr>
      </p:sp>
      <p:sp>
        <p:nvSpPr>
          <p:cNvPr id="4" name="stat 1"/>
          <p:cNvSpPr txBox="1"/>
          <p:nvPr/>
        </p:nvSpPr>
        <p:spPr>
          <a:xfrm>
            <a:off x="822960" y="1783080"/>
            <a:ext cx="2926080" cy="128016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5</a:t>
            </a:r>
            <a:endParaRPr lang="en-US" sz="6000" dirty="0"/>
          </a:p>
        </p:txBody>
      </p:sp>
      <p:sp>
        <p:nvSpPr>
          <p:cNvPr id="5" name="Text 3"/>
          <p:cNvSpPr txBox="1"/>
          <p:nvPr/>
        </p:nvSpPr>
        <p:spPr>
          <a:xfrm>
            <a:off x="82296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customers with written-down ground truth</a:t>
            </a:r>
            <a:endParaRPr lang="en-US" sz="1800" dirty="0"/>
          </a:p>
        </p:txBody>
      </p:sp>
      <p:sp>
        <p:nvSpPr>
          <p:cNvPr id="6" name="stat card 2"/>
          <p:cNvSpPr/>
          <p:nvPr/>
        </p:nvSpPr>
        <p:spPr>
          <a:xfrm>
            <a:off x="4297680" y="1554480"/>
            <a:ext cx="3474720" cy="2926080"/>
          </a:xfrm>
          <a:prstGeom prst="roundRect">
            <a:avLst>
              <a:gd name="adj" fmla="val 3750"/>
            </a:avLst>
          </a:prstGeom>
          <a:solidFill>
            <a:schemeClr val="bg2"/>
          </a:solidFill>
          <a:ln/>
        </p:spPr>
      </p:sp>
      <p:sp>
        <p:nvSpPr>
          <p:cNvPr id="7" name="stat 2"/>
          <p:cNvSpPr txBox="1"/>
          <p:nvPr/>
        </p:nvSpPr>
        <p:spPr>
          <a:xfrm>
            <a:off x="4572000" y="1783080"/>
            <a:ext cx="292608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12</a:t>
            </a:r>
            <a:endParaRPr lang="en-US" sz="6000" dirty="0"/>
          </a:p>
        </p:txBody>
      </p:sp>
      <p:sp>
        <p:nvSpPr>
          <p:cNvPr id="8" name="Text 6"/>
          <p:cNvSpPr txBox="1"/>
          <p:nvPr/>
        </p:nvSpPr>
        <p:spPr>
          <a:xfrm>
            <a:off x="457200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live AI conversations checked on every run</a:t>
            </a:r>
            <a:endParaRPr lang="en-US" sz="1800" dirty="0"/>
          </a:p>
        </p:txBody>
      </p:sp>
      <p:sp>
        <p:nvSpPr>
          <p:cNvPr id="9" name="stat card 3"/>
          <p:cNvSpPr/>
          <p:nvPr/>
        </p:nvSpPr>
        <p:spPr>
          <a:xfrm>
            <a:off x="8046720" y="1554480"/>
            <a:ext cx="3474720" cy="2926080"/>
          </a:xfrm>
          <a:prstGeom prst="roundRect">
            <a:avLst>
              <a:gd name="adj" fmla="val 3750"/>
            </a:avLst>
          </a:prstGeom>
          <a:solidFill>
            <a:schemeClr val="bg2"/>
          </a:solidFill>
          <a:ln/>
        </p:spPr>
      </p:sp>
      <p:sp>
        <p:nvSpPr>
          <p:cNvPr id="10" name="stat 3"/>
          <p:cNvSpPr txBox="1"/>
          <p:nvPr/>
        </p:nvSpPr>
        <p:spPr>
          <a:xfrm>
            <a:off x="8321040" y="1783080"/>
            <a:ext cx="2926080" cy="1280160"/>
          </a:xfrm>
          <a:prstGeom prst="rect">
            <a:avLst/>
          </a:prstGeom>
          <a:noFill/>
          <a:ln/>
        </p:spPr>
        <p:txBody>
          <a:bodyPr wrap="square" lIns="0" tIns="0" rIns="0" bIns="0" rtlCol="0" anchor="ctr"/>
          <a:lstStyle/>
          <a:p>
            <a:pPr indent="0" marL="0">
              <a:buNone/>
            </a:pPr>
            <a:r>
              <a:rPr lang="en-US" sz="6000" b="1" dirty="0">
                <a:solidFill>
                  <a:schemeClr val="accent5"/>
                </a:solidFill>
                <a:latin typeface="Cambria" pitchFamily="34" charset="0"/>
                <a:ea typeface="Cambria" pitchFamily="34" charset="-122"/>
                <a:cs typeface="Cambria" pitchFamily="34" charset="-120"/>
              </a:rPr>
              <a:t>1</a:t>
            </a:r>
            <a:endParaRPr lang="en-US" sz="6000" dirty="0"/>
          </a:p>
        </p:txBody>
      </p:sp>
      <p:sp>
        <p:nvSpPr>
          <p:cNvPr id="11" name="Text 9"/>
          <p:cNvSpPr txBox="1"/>
          <p:nvPr/>
        </p:nvSpPr>
        <p:spPr>
          <a:xfrm>
            <a:off x="832104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cross-customer data leak caught, and fixed</a:t>
            </a:r>
            <a:endParaRPr lang="en-US" sz="1800" dirty="0"/>
          </a:p>
        </p:txBody>
      </p:sp>
      <p:sp>
        <p:nvSpPr>
          <p:cNvPr id="12" name="Text 10"/>
          <p:cNvSpPr txBox="1"/>
          <p:nvPr/>
        </p:nvSpPr>
        <p:spPr>
          <a:xfrm>
            <a:off x="548640" y="4846320"/>
            <a:ext cx="11064240" cy="731520"/>
          </a:xfrm>
          <a:prstGeom prst="rect">
            <a:avLst/>
          </a:prstGeom>
          <a:noFill/>
          <a:ln/>
        </p:spPr>
        <p:txBody>
          <a:bodyPr wrap="square" lIns="0" tIns="0" rIns="0" bIns="0" rtlCol="0" anchor="ctr"/>
          <a:lstStyle/>
          <a:p>
            <a:pPr indent="0" marL="0">
              <a:buNone/>
            </a:pPr>
            <a:r>
              <a:rPr lang="en-US" sz="1800" dirty="0">
                <a:solidFill>
                  <a:schemeClr val="tx1"/>
                </a:solidFill>
              </a:rPr>
              <a:t>Discovery must find what each customer's payments show; the plan must mark exactly the legal duties; drafts must state no date or fee the rules do not; a changed letter must need approving again.</a:t>
            </a:r>
            <a:endParaRPr lang="en-US" sz="1800" dirty="0"/>
          </a:p>
        </p:txBody>
      </p:sp>
      <p:sp>
        <p:nvSpPr>
          <p:cNvPr id="13" name="Text 11"/>
          <p:cNvSpPr txBox="1"/>
          <p:nvPr/>
        </p:nvSpPr>
        <p:spPr>
          <a:xfrm>
            <a:off x="548640" y="576072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Facts checked by keyword, judgement checked by an LLM judge. The leak (one customer's session reading another's payments) now has a regression test.</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What we built in the hackathon</a:t>
            </a:r>
            <a:endParaRPr lang="en-US" sz="3400" dirty="0"/>
          </a:p>
        </p:txBody>
      </p:sp>
      <p:sp>
        <p:nvSpPr>
          <p:cNvPr id="3" name="number 1"/>
          <p:cNvSpPr/>
          <p:nvPr/>
        </p:nvSpPr>
        <p:spPr>
          <a:xfrm>
            <a:off x="548640" y="1463040"/>
            <a:ext cx="3474720" cy="2011680"/>
          </a:xfrm>
          <a:prstGeom prst="roundRect">
            <a:avLst>
              <a:gd name="adj" fmla="val 5455"/>
            </a:avLst>
          </a:prstGeom>
          <a:solidFill>
            <a:schemeClr val="bg2"/>
          </a:solidFill>
          <a:ln/>
        </p:spPr>
      </p:sp>
      <p:sp>
        <p:nvSpPr>
          <p:cNvPr id="4" name="Text 2"/>
          <p:cNvSpPr txBox="1"/>
          <p:nvPr/>
        </p:nvSpPr>
        <p:spPr>
          <a:xfrm>
            <a:off x="82296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14</a:t>
            </a:r>
            <a:endParaRPr lang="en-US" sz="5400" dirty="0"/>
          </a:p>
        </p:txBody>
      </p:sp>
      <p:sp>
        <p:nvSpPr>
          <p:cNvPr id="5" name="Text 3"/>
          <p:cNvSpPr txBox="1"/>
          <p:nvPr/>
        </p:nvSpPr>
        <p:spPr>
          <a:xfrm>
            <a:off x="82296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LLM agents</a:t>
            </a:r>
            <a:endParaRPr lang="en-US" sz="1700" dirty="0"/>
          </a:p>
        </p:txBody>
      </p:sp>
      <p:sp>
        <p:nvSpPr>
          <p:cNvPr id="6" name="number 2"/>
          <p:cNvSpPr/>
          <p:nvPr/>
        </p:nvSpPr>
        <p:spPr>
          <a:xfrm>
            <a:off x="4297680" y="1463040"/>
            <a:ext cx="3474720" cy="2011680"/>
          </a:xfrm>
          <a:prstGeom prst="roundRect">
            <a:avLst>
              <a:gd name="adj" fmla="val 5455"/>
            </a:avLst>
          </a:prstGeom>
          <a:solidFill>
            <a:schemeClr val="bg2"/>
          </a:solidFill>
          <a:ln/>
        </p:spPr>
      </p:sp>
      <p:sp>
        <p:nvSpPr>
          <p:cNvPr id="7" name="Text 5"/>
          <p:cNvSpPr txBox="1"/>
          <p:nvPr/>
        </p:nvSpPr>
        <p:spPr>
          <a:xfrm>
            <a:off x="457200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27</a:t>
            </a:r>
            <a:endParaRPr lang="en-US" sz="5400" dirty="0"/>
          </a:p>
        </p:txBody>
      </p:sp>
      <p:sp>
        <p:nvSpPr>
          <p:cNvPr id="8" name="Text 6"/>
          <p:cNvSpPr txBox="1"/>
          <p:nvPr/>
        </p:nvSpPr>
        <p:spPr>
          <a:xfrm>
            <a:off x="457200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coded tools</a:t>
            </a:r>
            <a:endParaRPr lang="en-US" sz="1700" dirty="0"/>
          </a:p>
        </p:txBody>
      </p:sp>
      <p:sp>
        <p:nvSpPr>
          <p:cNvPr id="9" name="number 3"/>
          <p:cNvSpPr/>
          <p:nvPr/>
        </p:nvSpPr>
        <p:spPr>
          <a:xfrm>
            <a:off x="8046720" y="1463040"/>
            <a:ext cx="3474720" cy="2011680"/>
          </a:xfrm>
          <a:prstGeom prst="roundRect">
            <a:avLst>
              <a:gd name="adj" fmla="val 5455"/>
            </a:avLst>
          </a:prstGeom>
          <a:solidFill>
            <a:schemeClr val="bg2"/>
          </a:solidFill>
          <a:ln/>
        </p:spPr>
      </p:sp>
      <p:sp>
        <p:nvSpPr>
          <p:cNvPr id="10" name="Text 8"/>
          <p:cNvSpPr txBox="1"/>
          <p:nvPr/>
        </p:nvSpPr>
        <p:spPr>
          <a:xfrm>
            <a:off x="832104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25</a:t>
            </a:r>
            <a:endParaRPr lang="en-US" sz="5400" dirty="0"/>
          </a:p>
        </p:txBody>
      </p:sp>
      <p:sp>
        <p:nvSpPr>
          <p:cNvPr id="11" name="Text 9"/>
          <p:cNvSpPr txBox="1"/>
          <p:nvPr/>
        </p:nvSpPr>
        <p:spPr>
          <a:xfrm>
            <a:off x="832104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rules, 21 verified</a:t>
            </a:r>
            <a:endParaRPr lang="en-US" sz="1700" dirty="0"/>
          </a:p>
        </p:txBody>
      </p:sp>
      <p:sp>
        <p:nvSpPr>
          <p:cNvPr id="12" name="number 4"/>
          <p:cNvSpPr/>
          <p:nvPr/>
        </p:nvSpPr>
        <p:spPr>
          <a:xfrm>
            <a:off x="548640" y="3703320"/>
            <a:ext cx="3474720" cy="2011680"/>
          </a:xfrm>
          <a:prstGeom prst="roundRect">
            <a:avLst>
              <a:gd name="adj" fmla="val 5455"/>
            </a:avLst>
          </a:prstGeom>
          <a:solidFill>
            <a:schemeClr val="bg2"/>
          </a:solidFill>
          <a:ln/>
        </p:spPr>
      </p:sp>
      <p:sp>
        <p:nvSpPr>
          <p:cNvPr id="13" name="Text 11"/>
          <p:cNvSpPr txBox="1"/>
          <p:nvPr/>
        </p:nvSpPr>
        <p:spPr>
          <a:xfrm>
            <a:off x="82296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148</a:t>
            </a:r>
            <a:endParaRPr lang="en-US" sz="5400" dirty="0"/>
          </a:p>
        </p:txBody>
      </p:sp>
      <p:sp>
        <p:nvSpPr>
          <p:cNvPr id="14" name="Text 12"/>
          <p:cNvSpPr txBox="1"/>
          <p:nvPr/>
        </p:nvSpPr>
        <p:spPr>
          <a:xfrm>
            <a:off x="82296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unit tests</a:t>
            </a:r>
            <a:endParaRPr lang="en-US" sz="1700" dirty="0"/>
          </a:p>
        </p:txBody>
      </p:sp>
      <p:sp>
        <p:nvSpPr>
          <p:cNvPr id="15" name="number 5"/>
          <p:cNvSpPr/>
          <p:nvPr/>
        </p:nvSpPr>
        <p:spPr>
          <a:xfrm>
            <a:off x="4297680" y="3703320"/>
            <a:ext cx="3474720" cy="2011680"/>
          </a:xfrm>
          <a:prstGeom prst="roundRect">
            <a:avLst>
              <a:gd name="adj" fmla="val 5455"/>
            </a:avLst>
          </a:prstGeom>
          <a:solidFill>
            <a:schemeClr val="bg2"/>
          </a:solidFill>
          <a:ln/>
        </p:spPr>
      </p:sp>
      <p:sp>
        <p:nvSpPr>
          <p:cNvPr id="16" name="Text 14"/>
          <p:cNvSpPr txBox="1"/>
          <p:nvPr/>
        </p:nvSpPr>
        <p:spPr>
          <a:xfrm>
            <a:off x="457200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12</a:t>
            </a:r>
            <a:endParaRPr lang="en-US" sz="5400" dirty="0"/>
          </a:p>
        </p:txBody>
      </p:sp>
      <p:sp>
        <p:nvSpPr>
          <p:cNvPr id="17" name="Text 15"/>
          <p:cNvSpPr txBox="1"/>
          <p:nvPr/>
        </p:nvSpPr>
        <p:spPr>
          <a:xfrm>
            <a:off x="457200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live AI evaluation runs</a:t>
            </a:r>
            <a:endParaRPr lang="en-US" sz="1700" dirty="0"/>
          </a:p>
        </p:txBody>
      </p:sp>
      <p:sp>
        <p:nvSpPr>
          <p:cNvPr id="18" name="number 6"/>
          <p:cNvSpPr/>
          <p:nvPr/>
        </p:nvSpPr>
        <p:spPr>
          <a:xfrm>
            <a:off x="8046720" y="3703320"/>
            <a:ext cx="3474720" cy="2011680"/>
          </a:xfrm>
          <a:prstGeom prst="roundRect">
            <a:avLst>
              <a:gd name="adj" fmla="val 5455"/>
            </a:avLst>
          </a:prstGeom>
          <a:solidFill>
            <a:schemeClr val="bg2"/>
          </a:solidFill>
          <a:ln/>
        </p:spPr>
      </p:sp>
      <p:sp>
        <p:nvSpPr>
          <p:cNvPr id="19" name="Text 17"/>
          <p:cNvSpPr txBox="1"/>
          <p:nvPr/>
        </p:nvSpPr>
        <p:spPr>
          <a:xfrm>
            <a:off x="8321040" y="3886200"/>
            <a:ext cx="292608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20" name="Text 18"/>
          <p:cNvSpPr txBox="1"/>
          <p:nvPr/>
        </p:nvSpPr>
        <p:spPr>
          <a:xfrm>
            <a:off x="832104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UK nations' rules covered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Why a bank, and what we would measure</a:t>
            </a:r>
            <a:endParaRPr lang="en-US" sz="3400" dirty="0"/>
          </a:p>
        </p:txBody>
      </p:sp>
      <p:sp>
        <p:nvSpPr>
          <p:cNvPr id="3" name="why bank card"/>
          <p:cNvSpPr/>
          <p:nvPr/>
        </p:nvSpPr>
        <p:spPr>
          <a:xfrm>
            <a:off x="548640" y="1463040"/>
            <a:ext cx="4206240" cy="4297680"/>
          </a:xfrm>
          <a:prstGeom prst="roundRect">
            <a:avLst>
              <a:gd name="adj" fmla="val 2609"/>
            </a:avLst>
          </a:prstGeom>
          <a:solidFill>
            <a:schemeClr val="tx2"/>
          </a:solidFill>
          <a:ln/>
        </p:spPr>
      </p:sp>
      <p:sp>
        <p:nvSpPr>
          <p:cNvPr id="4" name="Text 2"/>
          <p:cNvSpPr txBox="1"/>
          <p:nvPr/>
        </p:nvSpPr>
        <p:spPr>
          <a:xfrm>
            <a:off x="822960" y="1691640"/>
            <a:ext cx="3657600" cy="822960"/>
          </a:xfrm>
          <a:prstGeom prst="rect">
            <a:avLst/>
          </a:prstGeom>
          <a:noFill/>
          <a:ln/>
        </p:spPr>
        <p:txBody>
          <a:bodyPr wrap="square" lIns="0" tIns="0" rIns="0" bIns="0" rtlCol="0" anchor="ctr"/>
          <a:lstStyle/>
          <a:p>
            <a:pPr indent="0" marL="0">
              <a:buNone/>
            </a:pPr>
            <a:r>
              <a:rPr lang="en-US" sz="2200" b="1" dirty="0">
                <a:solidFill>
                  <a:schemeClr val="accent4"/>
                </a:solidFill>
              </a:rPr>
              <a:t>Why a bank, not a moving app</a:t>
            </a:r>
            <a:endParaRPr lang="en-US" sz="2200" dirty="0"/>
          </a:p>
        </p:txBody>
      </p:sp>
      <p:sp>
        <p:nvSpPr>
          <p:cNvPr id="5" name="Text 3"/>
          <p:cNvSpPr txBox="1"/>
          <p:nvPr/>
        </p:nvSpPr>
        <p:spPr>
          <a:xfrm>
            <a:off x="822960" y="2651760"/>
            <a:ext cx="365760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Sees who the customer pays</a:t>
            </a:r>
            <a:endParaRPr lang="en-US" sz="1800" dirty="0"/>
          </a:p>
          <a:p>
            <a:pPr marL="342900" indent="-342900">
              <a:spcAft>
                <a:spcPts val="1200"/>
              </a:spcAft>
              <a:buSzPct val="100000"/>
              <a:buChar char="•"/>
            </a:pPr>
            <a:r>
              <a:rPr lang="en-US" sz="1800" dirty="0">
                <a:solidFill>
                  <a:schemeClr val="bg1"/>
                </a:solidFill>
              </a:rPr>
              <a:t>Knows the completion date</a:t>
            </a:r>
            <a:endParaRPr lang="en-US" sz="1800" dirty="0"/>
          </a:p>
          <a:p>
            <a:pPr marL="342900" indent="-342900">
              <a:spcAft>
                <a:spcPts val="1200"/>
              </a:spcAft>
              <a:buSzPct val="100000"/>
              <a:buChar char="•"/>
            </a:pPr>
            <a:r>
              <a:rPr lang="en-US" sz="1800" dirty="0">
                <a:solidFill>
                  <a:schemeClr val="bg1"/>
                </a:solidFill>
              </a:rPr>
              <a:t>Already trusted with the data</a:t>
            </a:r>
            <a:endParaRPr lang="en-US" sz="1800" dirty="0"/>
          </a:p>
        </p:txBody>
      </p:sp>
      <p:sp>
        <p:nvSpPr>
          <p:cNvPr id="6" name="kpi dot 1"/>
          <p:cNvSpPr/>
          <p:nvPr/>
        </p:nvSpPr>
        <p:spPr>
          <a:xfrm>
            <a:off x="5120640" y="1572768"/>
            <a:ext cx="274320" cy="274320"/>
          </a:xfrm>
          <a:prstGeom prst="ellipse">
            <a:avLst/>
          </a:prstGeom>
          <a:solidFill>
            <a:schemeClr val="accent1"/>
          </a:solidFill>
          <a:ln/>
        </p:spPr>
      </p:sp>
      <p:sp>
        <p:nvSpPr>
          <p:cNvPr id="7" name="Text 5"/>
          <p:cNvSpPr txBox="1"/>
          <p:nvPr/>
        </p:nvSpPr>
        <p:spPr>
          <a:xfrm>
            <a:off x="553212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Fewer servicing contacts</a:t>
            </a:r>
            <a:endParaRPr lang="en-US" sz="1600" dirty="0"/>
          </a:p>
          <a:p>
            <a:pPr indent="0" marL="0">
              <a:buNone/>
            </a:pPr>
            <a:r>
              <a:rPr lang="en-US" sz="1400" dirty="0">
                <a:solidFill>
                  <a:schemeClr val="tx1"/>
                </a:solidFill>
              </a:rPr>
              <a:t>address changes and moving queries</a:t>
            </a:r>
            <a:endParaRPr lang="en-US" sz="1600" dirty="0"/>
          </a:p>
        </p:txBody>
      </p:sp>
      <p:sp>
        <p:nvSpPr>
          <p:cNvPr id="8" name="kpi dot 2"/>
          <p:cNvSpPr/>
          <p:nvPr/>
        </p:nvSpPr>
        <p:spPr>
          <a:xfrm>
            <a:off x="8412480" y="1572768"/>
            <a:ext cx="274320" cy="274320"/>
          </a:xfrm>
          <a:prstGeom prst="ellipse">
            <a:avLst/>
          </a:prstGeom>
          <a:solidFill>
            <a:schemeClr val="accent1"/>
          </a:solidFill>
          <a:ln/>
        </p:spPr>
      </p:sp>
      <p:sp>
        <p:nvSpPr>
          <p:cNvPr id="9" name="Text 7"/>
          <p:cNvSpPr txBox="1"/>
          <p:nvPr/>
        </p:nvSpPr>
        <p:spPr>
          <a:xfrm>
            <a:off x="882396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Satisfaction at completion</a:t>
            </a:r>
            <a:endParaRPr lang="en-US" sz="1600" dirty="0"/>
          </a:p>
          <a:p>
            <a:pPr indent="0" marL="0">
              <a:buNone/>
            </a:pPr>
            <a:r>
              <a:rPr lang="en-US" sz="1400" dirty="0">
                <a:solidFill>
                  <a:schemeClr val="tx1"/>
                </a:solidFill>
              </a:rPr>
              <a:t>and Consumer Duty evidence</a:t>
            </a:r>
            <a:endParaRPr lang="en-US" sz="1600" dirty="0"/>
          </a:p>
        </p:txBody>
      </p:sp>
      <p:sp>
        <p:nvSpPr>
          <p:cNvPr id="10" name="kpi dot 3"/>
          <p:cNvSpPr/>
          <p:nvPr/>
        </p:nvSpPr>
        <p:spPr>
          <a:xfrm>
            <a:off x="5120640" y="3035808"/>
            <a:ext cx="274320" cy="274320"/>
          </a:xfrm>
          <a:prstGeom prst="ellipse">
            <a:avLst/>
          </a:prstGeom>
          <a:solidFill>
            <a:schemeClr val="accent1"/>
          </a:solidFill>
          <a:ln/>
        </p:spPr>
      </p:sp>
      <p:sp>
        <p:nvSpPr>
          <p:cNvPr id="11" name="Text 9"/>
          <p:cNvSpPr txBox="1"/>
          <p:nvPr/>
        </p:nvSpPr>
        <p:spPr>
          <a:xfrm>
            <a:off x="553212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Home insurance conversion</a:t>
            </a:r>
            <a:endParaRPr lang="en-US" sz="1600" dirty="0"/>
          </a:p>
          <a:p>
            <a:pPr indent="0" marL="0">
              <a:buNone/>
            </a:pPr>
            <a:r>
              <a:rPr lang="en-US" sz="1400" dirty="0">
                <a:solidFill>
                  <a:schemeClr val="tx1"/>
                </a:solidFill>
              </a:rPr>
              <a:t>an opt-in offer at the moment it is needed</a:t>
            </a:r>
            <a:endParaRPr lang="en-US" sz="1600" dirty="0"/>
          </a:p>
        </p:txBody>
      </p:sp>
      <p:sp>
        <p:nvSpPr>
          <p:cNvPr id="12" name="kpi dot 4"/>
          <p:cNvSpPr/>
          <p:nvPr/>
        </p:nvSpPr>
        <p:spPr>
          <a:xfrm>
            <a:off x="8412480" y="3035808"/>
            <a:ext cx="274320" cy="274320"/>
          </a:xfrm>
          <a:prstGeom prst="ellipse">
            <a:avLst/>
          </a:prstGeom>
          <a:solidFill>
            <a:schemeClr val="accent1"/>
          </a:solidFill>
          <a:ln/>
        </p:spPr>
      </p:sp>
      <p:sp>
        <p:nvSpPr>
          <p:cNvPr id="13" name="Text 11"/>
          <p:cNvSpPr txBox="1"/>
          <p:nvPr/>
        </p:nvSpPr>
        <p:spPr>
          <a:xfrm>
            <a:off x="882396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Tasks done before their due date</a:t>
            </a:r>
            <a:endParaRPr lang="en-US" sz="1600" dirty="0"/>
          </a:p>
          <a:p>
            <a:pPr indent="0" marL="0">
              <a:buNone/>
            </a:pPr>
            <a:r>
              <a:rPr lang="en-US" sz="1400" dirty="0">
                <a:solidFill>
                  <a:schemeClr val="tx1"/>
                </a:solidFill>
              </a:rPr>
              <a:t>fewer missed legal obligations</a:t>
            </a:r>
            <a:endParaRPr lang="en-US" sz="1600" dirty="0"/>
          </a:p>
        </p:txBody>
      </p:sp>
      <p:sp>
        <p:nvSpPr>
          <p:cNvPr id="14" name="kpi dot 5"/>
          <p:cNvSpPr/>
          <p:nvPr/>
        </p:nvSpPr>
        <p:spPr>
          <a:xfrm>
            <a:off x="5120640" y="4498848"/>
            <a:ext cx="274320" cy="274320"/>
          </a:xfrm>
          <a:prstGeom prst="ellipse">
            <a:avLst/>
          </a:prstGeom>
          <a:solidFill>
            <a:schemeClr val="accent1"/>
          </a:solidFill>
          <a:ln/>
        </p:spPr>
      </p:sp>
      <p:sp>
        <p:nvSpPr>
          <p:cNvPr id="15" name="Text 13"/>
          <p:cNvSpPr txBox="1"/>
          <p:nvPr/>
        </p:nvSpPr>
        <p:spPr>
          <a:xfrm>
            <a:off x="553212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Customer time saved per move</a:t>
            </a:r>
            <a:endParaRPr lang="en-US" sz="1600" dirty="0"/>
          </a:p>
          <a:p>
            <a:pPr indent="0" marL="0">
              <a:buNone/>
            </a:pPr>
            <a:r>
              <a:rPr lang="en-US" sz="1400" dirty="0">
                <a:solidFill>
                  <a:schemeClr val="tx1"/>
                </a:solidFill>
              </a:rPr>
              <a:t>from a task-time study</a:t>
            </a:r>
            <a:endParaRPr lang="en-US" sz="1600" dirty="0"/>
          </a:p>
        </p:txBody>
      </p:sp>
      <p:sp>
        <p:nvSpPr>
          <p:cNvPr id="16" name="kpi dot 6"/>
          <p:cNvSpPr/>
          <p:nvPr/>
        </p:nvSpPr>
        <p:spPr>
          <a:xfrm>
            <a:off x="8412480" y="4498848"/>
            <a:ext cx="274320" cy="274320"/>
          </a:xfrm>
          <a:prstGeom prst="ellipse">
            <a:avLst/>
          </a:prstGeom>
          <a:solidFill>
            <a:schemeClr val="accent1"/>
          </a:solidFill>
          <a:ln/>
        </p:spPr>
      </p:sp>
      <p:sp>
        <p:nvSpPr>
          <p:cNvPr id="17" name="Text 15"/>
          <p:cNvSpPr txBox="1"/>
          <p:nvPr/>
        </p:nvSpPr>
        <p:spPr>
          <a:xfrm>
            <a:off x="882396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Retention at product transfer</a:t>
            </a:r>
            <a:endParaRPr lang="en-US" sz="1600" dirty="0"/>
          </a:p>
          <a:p>
            <a:pPr indent="0" marL="0">
              <a:buNone/>
            </a:pPr>
            <a:r>
              <a:rPr lang="en-US" sz="1400" dirty="0">
                <a:solidFill>
                  <a:schemeClr val="tx1"/>
                </a:solidFill>
              </a:rPr>
              <a:t>long-term relationship value</a:t>
            </a:r>
            <a:endParaRPr lang="en-US" sz="1600" dirty="0"/>
          </a:p>
        </p:txBody>
      </p:sp>
      <p:sp>
        <p:nvSpPr>
          <p:cNvPr id="18" name="Text 16"/>
          <p:cNvSpPr txBox="1"/>
          <p:nvPr/>
        </p:nvSpPr>
        <p:spPr>
          <a:xfrm>
            <a:off x="5120640" y="5897880"/>
            <a:ext cx="6492240" cy="365760"/>
          </a:xfrm>
          <a:prstGeom prst="rect">
            <a:avLst/>
          </a:prstGeom>
          <a:noFill/>
          <a:ln/>
        </p:spPr>
        <p:txBody>
          <a:bodyPr wrap="square" lIns="0" tIns="0" rIns="0" bIns="0" rtlCol="0" anchor="ctr"/>
          <a:lstStyle/>
          <a:p>
            <a:pPr indent="0" marL="0">
              <a:buNone/>
            </a:pPr>
            <a:r>
              <a:rPr lang="en-US" sz="1200" i="1" dirty="0">
                <a:solidFill>
                  <a:schemeClr val="accent6"/>
                </a:solidFill>
              </a:rPr>
              <a:t>Targets to measure in a pilot, not claimed results.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Roadmap</a:t>
            </a:r>
            <a:endParaRPr lang="en-US" sz="3400" dirty="0"/>
          </a:p>
        </p:txBody>
      </p:sp>
      <p:sp>
        <p:nvSpPr>
          <p:cNvPr id="3" name="timeline"/>
          <p:cNvSpPr/>
          <p:nvPr/>
        </p:nvSpPr>
        <p:spPr>
          <a:xfrm>
            <a:off x="1097280" y="2331720"/>
            <a:ext cx="9966960" cy="0"/>
          </a:xfrm>
          <a:prstGeom prst="line">
            <a:avLst/>
          </a:prstGeom>
          <a:noFill/>
          <a:ln w="38100">
            <a:solidFill>
              <a:schemeClr val="accent3"/>
            </a:solidFill>
            <a:prstDash val="solid"/>
          </a:ln>
        </p:spPr>
      </p:sp>
      <p:sp>
        <p:nvSpPr>
          <p:cNvPr id="4" name="step 1"/>
          <p:cNvSpPr/>
          <p:nvPr/>
        </p:nvSpPr>
        <p:spPr>
          <a:xfrm>
            <a:off x="1051560" y="2011680"/>
            <a:ext cx="640080" cy="640080"/>
          </a:xfrm>
          <a:prstGeom prst="ellipse">
            <a:avLst/>
          </a:prstGeom>
          <a:solidFill>
            <a:schemeClr val="accent1"/>
          </a:solidFill>
          <a:ln/>
        </p:spPr>
      </p:sp>
      <p:sp>
        <p:nvSpPr>
          <p:cNvPr id="5" name="Text 3"/>
          <p:cNvSpPr txBox="1"/>
          <p:nvPr/>
        </p:nvSpPr>
        <p:spPr>
          <a:xfrm>
            <a:off x="105156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54864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Open Banking</a:t>
            </a:r>
            <a:endParaRPr lang="en-US" sz="1900" dirty="0"/>
          </a:p>
        </p:txBody>
      </p:sp>
      <p:sp>
        <p:nvSpPr>
          <p:cNvPr id="7" name="Text 5"/>
          <p:cNvSpPr txBox="1"/>
          <p:nvPr/>
        </p:nvSpPr>
        <p:spPr>
          <a:xfrm>
            <a:off x="54864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Transactions and Direct Debits from any UK bank, with consent</a:t>
            </a:r>
            <a:endParaRPr lang="en-US" sz="1500" dirty="0"/>
          </a:p>
        </p:txBody>
      </p:sp>
      <p:sp>
        <p:nvSpPr>
          <p:cNvPr id="8" name="step 2"/>
          <p:cNvSpPr/>
          <p:nvPr/>
        </p:nvSpPr>
        <p:spPr>
          <a:xfrm>
            <a:off x="3291840" y="2011680"/>
            <a:ext cx="640080" cy="640080"/>
          </a:xfrm>
          <a:prstGeom prst="ellipse">
            <a:avLst/>
          </a:prstGeom>
          <a:solidFill>
            <a:schemeClr val="accent2"/>
          </a:solidFill>
          <a:ln/>
        </p:spPr>
      </p:sp>
      <p:sp>
        <p:nvSpPr>
          <p:cNvPr id="9" name="Text 7"/>
          <p:cNvSpPr txBox="1"/>
          <p:nvPr/>
        </p:nvSpPr>
        <p:spPr>
          <a:xfrm>
            <a:off x="329184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278892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Pilot</a:t>
            </a:r>
            <a:endParaRPr lang="en-US" sz="1900" dirty="0"/>
          </a:p>
        </p:txBody>
      </p:sp>
      <p:sp>
        <p:nvSpPr>
          <p:cNvPr id="11" name="Text 9"/>
          <p:cNvSpPr txBox="1"/>
          <p:nvPr/>
        </p:nvSpPr>
        <p:spPr>
          <a:xfrm>
            <a:off x="278892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Consenting mortgage customers; address update and home insurance live</a:t>
            </a:r>
            <a:endParaRPr lang="en-US" sz="1500" dirty="0"/>
          </a:p>
        </p:txBody>
      </p:sp>
      <p:sp>
        <p:nvSpPr>
          <p:cNvPr id="12" name="step 3"/>
          <p:cNvSpPr/>
          <p:nvPr/>
        </p:nvSpPr>
        <p:spPr>
          <a:xfrm>
            <a:off x="5532120" y="2011680"/>
            <a:ext cx="640080" cy="640080"/>
          </a:xfrm>
          <a:prstGeom prst="ellipse">
            <a:avLst/>
          </a:prstGeom>
          <a:solidFill>
            <a:schemeClr val="accent2"/>
          </a:solidFill>
          <a:ln/>
        </p:spPr>
      </p:sp>
      <p:sp>
        <p:nvSpPr>
          <p:cNvPr id="13" name="Text 11"/>
          <p:cNvSpPr txBox="1"/>
          <p:nvPr/>
        </p:nvSpPr>
        <p:spPr>
          <a:xfrm>
            <a:off x="553212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502920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Partner APIs</a:t>
            </a:r>
            <a:endParaRPr lang="en-US" sz="1900" dirty="0"/>
          </a:p>
        </p:txBody>
      </p:sp>
      <p:sp>
        <p:nvSpPr>
          <p:cNvPr id="15" name="Text 13"/>
          <p:cNvSpPr txBox="1"/>
          <p:nvPr/>
        </p:nvSpPr>
        <p:spPr>
          <a:xfrm>
            <a:off x="502920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Energy, water and broadband providers</a:t>
            </a:r>
            <a:endParaRPr lang="en-US" sz="1500" dirty="0"/>
          </a:p>
        </p:txBody>
      </p:sp>
      <p:sp>
        <p:nvSpPr>
          <p:cNvPr id="16" name="step 4"/>
          <p:cNvSpPr/>
          <p:nvPr/>
        </p:nvSpPr>
        <p:spPr>
          <a:xfrm>
            <a:off x="7772400" y="2011680"/>
            <a:ext cx="640080" cy="640080"/>
          </a:xfrm>
          <a:prstGeom prst="ellipse">
            <a:avLst/>
          </a:prstGeom>
          <a:solidFill>
            <a:schemeClr val="accent2"/>
          </a:solidFill>
          <a:ln/>
        </p:spPr>
      </p:sp>
      <p:sp>
        <p:nvSpPr>
          <p:cNvPr id="17" name="Text 15"/>
          <p:cNvSpPr txBox="1"/>
          <p:nvPr/>
        </p:nvSpPr>
        <p:spPr>
          <a:xfrm>
            <a:off x="777240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726948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gov.uk links</a:t>
            </a:r>
            <a:endParaRPr lang="en-US" sz="1900" dirty="0"/>
          </a:p>
        </p:txBody>
      </p:sp>
      <p:sp>
        <p:nvSpPr>
          <p:cNvPr id="19" name="Text 17"/>
          <p:cNvSpPr txBox="1"/>
          <p:nvPr/>
        </p:nvSpPr>
        <p:spPr>
          <a:xfrm>
            <a:off x="726948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Official change-of-address services as they open up</a:t>
            </a:r>
            <a:endParaRPr lang="en-US" sz="1500" dirty="0"/>
          </a:p>
        </p:txBody>
      </p:sp>
      <p:sp>
        <p:nvSpPr>
          <p:cNvPr id="20" name="step 5"/>
          <p:cNvSpPr/>
          <p:nvPr/>
        </p:nvSpPr>
        <p:spPr>
          <a:xfrm>
            <a:off x="10012680" y="2011680"/>
            <a:ext cx="640080" cy="640080"/>
          </a:xfrm>
          <a:prstGeom prst="ellipse">
            <a:avLst/>
          </a:prstGeom>
          <a:solidFill>
            <a:schemeClr val="accent2"/>
          </a:solidFill>
          <a:ln/>
        </p:spPr>
      </p:sp>
      <p:sp>
        <p:nvSpPr>
          <p:cNvPr id="21" name="Text 19"/>
          <p:cNvSpPr txBox="1"/>
          <p:nvPr/>
        </p:nvSpPr>
        <p:spPr>
          <a:xfrm>
            <a:off x="100126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950976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New journeys</a:t>
            </a:r>
            <a:endParaRPr lang="en-US" sz="1900" dirty="0"/>
          </a:p>
        </p:txBody>
      </p:sp>
      <p:sp>
        <p:nvSpPr>
          <p:cNvPr id="23" name="Text 21"/>
          <p:cNvSpPr txBox="1"/>
          <p:nvPr/>
        </p:nvSpPr>
        <p:spPr>
          <a:xfrm>
            <a:off x="950976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Business premises moves, bereavement, marriage, a new baby</a:t>
            </a:r>
            <a:endParaRPr lang="en-US" sz="1500" dirty="0"/>
          </a:p>
        </p:txBody>
      </p:sp>
      <p:sp>
        <p:nvSpPr>
          <p:cNvPr id="24" name="Text 22"/>
          <p:cNvSpPr txBox="1"/>
          <p:nvPr/>
        </p:nvSpPr>
        <p:spPr>
          <a:xfrm>
            <a:off x="548640" y="5349240"/>
            <a:ext cx="11064240" cy="731520"/>
          </a:xfrm>
          <a:prstGeom prst="rect">
            <a:avLst/>
          </a:prstGeom>
          <a:noFill/>
          <a:ln/>
        </p:spPr>
        <p:txBody>
          <a:bodyPr wrap="square" lIns="0" tIns="0" rIns="0" bIns="0" rtlCol="0" anchor="ctr"/>
          <a:lstStyle/>
          <a:p>
            <a:pPr indent="0" marL="0">
              <a:buNone/>
            </a:pPr>
            <a:r>
              <a:rPr lang="en-US" sz="1500" dirty="0">
                <a:solidFill>
                  <a:schemeClr val="accent6"/>
                </a:solidFill>
              </a:rPr>
              <a:t>Production work: Consumer Duty review, authority to act for the customer, data-sharing agreements, managed encryption keys and model risk governance.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Let's see it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Live demo: the House Move app and nsflow</a:t>
            </a:r>
            <a:endParaRPr lang="en-US" sz="2200" dirty="0"/>
          </a:p>
          <a:p>
            <a:pPr indent="0" marL="0">
              <a:buNone/>
            </a:pPr>
            <a:r>
              <a:rPr lang="en-US" sz="2200" dirty="0">
                <a:solidFill>
                  <a:schemeClr val="accent4"/>
                </a:solidFill>
              </a:rPr>
              <a:t>Thank you</a:t>
            </a:r>
            <a:endParaRPr lang="en-US" sz="2200" dirty="0"/>
          </a:p>
        </p:txBody>
      </p:sp>
      <p:sp>
        <p:nvSpPr>
          <p:cNvPr id="4" name="entry"/>
          <p:cNvSpPr txBox="1"/>
          <p:nvPr/>
        </p:nvSpPr>
        <p:spPr>
          <a:xfrm>
            <a:off x="731520" y="5897880"/>
            <a:ext cx="10698480" cy="365760"/>
          </a:xfrm>
          <a:prstGeom prst="rect">
            <a:avLst/>
          </a:prstGeom>
          <a:noFill/>
          <a:ln/>
        </p:spPr>
        <p:txBody>
          <a:bodyPr wrap="square" lIns="0" tIns="0" rIns="0" bIns="0" rtlCol="0" anchor="ctr"/>
          <a:lstStyle/>
          <a:p>
            <a:pPr indent="0" marL="0">
              <a:buNone/>
            </a:pPr>
            <a:r>
              <a:rPr lang="en-US" sz="1300" dirty="0">
                <a:solidFill>
                  <a:schemeClr val="bg2"/>
                </a:solidFill>
              </a:rPr>
              <a:t>EMEA Hackathon 2026  ·  Entry by associate 110737  ·  Varadaraj.pandurangan@cognizant.com  ·  BFS UK</a:t>
            </a:r>
            <a:endParaRPr lang="en-US" sz="1300" dirty="0"/>
          </a:p>
        </p:txBody>
      </p:sp>
      <p:sp>
        <p:nvSpPr>
          <p:cNvPr id="5" name="closing circle"/>
          <p:cNvSpPr/>
          <p:nvPr/>
        </p:nvSpPr>
        <p:spPr>
          <a:xfrm>
            <a:off x="8503920" y="1463040"/>
            <a:ext cx="3108960" cy="3108960"/>
          </a:xfrm>
          <a:prstGeom prst="ellipse">
            <a:avLst/>
          </a:prstGeom>
          <a:solidFill>
            <a:schemeClr val="accent2"/>
          </a:solidFill>
          <a:ln/>
        </p:spPr>
      </p:sp>
      <p:pic>
        <p:nvPicPr>
          <p:cNvPr id="6" name="closing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theme/theme1.xml><?xml version="1.0" encoding="utf-8"?>
<a:theme xmlns:a="http://schemas.openxmlformats.org/drawingml/2006/main" name="House Move">
  <a:themeElements>
    <a:clrScheme name="House Move">
      <a:dk1>
        <a:srgbClr val="1E2B2A"/>
      </a:dk1>
      <a:lt1>
        <a:srgbClr val="FFFFFF"/>
      </a:lt1>
      <a:dk2>
        <a:srgbClr val="1F4E4A"/>
      </a:dk2>
      <a:lt2>
        <a:srgbClr val="EEF4F1"/>
      </a:lt2>
      <a:accent1>
        <a:srgbClr val="E07A5F"/>
      </a:accent1>
      <a:accent2>
        <a:srgbClr val="2F7D6D"/>
      </a:accent2>
      <a:accent3>
        <a:srgbClr val="81B29A"/>
      </a:accent3>
      <a:accent4>
        <a:srgbClr val="F2CC8F"/>
      </a:accent4>
      <a:accent5>
        <a:srgbClr val="3D405B"/>
      </a:accent5>
      <a:accent6>
        <a:srgbClr val="6B7F7B"/>
      </a:accent6>
      <a:hlink>
        <a:srgbClr val="2F7D6D"/>
      </a:hlink>
      <a:folHlink>
        <a:srgbClr val="3D405B"/>
      </a:folHlink>
    </a:clrScheme>
    <a:fontScheme name="House Mo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House Move Agent</dc:title>
  <dc:subject>PptxGenJS Presentation</dc:subject>
  <dc:creator>Associate 110737, BFS UK</dc:creator>
  <cp:lastModifiedBy>Associate 110737, BFS UK</cp:lastModifiedBy>
  <cp:revision>1</cp:revision>
  <dcterms:created xsi:type="dcterms:W3CDTF">2026-10-19T21:09:11Z</dcterms:created>
  <dcterms:modified xsi:type="dcterms:W3CDTF">2026-10-19T21:09:11Z</dcterms:modified>
</cp:coreProperties>
</file>