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3ce3f5e-c7dc-5906-812e-facac33aeb09}">
          <p14:sldIdLst>
            <p14:sldId id="256"/>
          </p14:sldIdLst>
        </p14:section>
        <p14:section name="Problem and solution" id="{43b0011a-9d31-c4bb-1220-efa6a9ebc127}">
          <p14:sldIdLst>
            <p14:sldId id="257"/>
            <p14:sldId id="258"/>
            <p14:sldId id="259"/>
          </p14:sldIdLst>
        </p14:section>
        <p14:section name="The two AI moments" id="{bdf31b38-5982-264a-755d-c8bb34a0f1d6}">
          <p14:sldIdLst>
            <p14:sldId id="260"/>
            <p14:sldId id="261"/>
          </p14:sldIdLst>
        </p14:section>
        <p14:section name="How it works" id="{27d7a6e9-dc75-f9f9-c685-d940d3f45d12}">
          <p14:sldIdLst>
            <p14:sldId id="262"/>
            <p14:sldId id="263"/>
            <p14:sldId id="264"/>
            <p14:sldId id="265"/>
            <p14:sldId id="266"/>
            <p14:sldId id="267"/>
          </p14:sldIdLst>
        </p14:section>
        <p14:section name="Results and next steps" id="{93f2ee55-bec5-d81f-d38a-908893ee07d7}">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4E4A"/>
                </a:solidFill>
                <a:latin typeface="+mj-lt"/>
              </a:defRPr>
            </a:pPr>
            <a:r>
              <a:rPr sz="1600" b="0" i="0" u="none" strike="noStrike">
                <a:solidFill>
                  <a:srgbClr val="1F4E4A"/>
                </a:solidFill>
                <a:latin typeface="+mj-lt"/>
              </a:rPr>
              <a:t>Live demo run: 17 tasks re-sorted</a:t>
            </a:r>
          </a:p>
        </c:rich>
      </c:tx>
      <c:layout/>
      <c:overlay val="0"/>
    </c:title>
    <c:autoTitleDeleted val="0"/>
    <c:plotArea>
      <c:layout/>
      <c:barChart>
        <c:barDir val="bar"/>
        <c:grouping val="clustered"/>
        <c:varyColors val="0"/>
        <c:ser>
          <c:idx val="0"/>
          <c:order val="0"/>
          <c:tx>
            <c:strRef>
              <c:f>Sheet1!$B$1</c:f>
              <c:strCache>
                <c:ptCount val="1"/>
                <c:pt idx="0">
                  <c:v>Tasks</c:v>
                </c:pt>
              </c:strCache>
            </c:strRef>
          </c:tx>
          <c:spPr>
            <a:solidFill>
              <a:srgbClr val="2F7D6D"/>
            </a:solidFill>
            <a:effectLst/>
          </c:spPr>
          <c:invertIfNegative val="0"/>
          <c:dLbls>
            <c:numFmt formatCode="#,##0" sourceLinked="0"/>
            <c:txPr>
              <a:bodyPr/>
              <a:lstStyle/>
              <a:p>
                <a:pPr>
                  <a:defRPr b="0" i="0" strike="noStrike" sz="1400" u="none">
                    <a:solidFill>
                      <a:srgbClr val="1E2B2A"/>
                    </a:solidFill>
                    <a:latin typeface="+mn-lt"/>
                  </a:defRPr>
                </a:pPr>
              </a:p>
            </c:txPr>
            <c:showLegendKey val="0"/>
            <c:showVal val="1"/>
            <c:showCatName val="0"/>
            <c:showSerName val="0"/>
            <c:showPercent val="0"/>
            <c:showBubbleSize val="0"/>
            <c:showLeaderLines val="0"/>
          </c:dLbls>
          <c:cat>
            <c:multiLvlStrRef>
              <c:f>Sheet1!$A$2:$A$5</c:f>
              <c:multiLvlStrCache>
                <c:ptCount val="4"/>
                <c:lvl>
                  <c:pt idx="0">
                    <c:v>Already sent: correction drafted</c:v>
                  </c:pt>
                  <c:pt idx="1">
                    <c:v>Bookings to move (broadband, post, bank)</c:v>
                  </c:pt>
                  <c:pt idx="2">
                    <c:v>Not sent yet: updated automatically</c:v>
                  </c:pt>
                  <c:pt idx="3">
                    <c:v>Unchanged (tied to exchange)</c:v>
                  </c:pt>
                </c:lvl>
              </c:multiLvlStrCache>
            </c:multiLvlStrRef>
          </c:cat>
          <c:val>
            <c:numRef>
              <c:f>Sheet1!$B$2:$B$5</c:f>
              <c:numCache>
                <c:formatCode>General</c:formatCode>
                <c:ptCount val="4"/>
                <c:pt idx="0">
                  <c:v>13</c:v>
                </c:pt>
                <c:pt idx="1">
                  <c:v>3</c:v>
                </c:pt>
                <c:pt idx="2">
                  <c:v>0</c:v>
                </c:pt>
                <c:pt idx="3">
                  <c:v>1</c:v>
                </c:pt>
              </c:numCache>
            </c:numRef>
          </c:val>
        </c:ser>
        <c:dLbls>
          <c:numFmt formatCode="#,##0" sourceLinked="0"/>
          <c:txPr>
            <a:bodyPr/>
            <a:lstStyle/>
            <a:p>
              <a:pPr>
                <a:defRPr b="0" i="0" strike="noStrike" sz="1400" u="none">
                  <a:solidFill>
                    <a:srgbClr val="1E2B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E2B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moment: the mortgage completes, and now there are 15 to 30 organisations to tell. This assistant finds them from the customer's own payments, plans and drafts everything, and sends nothing without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Fines are real and sourced: DVLA up to £1,000 for licence and log book; councils can charge £70 for not notifying. Banks see the cost as servicing contacts after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The approval step is the hinge: everything before it is preparation, everything after it acts only on what the customer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agents and rules behind both doors. The bank route is the strongest because the bank already holds the payments and the references; standalone shows the product works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first tidies descriptors (references and DD markers stripped) and groups them; the LLM then classifies and infers life facts. The highlighted rows are the inferences a checklist cannot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a live run after everything had been sent. Each task keeps its status, draft and history; only its dates are recomputed, then code decides what needs a correction or a rebooking.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'is this just a checklist?': the checklist parts are deliberately code, so they are auditable; the AI does the parts a checklist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steps (profile, discovery, obligations, timeline, comms, tracker) are called in order; the four specialists use AAOSA delegation. Show the nsflow graph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LLM agents and 26 coded tools. The coordinator is the only agent the customer talks to. Pipeline agents are called in order; the four specialists use AAOSA. Every deadline, fee, send and date change runs through a coded tool, not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 is enforced in code and replayed as an attack in test_session_security.py: forged approved state is discarded, another customer's record will not open, tampered tokens are refused. Honest status: making approval customer-confirmed (a code checked against the customer's own message) and splitting reply handling from sending are the next two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these rules a Belfast to Leeds move would have been told to contact 'Belfast council tax', which does not exist: Northern Ireland uses domestic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public data, no API keys. GP practices and phone numbers come live from the NHS; schools from the Department for Education's register, rebuilt daily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is from the repository: agents and tools in the network file, rules in obligations_rules.json, tests from pytest.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these are pilot metrics. The insurance offer is opt-in, labelled indicative and never pre-selected.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Banking is first because it restores the strongest feature, automatic account references, for customers of any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discovery, live council lookup, the dated plan with local contacts, drafts and approval, the date slip, a provider reply,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46304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731520" y="3429000"/>
            <a:ext cx="6766560" cy="146304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House Move Agent  ·  Neuro SAN hackathon  ·  synthetic data only</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463040"/>
          </a:xfrm>
          <a:prstGeom prst="rect">
            <a:avLst/>
          </a:prstGeom>
          <a:noFill/>
          <a:ln/>
        </p:spPr>
        <p:txBody>
          <a:bodyPr wrap="square" lIns="0" tIns="0" rIns="0" bIns="0" rtlCol="0" anchor="b"/>
          <a:lstStyle/>
          <a:p>
            <a:pPr indent="0" marL="0">
              <a:buNone/>
            </a:pPr>
            <a:r>
              <a:rPr lang="en-US" sz="5400" b="1" dirty="0">
                <a:solidFill>
                  <a:schemeClr val="bg1"/>
                </a:solidFill>
              </a:rPr>
              <a:t>House Move Agent</a:t>
            </a:r>
            <a:endParaRPr lang="en-US" sz="5400" dirty="0"/>
          </a:p>
        </p:txBody>
      </p:sp>
      <p:sp>
        <p:nvSpPr>
          <p:cNvPr id="3" name="Text 0"/>
          <p:cNvSpPr/>
          <p:nvPr>
            <p:ph idx="101" type="body" hasCustomPrompt="1"/>
          </p:nvPr>
        </p:nvSpPr>
        <p:spPr>
          <a:xfrm>
            <a:off x="731520" y="3429000"/>
            <a:ext cx="6766560" cy="1463040"/>
          </a:xfrm>
          <a:prstGeom prst="rect">
            <a:avLst/>
          </a:prstGeom>
          <a:noFill/>
          <a:ln/>
        </p:spPr>
        <p:txBody>
          <a:bodyPr wrap="square" lIns="0" tIns="0" rIns="0" bIns="0" rtlCol="0" anchor="t"/>
          <a:lstStyle/>
          <a:p>
            <a:pPr indent="0" marL="0">
              <a:buNone/>
            </a:pPr>
            <a:r>
              <a:rPr lang="en-US" sz="2200" dirty="0">
                <a:solidFill>
                  <a:schemeClr val="accent4"/>
                </a:solidFill>
              </a:rPr>
              <a:t>Tell everyone you're moving: on time, in the right order, and only with your approval</a:t>
            </a:r>
            <a:endParaRPr lang="en-US" sz="2200" dirty="0"/>
          </a:p>
        </p:txBody>
      </p:sp>
      <p:sp>
        <p:nvSpPr>
          <p:cNvPr id="4" name="Text 2"/>
          <p:cNvSpPr txBox="1"/>
          <p:nvPr/>
        </p:nvSpPr>
        <p:spPr>
          <a:xfrm>
            <a:off x="731520" y="5852160"/>
            <a:ext cx="7315200" cy="365760"/>
          </a:xfrm>
          <a:prstGeom prst="rect">
            <a:avLst/>
          </a:prstGeom>
          <a:noFill/>
          <a:ln/>
        </p:spPr>
        <p:txBody>
          <a:bodyPr wrap="square" lIns="0" tIns="0" rIns="0" bIns="0" rtlCol="0" anchor="ctr"/>
          <a:lstStyle/>
          <a:p>
            <a:pPr indent="0" marL="0">
              <a:buNone/>
            </a:pPr>
            <a:r>
              <a:rPr lang="en-US" sz="1400" dirty="0">
                <a:solidFill>
                  <a:schemeClr val="bg2"/>
                </a:solidFill>
              </a:rPr>
              <a:t>Multi-agent assistant built on Neuro SAN  ·  13 agents  ·  synthetic data</a:t>
            </a:r>
            <a:endParaRPr lang="en-US" sz="1400" dirty="0"/>
          </a:p>
        </p:txBody>
      </p:sp>
      <p:sp>
        <p:nvSpPr>
          <p:cNvPr id="5" name="hero circle"/>
          <p:cNvSpPr/>
          <p:nvPr/>
        </p:nvSpPr>
        <p:spPr>
          <a:xfrm>
            <a:off x="8503920" y="1463040"/>
            <a:ext cx="3108960" cy="3108960"/>
          </a:xfrm>
          <a:prstGeom prst="ellipse">
            <a:avLst/>
          </a:prstGeom>
          <a:solidFill>
            <a:schemeClr val="accent1"/>
          </a:solidFill>
          <a:ln/>
        </p:spPr>
      </p:sp>
      <p:pic>
        <p:nvPicPr>
          <p:cNvPr id="6" name="hero icon" descr="preencoded.png">    </p:cNvPr>
          <p:cNvPicPr>
            <a:picLocks noChangeAspect="1"/>
          </p:cNvPicPr>
          <p:nvPr/>
        </p:nvPicPr>
        <p:blipFill>
          <a:blip r:embed="rId1"/>
          <a:stretch>
            <a:fillRect/>
          </a:stretch>
        </p:blipFill>
        <p:spPr>
          <a:xfrm>
            <a:off x="9235440" y="214884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Moving home means telling 15 to 30 organisations</a:t>
            </a:r>
            <a:endParaRPr lang="en-US" sz="3400" dirty="0"/>
          </a:p>
        </p:txBody>
      </p:sp>
      <p:sp>
        <p:nvSpPr>
          <p:cNvPr id="3" name="stat card 1"/>
          <p:cNvSpPr/>
          <p:nvPr/>
        </p:nvSpPr>
        <p:spPr>
          <a:xfrm>
            <a:off x="548640" y="1554480"/>
            <a:ext cx="3474720" cy="2926080"/>
          </a:xfrm>
          <a:prstGeom prst="roundRect">
            <a:avLst>
              <a:gd name="adj" fmla="val 3750"/>
            </a:avLst>
          </a:prstGeom>
          <a:solidFill>
            <a:schemeClr val="bg2"/>
          </a:solidFill>
          <a:ln/>
        </p:spPr>
      </p:sp>
      <p:sp>
        <p:nvSpPr>
          <p:cNvPr id="4" name="stat 1"/>
          <p:cNvSpPr txBox="1"/>
          <p:nvPr/>
        </p:nvSpPr>
        <p:spPr>
          <a:xfrm>
            <a:off x="822960" y="1783080"/>
            <a:ext cx="2926080" cy="128016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15–30</a:t>
            </a:r>
            <a:endParaRPr lang="en-US" sz="6000" dirty="0"/>
          </a:p>
        </p:txBody>
      </p:sp>
      <p:sp>
        <p:nvSpPr>
          <p:cNvPr id="5" name="Text 3"/>
          <p:cNvSpPr txBox="1"/>
          <p:nvPr/>
        </p:nvSpPr>
        <p:spPr>
          <a:xfrm>
            <a:off x="822960" y="3154680"/>
            <a:ext cx="2926080" cy="1097280"/>
          </a:xfrm>
          <a:prstGeom prst="rect">
            <a:avLst/>
          </a:prstGeom>
          <a:noFill/>
          <a:ln/>
        </p:spPr>
        <p:txBody>
          <a:bodyPr wrap="square" lIns="0" tIns="0" rIns="0" bIns="0" rtlCol="0" anchor="t"/>
          <a:lstStyle/>
          <a:p>
            <a:pPr indent="0" marL="0">
              <a:buNone/>
            </a:pPr>
            <a:r>
              <a:rPr lang="en-US" sz="1800" dirty="0">
                <a:solidFill>
                  <a:schemeClr val="tx1"/>
                </a:solidFill>
              </a:rPr>
              <a:t>organisations to tell about a move</a:t>
            </a:r>
            <a:endParaRPr lang="en-US" sz="1800" dirty="0"/>
          </a:p>
        </p:txBody>
      </p:sp>
      <p:sp>
        <p:nvSpPr>
          <p:cNvPr id="6" name="stat card 2"/>
          <p:cNvSpPr/>
          <p:nvPr/>
        </p:nvSpPr>
        <p:spPr>
          <a:xfrm>
            <a:off x="4297680" y="1554480"/>
            <a:ext cx="3474720" cy="2926080"/>
          </a:xfrm>
          <a:prstGeom prst="roundRect">
            <a:avLst>
              <a:gd name="adj" fmla="val 3750"/>
            </a:avLst>
          </a:prstGeom>
          <a:solidFill>
            <a:schemeClr val="bg2"/>
          </a:solidFill>
          <a:ln/>
        </p:spPr>
      </p:sp>
      <p:sp>
        <p:nvSpPr>
          <p:cNvPr id="7" name="stat 2"/>
          <p:cNvSpPr txBox="1"/>
          <p:nvPr/>
        </p:nvSpPr>
        <p:spPr>
          <a:xfrm>
            <a:off x="4572000" y="1783080"/>
            <a:ext cx="2926080" cy="12801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£1,000</a:t>
            </a:r>
            <a:endParaRPr lang="en-US" sz="6000" dirty="0"/>
          </a:p>
        </p:txBody>
      </p:sp>
      <p:sp>
        <p:nvSpPr>
          <p:cNvPr id="8" name="Text 6"/>
          <p:cNvSpPr txBox="1"/>
          <p:nvPr/>
        </p:nvSpPr>
        <p:spPr>
          <a:xfrm>
            <a:off x="4572000" y="3154680"/>
            <a:ext cx="2926080" cy="1097280"/>
          </a:xfrm>
          <a:prstGeom prst="rect">
            <a:avLst/>
          </a:prstGeom>
          <a:noFill/>
          <a:ln/>
        </p:spPr>
        <p:txBody>
          <a:bodyPr wrap="square" lIns="0" tIns="0" rIns="0" bIns="0" rtlCol="0" anchor="t"/>
          <a:lstStyle/>
          <a:p>
            <a:pPr indent="0" marL="0">
              <a:buNone/>
            </a:pPr>
            <a:r>
              <a:rPr lang="en-US" sz="1800" dirty="0">
                <a:solidFill>
                  <a:schemeClr val="tx1"/>
                </a:solidFill>
              </a:rPr>
              <a:t>maximum fine for not telling DVLA your new address</a:t>
            </a:r>
            <a:endParaRPr lang="en-US" sz="1800" dirty="0"/>
          </a:p>
        </p:txBody>
      </p:sp>
      <p:sp>
        <p:nvSpPr>
          <p:cNvPr id="9" name="stat card 3"/>
          <p:cNvSpPr/>
          <p:nvPr/>
        </p:nvSpPr>
        <p:spPr>
          <a:xfrm>
            <a:off x="8046720" y="1554480"/>
            <a:ext cx="3474720" cy="2926080"/>
          </a:xfrm>
          <a:prstGeom prst="roundRect">
            <a:avLst>
              <a:gd name="adj" fmla="val 3750"/>
            </a:avLst>
          </a:prstGeom>
          <a:solidFill>
            <a:schemeClr val="bg2"/>
          </a:solidFill>
          <a:ln/>
        </p:spPr>
      </p:sp>
      <p:sp>
        <p:nvSpPr>
          <p:cNvPr id="10" name="stat 3"/>
          <p:cNvSpPr txBox="1"/>
          <p:nvPr/>
        </p:nvSpPr>
        <p:spPr>
          <a:xfrm>
            <a:off x="8321040" y="1783080"/>
            <a:ext cx="2926080" cy="1280160"/>
          </a:xfrm>
          <a:prstGeom prst="rect">
            <a:avLst/>
          </a:prstGeom>
          <a:noFill/>
          <a:ln/>
        </p:spPr>
        <p:txBody>
          <a:bodyPr wrap="square" lIns="0" tIns="0" rIns="0" bIns="0" rtlCol="0" anchor="ctr"/>
          <a:lstStyle/>
          <a:p>
            <a:pPr indent="0" marL="0">
              <a:buNone/>
            </a:pPr>
            <a:r>
              <a:rPr lang="en-US" sz="6000" b="1" dirty="0">
                <a:solidFill>
                  <a:schemeClr val="accent5"/>
                </a:solidFill>
                <a:latin typeface="Cambria" pitchFamily="34" charset="0"/>
                <a:ea typeface="Cambria" pitchFamily="34" charset="-122"/>
                <a:cs typeface="Cambria" pitchFamily="34" charset="-120"/>
              </a:rPr>
              <a:t>£70</a:t>
            </a:r>
            <a:endParaRPr lang="en-US" sz="6000" dirty="0"/>
          </a:p>
        </p:txBody>
      </p:sp>
      <p:sp>
        <p:nvSpPr>
          <p:cNvPr id="11" name="Text 9"/>
          <p:cNvSpPr txBox="1"/>
          <p:nvPr/>
        </p:nvSpPr>
        <p:spPr>
          <a:xfrm>
            <a:off x="8321040" y="3154680"/>
            <a:ext cx="2926080" cy="1097280"/>
          </a:xfrm>
          <a:prstGeom prst="rect">
            <a:avLst/>
          </a:prstGeom>
          <a:noFill/>
          <a:ln/>
        </p:spPr>
        <p:txBody>
          <a:bodyPr wrap="square" lIns="0" tIns="0" rIns="0" bIns="0" rtlCol="0" anchor="t"/>
          <a:lstStyle/>
          <a:p>
            <a:pPr indent="0" marL="0">
              <a:buNone/>
            </a:pPr>
            <a:r>
              <a:rPr lang="en-US" sz="1800" dirty="0">
                <a:solidFill>
                  <a:schemeClr val="tx1"/>
                </a:solidFill>
              </a:rPr>
              <a:t>council tax penalty for not notifying a move</a:t>
            </a:r>
            <a:endParaRPr lang="en-US" sz="1800" dirty="0"/>
          </a:p>
        </p:txBody>
      </p:sp>
      <p:sp>
        <p:nvSpPr>
          <p:cNvPr id="12" name="Text 10"/>
          <p:cNvSpPr txBox="1"/>
          <p:nvPr/>
        </p:nvSpPr>
        <p:spPr>
          <a:xfrm>
            <a:off x="548640" y="4846320"/>
            <a:ext cx="11064240" cy="731520"/>
          </a:xfrm>
          <a:prstGeom prst="rect">
            <a:avLst/>
          </a:prstGeom>
          <a:noFill/>
          <a:ln/>
        </p:spPr>
        <p:txBody>
          <a:bodyPr wrap="square" lIns="0" tIns="0" rIns="0" bIns="0" rtlCol="0" anchor="ctr"/>
          <a:lstStyle/>
          <a:p>
            <a:pPr indent="0" marL="0">
              <a:buNone/>
            </a:pPr>
            <a:r>
              <a:rPr lang="en-US" sz="1800" dirty="0">
                <a:solidFill>
                  <a:schemeClr val="tx1"/>
                </a:solidFill>
              </a:rPr>
              <a:t>People forget some, find out late, and then call their bank and providers to fix the gaps. Some of those gaps are legal obligations.</a:t>
            </a:r>
            <a:endParaRPr lang="en-US" sz="1800" dirty="0"/>
          </a:p>
        </p:txBody>
      </p:sp>
      <p:sp>
        <p:nvSpPr>
          <p:cNvPr id="13" name="Text 11"/>
          <p:cNvSpPr txBox="1"/>
          <p:nvPr/>
        </p:nvSpPr>
        <p:spPr>
          <a:xfrm>
            <a:off x="548640" y="5760720"/>
            <a:ext cx="11064240" cy="320040"/>
          </a:xfrm>
          <a:prstGeom prst="rect">
            <a:avLst/>
          </a:prstGeom>
          <a:noFill/>
          <a:ln/>
        </p:spPr>
        <p:txBody>
          <a:bodyPr wrap="square" lIns="0" tIns="0" rIns="0" bIns="0" rtlCol="0" anchor="ctr"/>
          <a:lstStyle/>
          <a:p>
            <a:pPr indent="0" marL="0">
              <a:buNone/>
            </a:pPr>
            <a:r>
              <a:rPr lang="en-US" sz="1100" dirty="0">
                <a:solidFill>
                  <a:schemeClr val="accent6"/>
                </a:solidFill>
              </a:rPr>
              <a:t>Sources: gov.uk (DVLA), Local Government Finance Act 1992 Sch. 3 (legislation.gov.uk)</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One conversation, six steps</a:t>
            </a:r>
            <a:endParaRPr lang="en-US" sz="3400" dirty="0"/>
          </a:p>
        </p:txBody>
      </p:sp>
      <p:sp>
        <p:nvSpPr>
          <p:cNvPr id="3" name="Discover circle"/>
          <p:cNvSpPr/>
          <p:nvPr/>
        </p:nvSpPr>
        <p:spPr>
          <a:xfrm>
            <a:off x="960120" y="1600200"/>
            <a:ext cx="914400" cy="914400"/>
          </a:xfrm>
          <a:prstGeom prst="ellipse">
            <a:avLst/>
          </a:prstGeom>
          <a:solidFill>
            <a:schemeClr val="accent2"/>
          </a:solidFill>
          <a:ln/>
        </p:spPr>
      </p:sp>
      <p:pic>
        <p:nvPicPr>
          <p:cNvPr id="4" name="Discover icon" descr="preencoded.png">    </p:cNvPr>
          <p:cNvPicPr>
            <a:picLocks noChangeAspect="1"/>
          </p:cNvPicPr>
          <p:nvPr/>
        </p:nvPicPr>
        <p:blipFill>
          <a:blip r:embed="rId1"/>
          <a:stretch>
            <a:fillRect/>
          </a:stretch>
        </p:blipFill>
        <p:spPr>
          <a:xfrm>
            <a:off x="1188720" y="1828800"/>
            <a:ext cx="457200" cy="457200"/>
          </a:xfrm>
          <a:prstGeom prst="rect">
            <a:avLst/>
          </a:prstGeom>
        </p:spPr>
      </p:pic>
      <p:sp>
        <p:nvSpPr>
          <p:cNvPr id="5" name="Text 2"/>
          <p:cNvSpPr txBox="1"/>
          <p:nvPr/>
        </p:nvSpPr>
        <p:spPr>
          <a:xfrm>
            <a:off x="54864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1. Discover</a:t>
            </a:r>
            <a:endParaRPr lang="en-US" sz="1800" dirty="0"/>
          </a:p>
        </p:txBody>
      </p:sp>
      <p:sp>
        <p:nvSpPr>
          <p:cNvPr id="6" name="Text 3"/>
          <p:cNvSpPr txBox="1"/>
          <p:nvPr/>
        </p:nvSpPr>
        <p:spPr>
          <a:xfrm>
            <a:off x="54864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Finds who you pay from your own transactions, including the ones you forgot</a:t>
            </a:r>
            <a:endParaRPr lang="en-US" sz="1400" dirty="0"/>
          </a:p>
        </p:txBody>
      </p:sp>
      <p:sp>
        <p:nvSpPr>
          <p:cNvPr id="7" name="Plan circle"/>
          <p:cNvSpPr/>
          <p:nvPr/>
        </p:nvSpPr>
        <p:spPr>
          <a:xfrm>
            <a:off x="2834640" y="1600200"/>
            <a:ext cx="914400" cy="914400"/>
          </a:xfrm>
          <a:prstGeom prst="ellipse">
            <a:avLst/>
          </a:prstGeom>
          <a:solidFill>
            <a:schemeClr val="accent2"/>
          </a:solidFill>
          <a:ln/>
        </p:spPr>
      </p:sp>
      <p:pic>
        <p:nvPicPr>
          <p:cNvPr id="8" name="Plan icon" descr="preencoded.png">    </p:cNvPr>
          <p:cNvPicPr>
            <a:picLocks noChangeAspect="1"/>
          </p:cNvPicPr>
          <p:nvPr/>
        </p:nvPicPr>
        <p:blipFill>
          <a:blip r:embed="rId2"/>
          <a:stretch>
            <a:fillRect/>
          </a:stretch>
        </p:blipFill>
        <p:spPr>
          <a:xfrm>
            <a:off x="3063240" y="1828800"/>
            <a:ext cx="457200" cy="457200"/>
          </a:xfrm>
          <a:prstGeom prst="rect">
            <a:avLst/>
          </a:prstGeom>
        </p:spPr>
      </p:pic>
      <p:sp>
        <p:nvSpPr>
          <p:cNvPr id="9" name="Text 5"/>
          <p:cNvSpPr txBox="1"/>
          <p:nvPr/>
        </p:nvSpPr>
        <p:spPr>
          <a:xfrm>
            <a:off x="242316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2. Plan</a:t>
            </a:r>
            <a:endParaRPr lang="en-US" sz="1800" dirty="0"/>
          </a:p>
        </p:txBody>
      </p:sp>
      <p:sp>
        <p:nvSpPr>
          <p:cNvPr id="10" name="Text 6"/>
          <p:cNvSpPr txBox="1"/>
          <p:nvPr/>
        </p:nvSpPr>
        <p:spPr>
          <a:xfrm>
            <a:off x="242316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Dated tasks from sourced rules, in UK working days</a:t>
            </a:r>
            <a:endParaRPr lang="en-US" sz="1400" dirty="0"/>
          </a:p>
        </p:txBody>
      </p:sp>
      <p:sp>
        <p:nvSpPr>
          <p:cNvPr id="11" name="Draft circle"/>
          <p:cNvSpPr/>
          <p:nvPr/>
        </p:nvSpPr>
        <p:spPr>
          <a:xfrm>
            <a:off x="4709160" y="1600200"/>
            <a:ext cx="914400" cy="914400"/>
          </a:xfrm>
          <a:prstGeom prst="ellipse">
            <a:avLst/>
          </a:prstGeom>
          <a:solidFill>
            <a:schemeClr val="accent2"/>
          </a:solidFill>
          <a:ln/>
        </p:spPr>
      </p:sp>
      <p:pic>
        <p:nvPicPr>
          <p:cNvPr id="12" name="Draft icon" descr="preencoded.png">    </p:cNvPr>
          <p:cNvPicPr>
            <a:picLocks noChangeAspect="1"/>
          </p:cNvPicPr>
          <p:nvPr/>
        </p:nvPicPr>
        <p:blipFill>
          <a:blip r:embed="rId3"/>
          <a:stretch>
            <a:fillRect/>
          </a:stretch>
        </p:blipFill>
        <p:spPr>
          <a:xfrm>
            <a:off x="4937760" y="1828800"/>
            <a:ext cx="457200" cy="457200"/>
          </a:xfrm>
          <a:prstGeom prst="rect">
            <a:avLst/>
          </a:prstGeom>
        </p:spPr>
      </p:pic>
      <p:sp>
        <p:nvSpPr>
          <p:cNvPr id="13" name="Text 8"/>
          <p:cNvSpPr txBox="1"/>
          <p:nvPr/>
        </p:nvSpPr>
        <p:spPr>
          <a:xfrm>
            <a:off x="429768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3. Draft</a:t>
            </a:r>
            <a:endParaRPr lang="en-US" sz="1800" dirty="0"/>
          </a:p>
        </p:txBody>
      </p:sp>
      <p:sp>
        <p:nvSpPr>
          <p:cNvPr id="14" name="Text 9"/>
          <p:cNvSpPr txBox="1"/>
          <p:nvPr/>
        </p:nvSpPr>
        <p:spPr>
          <a:xfrm>
            <a:off x="429768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A ready-to-send message or form for every organisation</a:t>
            </a:r>
            <a:endParaRPr lang="en-US" sz="1400" dirty="0"/>
          </a:p>
        </p:txBody>
      </p:sp>
      <p:sp>
        <p:nvSpPr>
          <p:cNvPr id="15" name="Approve circle"/>
          <p:cNvSpPr/>
          <p:nvPr/>
        </p:nvSpPr>
        <p:spPr>
          <a:xfrm>
            <a:off x="6583680" y="1600200"/>
            <a:ext cx="914400" cy="914400"/>
          </a:xfrm>
          <a:prstGeom prst="ellipse">
            <a:avLst/>
          </a:prstGeom>
          <a:solidFill>
            <a:schemeClr val="accent1"/>
          </a:solidFill>
          <a:ln/>
        </p:spPr>
      </p:sp>
      <p:pic>
        <p:nvPicPr>
          <p:cNvPr id="16" name="Approve icon" descr="preencoded.png">    </p:cNvPr>
          <p:cNvPicPr>
            <a:picLocks noChangeAspect="1"/>
          </p:cNvPicPr>
          <p:nvPr/>
        </p:nvPicPr>
        <p:blipFill>
          <a:blip r:embed="rId4"/>
          <a:stretch>
            <a:fillRect/>
          </a:stretch>
        </p:blipFill>
        <p:spPr>
          <a:xfrm>
            <a:off x="6812280" y="1828800"/>
            <a:ext cx="457200" cy="457200"/>
          </a:xfrm>
          <a:prstGeom prst="rect">
            <a:avLst/>
          </a:prstGeom>
        </p:spPr>
      </p:pic>
      <p:sp>
        <p:nvSpPr>
          <p:cNvPr id="17" name="Text 11"/>
          <p:cNvSpPr txBox="1"/>
          <p:nvPr/>
        </p:nvSpPr>
        <p:spPr>
          <a:xfrm>
            <a:off x="617220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4. Approve</a:t>
            </a:r>
            <a:endParaRPr lang="en-US" sz="1800" dirty="0"/>
          </a:p>
        </p:txBody>
      </p:sp>
      <p:sp>
        <p:nvSpPr>
          <p:cNvPr id="18" name="Text 12"/>
          <p:cNvSpPr txBox="1"/>
          <p:nvPr/>
        </p:nvSpPr>
        <p:spPr>
          <a:xfrm>
            <a:off x="617220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Nothing goes out until the server has it approved</a:t>
            </a:r>
            <a:endParaRPr lang="en-US" sz="1400" dirty="0"/>
          </a:p>
        </p:txBody>
      </p:sp>
      <p:sp>
        <p:nvSpPr>
          <p:cNvPr id="19" name="Track circle"/>
          <p:cNvSpPr/>
          <p:nvPr/>
        </p:nvSpPr>
        <p:spPr>
          <a:xfrm>
            <a:off x="8458200" y="1600200"/>
            <a:ext cx="914400" cy="914400"/>
          </a:xfrm>
          <a:prstGeom prst="ellipse">
            <a:avLst/>
          </a:prstGeom>
          <a:solidFill>
            <a:schemeClr val="accent5"/>
          </a:solidFill>
          <a:ln/>
        </p:spPr>
      </p:sp>
      <p:pic>
        <p:nvPicPr>
          <p:cNvPr id="20" name="Track icon" descr="preencoded.png">    </p:cNvPr>
          <p:cNvPicPr>
            <a:picLocks noChangeAspect="1"/>
          </p:cNvPicPr>
          <p:nvPr/>
        </p:nvPicPr>
        <p:blipFill>
          <a:blip r:embed="rId5"/>
          <a:stretch>
            <a:fillRect/>
          </a:stretch>
        </p:blipFill>
        <p:spPr>
          <a:xfrm>
            <a:off x="8686800" y="1828800"/>
            <a:ext cx="457200" cy="457200"/>
          </a:xfrm>
          <a:prstGeom prst="rect">
            <a:avLst/>
          </a:prstGeom>
        </p:spPr>
      </p:pic>
      <p:sp>
        <p:nvSpPr>
          <p:cNvPr id="21" name="Text 14"/>
          <p:cNvSpPr txBox="1"/>
          <p:nvPr/>
        </p:nvSpPr>
        <p:spPr>
          <a:xfrm>
            <a:off x="804672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5. Track</a:t>
            </a:r>
            <a:endParaRPr lang="en-US" sz="1800" dirty="0"/>
          </a:p>
        </p:txBody>
      </p:sp>
      <p:sp>
        <p:nvSpPr>
          <p:cNvPr id="22" name="Text 15"/>
          <p:cNvSpPr txBox="1"/>
          <p:nvPr/>
        </p:nvSpPr>
        <p:spPr>
          <a:xfrm>
            <a:off x="804672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Sends, replies and replans when the date moves</a:t>
            </a:r>
            <a:endParaRPr lang="en-US" sz="1400" dirty="0"/>
          </a:p>
        </p:txBody>
      </p:sp>
      <p:sp>
        <p:nvSpPr>
          <p:cNvPr id="23" name="Local contacts circle"/>
          <p:cNvSpPr/>
          <p:nvPr/>
        </p:nvSpPr>
        <p:spPr>
          <a:xfrm>
            <a:off x="10332720" y="1600200"/>
            <a:ext cx="914400" cy="914400"/>
          </a:xfrm>
          <a:prstGeom prst="ellipse">
            <a:avLst/>
          </a:prstGeom>
          <a:solidFill>
            <a:schemeClr val="accent5"/>
          </a:solidFill>
          <a:ln/>
        </p:spPr>
      </p:sp>
      <p:pic>
        <p:nvPicPr>
          <p:cNvPr id="24" name="Local contacts icon" descr="preencoded.png">    </p:cNvPr>
          <p:cNvPicPr>
            <a:picLocks noChangeAspect="1"/>
          </p:cNvPicPr>
          <p:nvPr/>
        </p:nvPicPr>
        <p:blipFill>
          <a:blip r:embed="rId6"/>
          <a:stretch>
            <a:fillRect/>
          </a:stretch>
        </p:blipFill>
        <p:spPr>
          <a:xfrm>
            <a:off x="10561320" y="1828800"/>
            <a:ext cx="457200" cy="457200"/>
          </a:xfrm>
          <a:prstGeom prst="rect">
            <a:avLst/>
          </a:prstGeom>
        </p:spPr>
      </p:pic>
      <p:sp>
        <p:nvSpPr>
          <p:cNvPr id="25" name="Text 17"/>
          <p:cNvSpPr txBox="1"/>
          <p:nvPr/>
        </p:nvSpPr>
        <p:spPr>
          <a:xfrm>
            <a:off x="9921240" y="2697480"/>
            <a:ext cx="1737360" cy="457200"/>
          </a:xfrm>
          <a:prstGeom prst="rect">
            <a:avLst/>
          </a:prstGeom>
          <a:noFill/>
          <a:ln/>
        </p:spPr>
        <p:txBody>
          <a:bodyPr wrap="square" lIns="0" tIns="0" rIns="0" bIns="0" rtlCol="0" anchor="ctr"/>
          <a:lstStyle/>
          <a:p>
            <a:pPr algn="ctr" indent="0" marL="0">
              <a:buNone/>
            </a:pPr>
            <a:r>
              <a:rPr lang="en-US" sz="1800" b="1" dirty="0">
                <a:solidFill>
                  <a:schemeClr val="tx2"/>
                </a:solidFill>
              </a:rPr>
              <a:t>6. Local contacts</a:t>
            </a:r>
            <a:endParaRPr lang="en-US" sz="1800" dirty="0"/>
          </a:p>
        </p:txBody>
      </p:sp>
      <p:sp>
        <p:nvSpPr>
          <p:cNvPr id="26" name="Text 18"/>
          <p:cNvSpPr txBox="1"/>
          <p:nvPr/>
        </p:nvSpPr>
        <p:spPr>
          <a:xfrm>
            <a:off x="9921240" y="3200400"/>
            <a:ext cx="1737360" cy="1645920"/>
          </a:xfrm>
          <a:prstGeom prst="rect">
            <a:avLst/>
          </a:prstGeom>
          <a:noFill/>
          <a:ln/>
        </p:spPr>
        <p:txBody>
          <a:bodyPr wrap="square" lIns="0" tIns="0" rIns="0" bIns="0" rtlCol="0" anchor="t"/>
          <a:lstStyle/>
          <a:p>
            <a:pPr algn="ctr" indent="0" marL="0">
              <a:buNone/>
            </a:pPr>
            <a:r>
              <a:rPr lang="en-US" sz="1400" dirty="0">
                <a:solidFill>
                  <a:schemeClr val="tx1"/>
                </a:solidFill>
              </a:rPr>
              <a:t>Nearby GPs, schools and water companies at the new home</a:t>
            </a:r>
            <a:endParaRPr lang="en-US" sz="1400" dirty="0"/>
          </a:p>
        </p:txBody>
      </p:sp>
      <p:sp>
        <p:nvSpPr>
          <p:cNvPr id="27" name="principle band"/>
          <p:cNvSpPr/>
          <p:nvPr/>
        </p:nvSpPr>
        <p:spPr>
          <a:xfrm>
            <a:off x="548640" y="5074920"/>
            <a:ext cx="11064240" cy="868680"/>
          </a:xfrm>
          <a:prstGeom prst="roundRect">
            <a:avLst>
              <a:gd name="adj" fmla="val 12632"/>
            </a:avLst>
          </a:prstGeom>
          <a:solidFill>
            <a:schemeClr val="bg2"/>
          </a:solidFill>
          <a:ln/>
        </p:spPr>
      </p:sp>
      <p:sp>
        <p:nvSpPr>
          <p:cNvPr id="28" name="Text 20"/>
          <p:cNvSpPr txBox="1"/>
          <p:nvPr/>
        </p:nvSpPr>
        <p:spPr>
          <a:xfrm>
            <a:off x="822960" y="5120640"/>
            <a:ext cx="10607040" cy="777240"/>
          </a:xfrm>
          <a:prstGeom prst="rect">
            <a:avLst/>
          </a:prstGeom>
          <a:noFill/>
          <a:ln/>
        </p:spPr>
        <p:txBody>
          <a:bodyPr wrap="square" lIns="0" tIns="0" rIns="0" bIns="0" rtlCol="0" anchor="ctr"/>
          <a:lstStyle/>
          <a:p>
            <a:pPr indent="0" marL="0">
              <a:buNone/>
            </a:pPr>
            <a:r>
              <a:rPr lang="en-US" sz="1800" b="1" dirty="0">
                <a:solidFill>
                  <a:schemeClr val="tx2"/>
                </a:solidFill>
              </a:rPr>
              <a:t>Principle: </a:t>
            </a:r>
            <a:pPr indent="0" marL="0">
              <a:buNone/>
            </a:pPr>
            <a:r>
              <a:rPr lang="en-US" sz="1800" dirty="0">
                <a:solidFill>
                  <a:schemeClr val="tx1"/>
                </a:solidFill>
              </a:rPr>
              <a:t>AI where judgement is needed; rules and code wherever a deadline, fee or legal duty is involved.</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Two ways in: bank customer or standalone</a:t>
            </a:r>
            <a:endParaRPr lang="en-US" sz="3400" dirty="0"/>
          </a:p>
        </p:txBody>
      </p:sp>
      <p:sp>
        <p:nvSpPr>
          <p:cNvPr id="3" name="Bank customer card"/>
          <p:cNvSpPr/>
          <p:nvPr/>
        </p:nvSpPr>
        <p:spPr>
          <a:xfrm>
            <a:off x="548640" y="1463040"/>
            <a:ext cx="5394960" cy="4480560"/>
          </a:xfrm>
          <a:prstGeom prst="roundRect">
            <a:avLst>
              <a:gd name="adj" fmla="val 2449"/>
            </a:avLst>
          </a:prstGeom>
          <a:solidFill>
            <a:schemeClr val="bg2"/>
          </a:solidFill>
          <a:ln/>
        </p:spPr>
      </p:sp>
      <p:sp>
        <p:nvSpPr>
          <p:cNvPr id="4" name="Bank customer circle"/>
          <p:cNvSpPr/>
          <p:nvPr/>
        </p:nvSpPr>
        <p:spPr>
          <a:xfrm>
            <a:off x="868680" y="1737360"/>
            <a:ext cx="822960" cy="822960"/>
          </a:xfrm>
          <a:prstGeom prst="ellipse">
            <a:avLst/>
          </a:prstGeom>
          <a:solidFill>
            <a:schemeClr val="accent2"/>
          </a:solidFill>
          <a:ln/>
        </p:spPr>
      </p:sp>
      <p:pic>
        <p:nvPicPr>
          <p:cNvPr id="5" name="Bank customer icon" descr="preencoded.png">    </p:cNvPr>
          <p:cNvPicPr>
            <a:picLocks noChangeAspect="1"/>
          </p:cNvPicPr>
          <p:nvPr/>
        </p:nvPicPr>
        <p:blipFill>
          <a:blip r:embed="rId1"/>
          <a:stretch>
            <a:fillRect/>
          </a:stretch>
        </p:blipFill>
        <p:spPr>
          <a:xfrm>
            <a:off x="1074420" y="1943100"/>
            <a:ext cx="411480" cy="411480"/>
          </a:xfrm>
          <a:prstGeom prst="rect">
            <a:avLst/>
          </a:prstGeom>
        </p:spPr>
      </p:pic>
      <p:sp>
        <p:nvSpPr>
          <p:cNvPr id="6" name="Text 3"/>
          <p:cNvSpPr txBox="1"/>
          <p:nvPr/>
        </p:nvSpPr>
        <p:spPr>
          <a:xfrm>
            <a:off x="1874520" y="1737360"/>
            <a:ext cx="3840480" cy="457200"/>
          </a:xfrm>
          <a:prstGeom prst="rect">
            <a:avLst/>
          </a:prstGeom>
          <a:noFill/>
          <a:ln/>
        </p:spPr>
        <p:txBody>
          <a:bodyPr wrap="square" lIns="0" tIns="0" rIns="0" bIns="0" rtlCol="0" anchor="ctr"/>
          <a:lstStyle/>
          <a:p>
            <a:pPr indent="0" marL="0">
              <a:buNone/>
            </a:pPr>
            <a:r>
              <a:rPr lang="en-US" sz="2400" b="1" dirty="0">
                <a:solidFill>
                  <a:schemeClr val="tx2"/>
                </a:solidFill>
              </a:rPr>
              <a:t>Bank customer</a:t>
            </a:r>
            <a:endParaRPr lang="en-US" sz="2400" dirty="0"/>
          </a:p>
        </p:txBody>
      </p:sp>
      <p:sp>
        <p:nvSpPr>
          <p:cNvPr id="7" name="Text 4"/>
          <p:cNvSpPr txBox="1"/>
          <p:nvPr/>
        </p:nvSpPr>
        <p:spPr>
          <a:xfrm>
            <a:off x="1874520" y="2194560"/>
            <a:ext cx="3840480" cy="411480"/>
          </a:xfrm>
          <a:prstGeom prst="rect">
            <a:avLst/>
          </a:prstGeom>
          <a:noFill/>
          <a:ln/>
        </p:spPr>
        <p:txBody>
          <a:bodyPr wrap="square" lIns="0" tIns="0" rIns="0" bIns="0" rtlCol="0" anchor="ctr"/>
          <a:lstStyle/>
          <a:p>
            <a:pPr indent="0" marL="0">
              <a:buNone/>
            </a:pPr>
            <a:r>
              <a:rPr lang="en-US" sz="1500" i="1" dirty="0">
                <a:solidFill>
                  <a:schemeClr val="accent6"/>
                </a:solidFill>
              </a:rPr>
              <a:t>Starts when the mortgage completion date is set</a:t>
            </a:r>
            <a:endParaRPr lang="en-US" sz="1500" dirty="0"/>
          </a:p>
        </p:txBody>
      </p:sp>
      <p:sp>
        <p:nvSpPr>
          <p:cNvPr id="8" name="Text 5"/>
          <p:cNvSpPr txBox="1"/>
          <p:nvPr/>
        </p:nvSpPr>
        <p:spPr>
          <a:xfrm>
            <a:off x="914400" y="2926080"/>
            <a:ext cx="475488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Profile, 90 days of transactions and Direct Debit references from the bank</a:t>
            </a:r>
            <a:endParaRPr lang="en-US" sz="1700" dirty="0"/>
          </a:p>
          <a:p>
            <a:pPr marL="342900" indent="-342900">
              <a:spcAft>
                <a:spcPts val="1000"/>
              </a:spcAft>
              <a:buSzPct val="100000"/>
              <a:buChar char="•"/>
            </a:pPr>
            <a:r>
              <a:rPr lang="en-US" sz="1700" dirty="0">
                <a:solidFill>
                  <a:schemeClr val="tx1"/>
                </a:solidFill>
              </a:rPr>
              <a:t>Account and policy numbers filled in automatically</a:t>
            </a:r>
            <a:endParaRPr lang="en-US" sz="1700" dirty="0"/>
          </a:p>
          <a:p>
            <a:pPr marL="342900" indent="-342900">
              <a:spcAft>
                <a:spcPts val="1000"/>
              </a:spcAft>
              <a:buSzPct val="100000"/>
              <a:buChar char="•"/>
            </a:pPr>
            <a:r>
              <a:rPr lang="en-US" sz="1700" dirty="0">
                <a:solidFill>
                  <a:schemeClr val="tx1"/>
                </a:solidFill>
              </a:rPr>
              <a:t>The bank updates its own records directly</a:t>
            </a:r>
            <a:endParaRPr lang="en-US" sz="1700" dirty="0"/>
          </a:p>
        </p:txBody>
      </p:sp>
      <p:sp>
        <p:nvSpPr>
          <p:cNvPr id="9" name="Standalone card"/>
          <p:cNvSpPr/>
          <p:nvPr/>
        </p:nvSpPr>
        <p:spPr>
          <a:xfrm>
            <a:off x="6217920" y="1463040"/>
            <a:ext cx="5394960" cy="4480560"/>
          </a:xfrm>
          <a:prstGeom prst="roundRect">
            <a:avLst>
              <a:gd name="adj" fmla="val 2449"/>
            </a:avLst>
          </a:prstGeom>
          <a:solidFill>
            <a:schemeClr val="bg2"/>
          </a:solidFill>
          <a:ln/>
        </p:spPr>
      </p:sp>
      <p:sp>
        <p:nvSpPr>
          <p:cNvPr id="10" name="Standalone circle"/>
          <p:cNvSpPr/>
          <p:nvPr/>
        </p:nvSpPr>
        <p:spPr>
          <a:xfrm>
            <a:off x="6537960" y="1737360"/>
            <a:ext cx="822960" cy="822960"/>
          </a:xfrm>
          <a:prstGeom prst="ellipse">
            <a:avLst/>
          </a:prstGeom>
          <a:solidFill>
            <a:schemeClr val="accent1"/>
          </a:solidFill>
          <a:ln/>
        </p:spPr>
      </p:sp>
      <p:pic>
        <p:nvPicPr>
          <p:cNvPr id="11" name="Standalone icon" descr="preencoded.png">    </p:cNvPr>
          <p:cNvPicPr>
            <a:picLocks noChangeAspect="1"/>
          </p:cNvPicPr>
          <p:nvPr/>
        </p:nvPicPr>
        <p:blipFill>
          <a:blip r:embed="rId2"/>
          <a:stretch>
            <a:fillRect/>
          </a:stretch>
        </p:blipFill>
        <p:spPr>
          <a:xfrm>
            <a:off x="6743700" y="1943100"/>
            <a:ext cx="411480" cy="411480"/>
          </a:xfrm>
          <a:prstGeom prst="rect">
            <a:avLst/>
          </a:prstGeom>
        </p:spPr>
      </p:pic>
      <p:sp>
        <p:nvSpPr>
          <p:cNvPr id="12" name="Text 8"/>
          <p:cNvSpPr txBox="1"/>
          <p:nvPr/>
        </p:nvSpPr>
        <p:spPr>
          <a:xfrm>
            <a:off x="7543800" y="1737360"/>
            <a:ext cx="3840480" cy="457200"/>
          </a:xfrm>
          <a:prstGeom prst="rect">
            <a:avLst/>
          </a:prstGeom>
          <a:noFill/>
          <a:ln/>
        </p:spPr>
        <p:txBody>
          <a:bodyPr wrap="square" lIns="0" tIns="0" rIns="0" bIns="0" rtlCol="0" anchor="ctr"/>
          <a:lstStyle/>
          <a:p>
            <a:pPr indent="0" marL="0">
              <a:buNone/>
            </a:pPr>
            <a:r>
              <a:rPr lang="en-US" sz="2400" b="1" dirty="0">
                <a:solidFill>
                  <a:schemeClr val="tx2"/>
                </a:solidFill>
              </a:rPr>
              <a:t>Standalone</a:t>
            </a:r>
            <a:endParaRPr lang="en-US" sz="2400" dirty="0"/>
          </a:p>
        </p:txBody>
      </p:sp>
      <p:sp>
        <p:nvSpPr>
          <p:cNvPr id="13" name="Text 9"/>
          <p:cNvSpPr txBox="1"/>
          <p:nvPr/>
        </p:nvSpPr>
        <p:spPr>
          <a:xfrm>
            <a:off x="7543800" y="2194560"/>
            <a:ext cx="3840480" cy="411480"/>
          </a:xfrm>
          <a:prstGeom prst="rect">
            <a:avLst/>
          </a:prstGeom>
          <a:noFill/>
          <a:ln/>
        </p:spPr>
        <p:txBody>
          <a:bodyPr wrap="square" lIns="0" tIns="0" rIns="0" bIns="0" rtlCol="0" anchor="ctr"/>
          <a:lstStyle/>
          <a:p>
            <a:pPr indent="0" marL="0">
              <a:buNone/>
            </a:pPr>
            <a:r>
              <a:rPr lang="en-US" sz="1500" i="1" dirty="0">
                <a:solidFill>
                  <a:schemeClr val="accent6"/>
                </a:solidFill>
              </a:rPr>
              <a:t>Anyone moving, customer or not</a:t>
            </a:r>
            <a:endParaRPr lang="en-US" sz="1500" dirty="0"/>
          </a:p>
        </p:txBody>
      </p:sp>
      <p:sp>
        <p:nvSpPr>
          <p:cNvPr id="14" name="Text 10"/>
          <p:cNvSpPr txBox="1"/>
          <p:nvPr/>
        </p:nvSpPr>
        <p:spPr>
          <a:xfrm>
            <a:off x="6583680" y="2926080"/>
            <a:ext cx="4754880" cy="27432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Short chat, plus a statement upload (CSV or OFX) or a list of providers</a:t>
            </a:r>
            <a:endParaRPr lang="en-US" sz="1700" dirty="0"/>
          </a:p>
          <a:p>
            <a:pPr marL="342900" indent="-342900">
              <a:spcAft>
                <a:spcPts val="1000"/>
              </a:spcAft>
              <a:buSzPct val="100000"/>
              <a:buChar char="•"/>
            </a:pPr>
            <a:r>
              <a:rPr lang="en-US" sz="1700" dirty="0">
                <a:solidFill>
                  <a:schemeClr val="tx1"/>
                </a:solidFill>
              </a:rPr>
              <a:t>Personal details from a secure form, encrypted in SQLite</a:t>
            </a:r>
            <a:endParaRPr lang="en-US" sz="1700" dirty="0"/>
          </a:p>
          <a:p>
            <a:pPr marL="342900" indent="-342900">
              <a:spcAft>
                <a:spcPts val="1000"/>
              </a:spcAft>
              <a:buSzPct val="100000"/>
              <a:buChar char="•"/>
            </a:pPr>
            <a:r>
              <a:rPr lang="en-US" sz="1700" dirty="0">
                <a:solidFill>
                  <a:schemeClr val="tx1"/>
                </a:solidFill>
              </a:rPr>
              <a:t>Resume any time with a case reference; delete on request</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AI moment 1: finding who you pay, and what it implies</a:t>
            </a:r>
            <a:endParaRPr lang="en-US" sz="3400" dirty="0"/>
          </a:p>
        </p:txBody>
      </p:sp>
      <p:sp>
        <p:nvSpPr>
          <p:cNvPr id="3" name="Text 1"/>
          <p:cNvSpPr txBox="1"/>
          <p:nvPr/>
        </p:nvSpPr>
        <p:spPr>
          <a:xfrm>
            <a:off x="548640" y="1371600"/>
            <a:ext cx="4754880" cy="411480"/>
          </a:xfrm>
          <a:prstGeom prst="rect">
            <a:avLst/>
          </a:prstGeom>
          <a:noFill/>
          <a:ln/>
        </p:spPr>
        <p:txBody>
          <a:bodyPr wrap="square" lIns="0" tIns="0" rIns="0" bIns="0" rtlCol="0" anchor="ctr"/>
          <a:lstStyle/>
          <a:p>
            <a:pPr indent="0" marL="0">
              <a:buNone/>
            </a:pPr>
            <a:r>
              <a:rPr lang="en-US" sz="1800" b="1" dirty="0">
                <a:solidFill>
                  <a:schemeClr val="accent6"/>
                </a:solidFill>
              </a:rPr>
              <a:t>Bank transactions</a:t>
            </a:r>
            <a:endParaRPr lang="en-US" sz="1800" dirty="0"/>
          </a:p>
        </p:txBody>
      </p:sp>
      <p:sp>
        <p:nvSpPr>
          <p:cNvPr id="4" name="Text 2"/>
          <p:cNvSpPr txBox="1"/>
          <p:nvPr/>
        </p:nvSpPr>
        <p:spPr>
          <a:xfrm>
            <a:off x="6492240" y="1371600"/>
            <a:ext cx="5120640" cy="411480"/>
          </a:xfrm>
          <a:prstGeom prst="rect">
            <a:avLst/>
          </a:prstGeom>
          <a:noFill/>
          <a:ln/>
        </p:spPr>
        <p:txBody>
          <a:bodyPr wrap="square" lIns="0" tIns="0" rIns="0" bIns="0" rtlCol="0" anchor="ctr"/>
          <a:lstStyle/>
          <a:p>
            <a:pPr indent="0" marL="0">
              <a:buNone/>
            </a:pPr>
            <a:r>
              <a:rPr lang="en-US" sz="1800" b="1" dirty="0">
                <a:solidFill>
                  <a:schemeClr val="accent6"/>
                </a:solidFill>
              </a:rPr>
              <a:t>What the agents found</a:t>
            </a:r>
            <a:endParaRPr lang="en-US" sz="1800" dirty="0"/>
          </a:p>
        </p:txBody>
      </p:sp>
      <p:sp>
        <p:nvSpPr>
          <p:cNvPr id="5" name="raw 1"/>
          <p:cNvSpPr/>
          <p:nvPr/>
        </p:nvSpPr>
        <p:spPr>
          <a:xfrm>
            <a:off x="548640" y="1874520"/>
            <a:ext cx="4754880" cy="603504"/>
          </a:xfrm>
          <a:prstGeom prst="roundRect">
            <a:avLst>
              <a:gd name="adj" fmla="val 18182"/>
            </a:avLst>
          </a:prstGeom>
          <a:solidFill>
            <a:schemeClr val="bg2"/>
          </a:solidFill>
          <a:ln/>
        </p:spPr>
      </p:sp>
      <p:sp>
        <p:nvSpPr>
          <p:cNvPr id="6" name="Text 4"/>
          <p:cNvSpPr txBox="1"/>
          <p:nvPr/>
        </p:nvSpPr>
        <p:spPr>
          <a:xfrm>
            <a:off x="731520" y="1874520"/>
            <a:ext cx="4480560" cy="603504"/>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BRIGHTWATT EN DD 0034X1274</a:t>
            </a:r>
            <a:endParaRPr lang="en-US" sz="1500" dirty="0"/>
          </a:p>
        </p:txBody>
      </p:sp>
      <p:sp>
        <p:nvSpPr>
          <p:cNvPr id="7" name="found 1"/>
          <p:cNvSpPr/>
          <p:nvPr/>
        </p:nvSpPr>
        <p:spPr>
          <a:xfrm>
            <a:off x="6492240" y="1874520"/>
            <a:ext cx="5120640" cy="603504"/>
          </a:xfrm>
          <a:prstGeom prst="roundRect">
            <a:avLst>
              <a:gd name="adj" fmla="val 18182"/>
            </a:avLst>
          </a:prstGeom>
          <a:solidFill>
            <a:schemeClr val="bg2"/>
          </a:solidFill>
          <a:ln/>
        </p:spPr>
      </p:sp>
      <p:sp>
        <p:nvSpPr>
          <p:cNvPr id="8" name="Text 6"/>
          <p:cNvSpPr txBox="1"/>
          <p:nvPr/>
        </p:nvSpPr>
        <p:spPr>
          <a:xfrm>
            <a:off x="6675120" y="1874520"/>
            <a:ext cx="4846320" cy="603504"/>
          </a:xfrm>
          <a:prstGeom prst="rect">
            <a:avLst/>
          </a:prstGeom>
          <a:noFill/>
          <a:ln/>
        </p:spPr>
        <p:txBody>
          <a:bodyPr wrap="square" lIns="0" tIns="0" rIns="0" bIns="0" rtlCol="0" anchor="ctr"/>
          <a:lstStyle/>
          <a:p>
            <a:pPr indent="0" marL="0">
              <a:buNone/>
            </a:pPr>
            <a:r>
              <a:rPr lang="en-US" sz="1500" b="1" dirty="0">
                <a:solidFill>
                  <a:schemeClr val="tx2"/>
                </a:solidFill>
              </a:rPr>
              <a:t>Brightwatt Energy</a:t>
            </a:r>
            <a:pPr indent="0" marL="0">
              <a:buNone/>
            </a:pPr>
            <a:r>
              <a:rPr lang="en-US" sz="1500" dirty="0">
                <a:solidFill>
                  <a:schemeClr val="tx1"/>
                </a:solidFill>
              </a:rPr>
              <a:t>  ·  energy supplier</a:t>
            </a:r>
            <a:endParaRPr lang="en-US" sz="1500" dirty="0"/>
          </a:p>
        </p:txBody>
      </p:sp>
      <p:sp>
        <p:nvSpPr>
          <p:cNvPr id="9" name="raw 2"/>
          <p:cNvSpPr/>
          <p:nvPr/>
        </p:nvSpPr>
        <p:spPr>
          <a:xfrm>
            <a:off x="548640" y="2624328"/>
            <a:ext cx="4754880" cy="603504"/>
          </a:xfrm>
          <a:prstGeom prst="roundRect">
            <a:avLst>
              <a:gd name="adj" fmla="val 18182"/>
            </a:avLst>
          </a:prstGeom>
          <a:solidFill>
            <a:schemeClr val="bg2"/>
          </a:solidFill>
          <a:ln/>
        </p:spPr>
      </p:sp>
      <p:sp>
        <p:nvSpPr>
          <p:cNvPr id="10" name="Text 8"/>
          <p:cNvSpPr txBox="1"/>
          <p:nvPr/>
        </p:nvSpPr>
        <p:spPr>
          <a:xfrm>
            <a:off x="731520" y="2624328"/>
            <a:ext cx="4480560" cy="603504"/>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NVW WATER SVCS 1074205</a:t>
            </a:r>
            <a:endParaRPr lang="en-US" sz="1500" dirty="0"/>
          </a:p>
        </p:txBody>
      </p:sp>
      <p:sp>
        <p:nvSpPr>
          <p:cNvPr id="11" name="found 2"/>
          <p:cNvSpPr/>
          <p:nvPr/>
        </p:nvSpPr>
        <p:spPr>
          <a:xfrm>
            <a:off x="6492240" y="2624328"/>
            <a:ext cx="5120640" cy="603504"/>
          </a:xfrm>
          <a:prstGeom prst="roundRect">
            <a:avLst>
              <a:gd name="adj" fmla="val 18182"/>
            </a:avLst>
          </a:prstGeom>
          <a:solidFill>
            <a:schemeClr val="bg2"/>
          </a:solidFill>
          <a:ln/>
        </p:spPr>
      </p:sp>
      <p:sp>
        <p:nvSpPr>
          <p:cNvPr id="12" name="Text 10"/>
          <p:cNvSpPr txBox="1"/>
          <p:nvPr/>
        </p:nvSpPr>
        <p:spPr>
          <a:xfrm>
            <a:off x="6675120" y="2624328"/>
            <a:ext cx="4846320" cy="603504"/>
          </a:xfrm>
          <a:prstGeom prst="rect">
            <a:avLst/>
          </a:prstGeom>
          <a:noFill/>
          <a:ln/>
        </p:spPr>
        <p:txBody>
          <a:bodyPr wrap="square" lIns="0" tIns="0" rIns="0" bIns="0" rtlCol="0" anchor="ctr"/>
          <a:lstStyle/>
          <a:p>
            <a:pPr indent="0" marL="0">
              <a:buNone/>
            </a:pPr>
            <a:r>
              <a:rPr lang="en-US" sz="1500" b="1" dirty="0">
                <a:solidFill>
                  <a:schemeClr val="tx2"/>
                </a:solidFill>
              </a:rPr>
              <a:t>NVW Water Services</a:t>
            </a:r>
            <a:pPr indent="0" marL="0">
              <a:buNone/>
            </a:pPr>
            <a:r>
              <a:rPr lang="en-US" sz="1500" dirty="0">
                <a:solidFill>
                  <a:schemeClr val="tx1"/>
                </a:solidFill>
              </a:rPr>
              <a:t>  ·  water company</a:t>
            </a:r>
            <a:endParaRPr lang="en-US" sz="1500" dirty="0"/>
          </a:p>
        </p:txBody>
      </p:sp>
      <p:sp>
        <p:nvSpPr>
          <p:cNvPr id="13" name="raw 3"/>
          <p:cNvSpPr/>
          <p:nvPr/>
        </p:nvSpPr>
        <p:spPr>
          <a:xfrm>
            <a:off x="548640" y="3374136"/>
            <a:ext cx="4754880" cy="603504"/>
          </a:xfrm>
          <a:prstGeom prst="roundRect">
            <a:avLst>
              <a:gd name="adj" fmla="val 18182"/>
            </a:avLst>
          </a:prstGeom>
          <a:solidFill>
            <a:schemeClr val="bg2"/>
          </a:solidFill>
          <a:ln/>
        </p:spPr>
      </p:sp>
      <p:sp>
        <p:nvSpPr>
          <p:cNvPr id="14" name="Text 12"/>
          <p:cNvSpPr txBox="1"/>
          <p:nvPr/>
        </p:nvSpPr>
        <p:spPr>
          <a:xfrm>
            <a:off x="731520" y="3374136"/>
            <a:ext cx="4480560" cy="603504"/>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DVLA-VEH TAX 2274101</a:t>
            </a:r>
            <a:endParaRPr lang="en-US" sz="1500" dirty="0"/>
          </a:p>
        </p:txBody>
      </p:sp>
      <p:sp>
        <p:nvSpPr>
          <p:cNvPr id="15" name="found 3"/>
          <p:cNvSpPr/>
          <p:nvPr/>
        </p:nvSpPr>
        <p:spPr>
          <a:xfrm>
            <a:off x="6492240" y="3374136"/>
            <a:ext cx="5120640" cy="603504"/>
          </a:xfrm>
          <a:prstGeom prst="roundRect">
            <a:avLst>
              <a:gd name="adj" fmla="val 18182"/>
            </a:avLst>
          </a:prstGeom>
          <a:solidFill>
            <a:schemeClr val="accent4"/>
          </a:solidFill>
          <a:ln/>
        </p:spPr>
      </p:sp>
      <p:sp>
        <p:nvSpPr>
          <p:cNvPr id="16" name="Text 14"/>
          <p:cNvSpPr txBox="1"/>
          <p:nvPr/>
        </p:nvSpPr>
        <p:spPr>
          <a:xfrm>
            <a:off x="6675120" y="3374136"/>
            <a:ext cx="4846320" cy="603504"/>
          </a:xfrm>
          <a:prstGeom prst="rect">
            <a:avLst/>
          </a:prstGeom>
          <a:noFill/>
          <a:ln/>
        </p:spPr>
        <p:txBody>
          <a:bodyPr wrap="square" lIns="0" tIns="0" rIns="0" bIns="0" rtlCol="0" anchor="ctr"/>
          <a:lstStyle/>
          <a:p>
            <a:pPr indent="0" marL="0">
              <a:buNone/>
            </a:pPr>
            <a:r>
              <a:rPr lang="en-US" sz="1500" b="1" dirty="0">
                <a:solidFill>
                  <a:schemeClr val="tx2"/>
                </a:solidFill>
              </a:rPr>
              <a:t>DVLA vehicle tax</a:t>
            </a:r>
            <a:pPr indent="0" marL="0">
              <a:buNone/>
            </a:pPr>
            <a:r>
              <a:rPr lang="en-US" sz="1500" dirty="0">
                <a:solidFill>
                  <a:schemeClr val="tx1"/>
                </a:solidFill>
              </a:rPr>
              <a:t>  ·  has a car: log book and licence</a:t>
            </a:r>
            <a:endParaRPr lang="en-US" sz="1500" dirty="0"/>
          </a:p>
        </p:txBody>
      </p:sp>
      <p:sp>
        <p:nvSpPr>
          <p:cNvPr id="17" name="raw 4"/>
          <p:cNvSpPr/>
          <p:nvPr/>
        </p:nvSpPr>
        <p:spPr>
          <a:xfrm>
            <a:off x="548640" y="4123944"/>
            <a:ext cx="4754880" cy="603504"/>
          </a:xfrm>
          <a:prstGeom prst="roundRect">
            <a:avLst>
              <a:gd name="adj" fmla="val 18182"/>
            </a:avLst>
          </a:prstGeom>
          <a:solidFill>
            <a:schemeClr val="bg2"/>
          </a:solidFill>
          <a:ln/>
        </p:spPr>
      </p:sp>
      <p:sp>
        <p:nvSpPr>
          <p:cNvPr id="18" name="Text 16"/>
          <p:cNvSpPr txBox="1"/>
          <p:nvPr/>
        </p:nvSpPr>
        <p:spPr>
          <a:xfrm>
            <a:off x="731520" y="4123944"/>
            <a:ext cx="4480560" cy="603504"/>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PAWSURE LTD 4110415 PETPOL</a:t>
            </a:r>
            <a:endParaRPr lang="en-US" sz="1500" dirty="0"/>
          </a:p>
        </p:txBody>
      </p:sp>
      <p:sp>
        <p:nvSpPr>
          <p:cNvPr id="19" name="found 4"/>
          <p:cNvSpPr/>
          <p:nvPr/>
        </p:nvSpPr>
        <p:spPr>
          <a:xfrm>
            <a:off x="6492240" y="4123944"/>
            <a:ext cx="5120640" cy="603504"/>
          </a:xfrm>
          <a:prstGeom prst="roundRect">
            <a:avLst>
              <a:gd name="adj" fmla="val 18182"/>
            </a:avLst>
          </a:prstGeom>
          <a:solidFill>
            <a:schemeClr val="accent4"/>
          </a:solidFill>
          <a:ln/>
        </p:spPr>
      </p:sp>
      <p:sp>
        <p:nvSpPr>
          <p:cNvPr id="20" name="Text 18"/>
          <p:cNvSpPr txBox="1"/>
          <p:nvPr/>
        </p:nvSpPr>
        <p:spPr>
          <a:xfrm>
            <a:off x="6675120" y="4123944"/>
            <a:ext cx="4846320" cy="603504"/>
          </a:xfrm>
          <a:prstGeom prst="rect">
            <a:avLst/>
          </a:prstGeom>
          <a:noFill/>
          <a:ln/>
        </p:spPr>
        <p:txBody>
          <a:bodyPr wrap="square" lIns="0" tIns="0" rIns="0" bIns="0" rtlCol="0" anchor="ctr"/>
          <a:lstStyle/>
          <a:p>
            <a:pPr indent="0" marL="0">
              <a:buNone/>
            </a:pPr>
            <a:r>
              <a:rPr lang="en-US" sz="1500" b="1" dirty="0">
                <a:solidFill>
                  <a:schemeClr val="tx2"/>
                </a:solidFill>
              </a:rPr>
              <a:t>Pawsure pet insurance</a:t>
            </a:r>
            <a:pPr indent="0" marL="0">
              <a:buNone/>
            </a:pPr>
            <a:r>
              <a:rPr lang="en-US" sz="1500" dirty="0">
                <a:solidFill>
                  <a:schemeClr val="tx1"/>
                </a:solidFill>
              </a:rPr>
              <a:t>  ·  has a pet: update the microchip</a:t>
            </a:r>
            <a:endParaRPr lang="en-US" sz="1500" dirty="0"/>
          </a:p>
        </p:txBody>
      </p:sp>
      <p:sp>
        <p:nvSpPr>
          <p:cNvPr id="21" name="raw 5"/>
          <p:cNvSpPr/>
          <p:nvPr/>
        </p:nvSpPr>
        <p:spPr>
          <a:xfrm>
            <a:off x="548640" y="4873752"/>
            <a:ext cx="4754880" cy="603504"/>
          </a:xfrm>
          <a:prstGeom prst="roundRect">
            <a:avLst>
              <a:gd name="adj" fmla="val 18182"/>
            </a:avLst>
          </a:prstGeom>
          <a:solidFill>
            <a:schemeClr val="bg2"/>
          </a:solidFill>
          <a:ln/>
        </p:spPr>
      </p:sp>
      <p:sp>
        <p:nvSpPr>
          <p:cNvPr id="22" name="Text 20"/>
          <p:cNvSpPr txBox="1"/>
          <p:nvPr/>
        </p:nvSpPr>
        <p:spPr>
          <a:xfrm>
            <a:off x="731520" y="4873752"/>
            <a:ext cx="4480560" cy="603504"/>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LITTLE ACORNS NURSERY SO</a:t>
            </a:r>
            <a:endParaRPr lang="en-US" sz="1500" dirty="0"/>
          </a:p>
        </p:txBody>
      </p:sp>
      <p:sp>
        <p:nvSpPr>
          <p:cNvPr id="23" name="found 5"/>
          <p:cNvSpPr/>
          <p:nvPr/>
        </p:nvSpPr>
        <p:spPr>
          <a:xfrm>
            <a:off x="6492240" y="4873752"/>
            <a:ext cx="5120640" cy="603504"/>
          </a:xfrm>
          <a:prstGeom prst="roundRect">
            <a:avLst>
              <a:gd name="adj" fmla="val 18182"/>
            </a:avLst>
          </a:prstGeom>
          <a:solidFill>
            <a:schemeClr val="accent4"/>
          </a:solidFill>
          <a:ln/>
        </p:spPr>
      </p:sp>
      <p:sp>
        <p:nvSpPr>
          <p:cNvPr id="24" name="Text 22"/>
          <p:cNvSpPr txBox="1"/>
          <p:nvPr/>
        </p:nvSpPr>
        <p:spPr>
          <a:xfrm>
            <a:off x="6675120" y="4873752"/>
            <a:ext cx="4846320" cy="603504"/>
          </a:xfrm>
          <a:prstGeom prst="rect">
            <a:avLst/>
          </a:prstGeom>
          <a:noFill/>
          <a:ln/>
        </p:spPr>
        <p:txBody>
          <a:bodyPr wrap="square" lIns="0" tIns="0" rIns="0" bIns="0" rtlCol="0" anchor="ctr"/>
          <a:lstStyle/>
          <a:p>
            <a:pPr indent="0" marL="0">
              <a:buNone/>
            </a:pPr>
            <a:r>
              <a:rPr lang="en-US" sz="1500" b="1" dirty="0">
                <a:solidFill>
                  <a:schemeClr val="tx2"/>
                </a:solidFill>
              </a:rPr>
              <a:t>Little Acorns Nursery</a:t>
            </a:r>
            <a:pPr indent="0" marL="0">
              <a:buNone/>
            </a:pPr>
            <a:r>
              <a:rPr lang="en-US" sz="1500" dirty="0">
                <a:solidFill>
                  <a:schemeClr val="tx1"/>
                </a:solidFill>
              </a:rPr>
              <a:t>  ·  young child: give notice</a:t>
            </a:r>
            <a:endParaRPr lang="en-US" sz="1500" dirty="0"/>
          </a:p>
        </p:txBody>
      </p:sp>
      <p:sp>
        <p:nvSpPr>
          <p:cNvPr id="25" name="arrow"/>
          <p:cNvSpPr/>
          <p:nvPr/>
        </p:nvSpPr>
        <p:spPr>
          <a:xfrm>
            <a:off x="5532120" y="3154680"/>
            <a:ext cx="731520" cy="548640"/>
          </a:xfrm>
          <a:prstGeom prst="rightArrow">
            <a:avLst/>
          </a:prstGeom>
          <a:solidFill>
            <a:schemeClr val="accent1"/>
          </a:solidFill>
          <a:ln/>
        </p:spPr>
      </p:sp>
      <p:sp>
        <p:nvSpPr>
          <p:cNvPr id="26" name="Text 24"/>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600" i="1" dirty="0">
                <a:solidFill>
                  <a:schemeClr val="tx2"/>
                </a:solidFill>
              </a:rPr>
              <a:t>Demo customer: 12 providers found, including the forgotten pet insurance. Anything below 70% confidence is asked, not assumed.</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AI moment 2: when completion slips, the plan fixes itself</a:t>
            </a:r>
            <a:endParaRPr lang="en-US" sz="3400" dirty="0"/>
          </a:p>
        </p:txBody>
      </p:sp>
      <p:sp>
        <p:nvSpPr>
          <p:cNvPr id="3" name="date card"/>
          <p:cNvSpPr/>
          <p:nvPr/>
        </p:nvSpPr>
        <p:spPr>
          <a:xfrm>
            <a:off x="548640" y="1463040"/>
            <a:ext cx="4023360" cy="4206240"/>
          </a:xfrm>
          <a:prstGeom prst="roundRect">
            <a:avLst>
              <a:gd name="adj" fmla="val 2727"/>
            </a:avLst>
          </a:prstGeom>
          <a:solidFill>
            <a:schemeClr val="tx2"/>
          </a:solidFill>
          <a:ln/>
        </p:spPr>
      </p:sp>
      <p:sp>
        <p:nvSpPr>
          <p:cNvPr id="4" name="Text 2"/>
          <p:cNvSpPr txBox="1"/>
          <p:nvPr/>
        </p:nvSpPr>
        <p:spPr>
          <a:xfrm>
            <a:off x="822960" y="1691640"/>
            <a:ext cx="3474720" cy="411480"/>
          </a:xfrm>
          <a:prstGeom prst="rect">
            <a:avLst/>
          </a:prstGeom>
          <a:noFill/>
          <a:ln/>
        </p:spPr>
        <p:txBody>
          <a:bodyPr wrap="square" lIns="0" tIns="0" rIns="0" bIns="0" rtlCol="0" anchor="ctr"/>
          <a:lstStyle/>
          <a:p>
            <a:pPr indent="0" marL="0">
              <a:buNone/>
            </a:pPr>
            <a:r>
              <a:rPr lang="en-US" sz="1800" dirty="0">
                <a:solidFill>
                  <a:schemeClr val="accent4"/>
                </a:solidFill>
              </a:rPr>
              <a:t>Completion moved</a:t>
            </a:r>
            <a:endParaRPr lang="en-US" sz="1800" dirty="0"/>
          </a:p>
        </p:txBody>
      </p:sp>
      <p:sp>
        <p:nvSpPr>
          <p:cNvPr id="5" name="Text 3"/>
          <p:cNvSpPr txBox="1"/>
          <p:nvPr/>
        </p:nvSpPr>
        <p:spPr>
          <a:xfrm>
            <a:off x="822960" y="2194560"/>
            <a:ext cx="3474720" cy="822960"/>
          </a:xfrm>
          <a:prstGeom prst="rect">
            <a:avLst/>
          </a:prstGeom>
          <a:noFill/>
          <a:ln/>
        </p:spPr>
        <p:txBody>
          <a:bodyPr wrap="square" lIns="0" tIns="0" rIns="0" bIns="0" rtlCol="0" anchor="ctr"/>
          <a:lstStyle/>
          <a:p>
            <a:pPr indent="0" marL="0">
              <a:buNone/>
            </a:pPr>
            <a:r>
              <a:rPr lang="en-US" sz="4400" b="1" strike="sngStrike" dirty="0">
                <a:solidFill>
                  <a:schemeClr val="bg2"/>
                </a:solidFill>
                <a:latin typeface="Cambria" pitchFamily="34" charset="0"/>
                <a:ea typeface="Cambria" pitchFamily="34" charset="-122"/>
                <a:cs typeface="Cambria" pitchFamily="34" charset="-120"/>
              </a:rPr>
              <a:t>27 Nov</a:t>
            </a:r>
            <a:endParaRPr lang="en-US" sz="4400" dirty="0"/>
          </a:p>
        </p:txBody>
      </p:sp>
      <p:sp>
        <p:nvSpPr>
          <p:cNvPr id="6" name="Text 4"/>
          <p:cNvSpPr txBox="1"/>
          <p:nvPr/>
        </p:nvSpPr>
        <p:spPr>
          <a:xfrm>
            <a:off x="822960" y="3017520"/>
            <a:ext cx="3474720" cy="82296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11 Dec</a:t>
            </a:r>
            <a:endParaRPr lang="en-US" sz="5400" dirty="0"/>
          </a:p>
        </p:txBody>
      </p:sp>
      <p:sp>
        <p:nvSpPr>
          <p:cNvPr id="7" name="Text 5"/>
          <p:cNvSpPr txBox="1"/>
          <p:nvPr/>
        </p:nvSpPr>
        <p:spPr>
          <a:xfrm>
            <a:off x="822960" y="4114800"/>
            <a:ext cx="3474720" cy="1280160"/>
          </a:xfrm>
          <a:prstGeom prst="rect">
            <a:avLst/>
          </a:prstGeom>
          <a:noFill/>
          <a:ln/>
        </p:spPr>
        <p:txBody>
          <a:bodyPr wrap="square" lIns="0" tIns="0" rIns="0" bIns="0" rtlCol="0" anchor="t"/>
          <a:lstStyle/>
          <a:p>
            <a:pPr indent="0" marL="0">
              <a:buNone/>
            </a:pPr>
            <a:r>
              <a:rPr lang="en-US" sz="1600" dirty="0">
                <a:solidFill>
                  <a:schemeClr val="bg1"/>
                </a:solidFill>
              </a:rPr>
              <a:t>Dates come from code. The agent never works them out itself.</a:t>
            </a:r>
            <a:endParaRPr lang="en-US" sz="1600" dirty="0"/>
          </a:p>
        </p:txBody>
      </p:sp>
      <p:graphicFrame>
        <p:nvGraphicFramePr>
          <p:cNvPr id="8" name="Chart 0" descr=""/>
          <p:cNvGraphicFramePr/>
          <p:nvPr/>
        </p:nvGraphicFramePr>
        <p:xfrm>
          <a:off x="4937760" y="1371600"/>
          <a:ext cx="6675120" cy="43891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600" i="1" dirty="0">
                <a:solidFill>
                  <a:schemeClr val="tx2"/>
                </a:solidFill>
              </a:rPr>
              <a:t>Then: correction drafts for approval, and a provider reply ("please confirm your meter serial") handled automatically.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AI only where it adds value</a:t>
            </a:r>
            <a:endParaRPr lang="en-US" sz="3400" dirty="0"/>
          </a:p>
        </p:txBody>
      </p:sp>
      <p:sp>
        <p:nvSpPr>
          <p:cNvPr id="3" name="Rules and code card"/>
          <p:cNvSpPr/>
          <p:nvPr/>
        </p:nvSpPr>
        <p:spPr>
          <a:xfrm>
            <a:off x="548640" y="1417320"/>
            <a:ext cx="5394960" cy="3886200"/>
          </a:xfrm>
          <a:prstGeom prst="roundRect">
            <a:avLst>
              <a:gd name="adj" fmla="val 2824"/>
            </a:avLst>
          </a:prstGeom>
          <a:solidFill>
            <a:schemeClr val="bg2"/>
          </a:solidFill>
          <a:ln/>
        </p:spPr>
      </p:sp>
      <p:sp>
        <p:nvSpPr>
          <p:cNvPr id="4" name="Rules and code circle"/>
          <p:cNvSpPr/>
          <p:nvPr/>
        </p:nvSpPr>
        <p:spPr>
          <a:xfrm>
            <a:off x="822960" y="1645920"/>
            <a:ext cx="731520" cy="731520"/>
          </a:xfrm>
          <a:prstGeom prst="ellipse">
            <a:avLst/>
          </a:prstGeom>
          <a:solidFill>
            <a:schemeClr val="accent5"/>
          </a:solidFill>
          <a:ln/>
        </p:spPr>
      </p:sp>
      <p:pic>
        <p:nvPicPr>
          <p:cNvPr id="5" name="Rules and code icon" descr="preencoded.png">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1737360" y="1737360"/>
            <a:ext cx="3931920" cy="548640"/>
          </a:xfrm>
          <a:prstGeom prst="rect">
            <a:avLst/>
          </a:prstGeom>
          <a:noFill/>
          <a:ln/>
        </p:spPr>
        <p:txBody>
          <a:bodyPr wrap="square" lIns="0" tIns="0" rIns="0" bIns="0" rtlCol="0" anchor="ctr"/>
          <a:lstStyle/>
          <a:p>
            <a:pPr indent="0" marL="0">
              <a:buNone/>
            </a:pPr>
            <a:r>
              <a:rPr lang="en-US" sz="2400" b="1" dirty="0">
                <a:solidFill>
                  <a:schemeClr val="tx2"/>
                </a:solidFill>
              </a:rPr>
              <a:t>Rules and code</a:t>
            </a:r>
            <a:endParaRPr lang="en-US" sz="2400" dirty="0"/>
          </a:p>
        </p:txBody>
      </p:sp>
      <p:sp>
        <p:nvSpPr>
          <p:cNvPr id="7" name="Text 4"/>
          <p:cNvSpPr txBox="1"/>
          <p:nvPr/>
        </p:nvSpPr>
        <p:spPr>
          <a:xfrm>
            <a:off x="868680" y="2606040"/>
            <a:ext cx="48463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Which obligations apply (23 rules, each with a source)</a:t>
            </a:r>
            <a:endParaRPr lang="en-US" sz="1600" dirty="0"/>
          </a:p>
          <a:p>
            <a:pPr marL="342900" indent="-342900">
              <a:spcAft>
                <a:spcPts val="600"/>
              </a:spcAft>
              <a:buSzPct val="100000"/>
              <a:buChar char="•"/>
            </a:pPr>
            <a:r>
              <a:rPr lang="en-US" sz="1600" dirty="0">
                <a:solidFill>
                  <a:schemeClr val="tx1"/>
                </a:solidFill>
              </a:rPr>
              <a:t>Deadlines in working days, per nation</a:t>
            </a:r>
            <a:endParaRPr lang="en-US" sz="1600" dirty="0"/>
          </a:p>
          <a:p>
            <a:pPr marL="342900" indent="-342900">
              <a:spcAft>
                <a:spcPts val="600"/>
              </a:spcAft>
              <a:buSzPct val="100000"/>
              <a:buChar char="•"/>
            </a:pPr>
            <a:r>
              <a:rPr lang="en-US" sz="1600" dirty="0">
                <a:solidFill>
                  <a:schemeClr val="tx1"/>
                </a:solidFill>
              </a:rPr>
              <a:t>Legal flags and penalties</a:t>
            </a:r>
            <a:endParaRPr lang="en-US" sz="1600" dirty="0"/>
          </a:p>
          <a:p>
            <a:pPr marL="342900" indent="-342900">
              <a:spcAft>
                <a:spcPts val="600"/>
              </a:spcAft>
              <a:buSzPct val="100000"/>
              <a:buChar char="•"/>
            </a:pPr>
            <a:r>
              <a:rPr lang="en-US" sz="1600" dirty="0">
                <a:solidFill>
                  <a:schemeClr val="tx1"/>
                </a:solidFill>
              </a:rPr>
              <a:t>The approval gate</a:t>
            </a:r>
            <a:endParaRPr lang="en-US" sz="1600" dirty="0"/>
          </a:p>
          <a:p>
            <a:pPr marL="342900" indent="-342900">
              <a:spcAft>
                <a:spcPts val="600"/>
              </a:spcAft>
              <a:buSzPct val="100000"/>
              <a:buChar char="•"/>
            </a:pPr>
            <a:r>
              <a:rPr lang="en-US" sz="1600" dirty="0">
                <a:solidFill>
                  <a:schemeClr val="tx1"/>
                </a:solidFill>
              </a:rPr>
              <a:t>What a date change means for each task</a:t>
            </a:r>
            <a:endParaRPr lang="en-US" sz="1600" dirty="0"/>
          </a:p>
          <a:p>
            <a:pPr marL="342900" indent="-342900">
              <a:spcAft>
                <a:spcPts val="600"/>
              </a:spcAft>
              <a:buSzPct val="100000"/>
              <a:buChar char="•"/>
            </a:pPr>
            <a:r>
              <a:rPr lang="en-US" sz="1600" dirty="0">
                <a:solidFill>
                  <a:schemeClr val="tx1"/>
                </a:solidFill>
              </a:rPr>
              <a:t>Audit log, encryption, statement parsing</a:t>
            </a:r>
            <a:endParaRPr lang="en-US" sz="1600" dirty="0"/>
          </a:p>
        </p:txBody>
      </p:sp>
      <p:sp>
        <p:nvSpPr>
          <p:cNvPr id="8" name="LLM agents card"/>
          <p:cNvSpPr/>
          <p:nvPr/>
        </p:nvSpPr>
        <p:spPr>
          <a:xfrm>
            <a:off x="6217920" y="1417320"/>
            <a:ext cx="5394960" cy="3886200"/>
          </a:xfrm>
          <a:prstGeom prst="roundRect">
            <a:avLst>
              <a:gd name="adj" fmla="val 2824"/>
            </a:avLst>
          </a:prstGeom>
          <a:solidFill>
            <a:schemeClr val="bg2"/>
          </a:solidFill>
          <a:ln/>
        </p:spPr>
      </p:sp>
      <p:sp>
        <p:nvSpPr>
          <p:cNvPr id="9" name="LLM agents circle"/>
          <p:cNvSpPr/>
          <p:nvPr/>
        </p:nvSpPr>
        <p:spPr>
          <a:xfrm>
            <a:off x="6492240" y="1645920"/>
            <a:ext cx="731520" cy="731520"/>
          </a:xfrm>
          <a:prstGeom prst="ellipse">
            <a:avLst/>
          </a:prstGeom>
          <a:solidFill>
            <a:schemeClr val="accent2"/>
          </a:solidFill>
          <a:ln/>
        </p:spPr>
      </p:sp>
      <p:pic>
        <p:nvPicPr>
          <p:cNvPr id="10" name="LLM agents icon" descr="preencoded.png">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737360"/>
            <a:ext cx="3931920" cy="548640"/>
          </a:xfrm>
          <a:prstGeom prst="rect">
            <a:avLst/>
          </a:prstGeom>
          <a:noFill/>
          <a:ln/>
        </p:spPr>
        <p:txBody>
          <a:bodyPr wrap="square" lIns="0" tIns="0" rIns="0" bIns="0" rtlCol="0" anchor="ctr"/>
          <a:lstStyle/>
          <a:p>
            <a:pPr indent="0" marL="0">
              <a:buNone/>
            </a:pPr>
            <a:r>
              <a:rPr lang="en-US" sz="2400" b="1" dirty="0">
                <a:solidFill>
                  <a:schemeClr val="tx2"/>
                </a:solidFill>
              </a:rPr>
              <a:t>LLM agents</a:t>
            </a:r>
            <a:endParaRPr lang="en-US" sz="2400" dirty="0"/>
          </a:p>
        </p:txBody>
      </p:sp>
      <p:sp>
        <p:nvSpPr>
          <p:cNvPr id="12" name="Text 8"/>
          <p:cNvSpPr txBox="1"/>
          <p:nvPr/>
        </p:nvSpPr>
        <p:spPr>
          <a:xfrm>
            <a:off x="6537960" y="2606040"/>
            <a:ext cx="48463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Messy descriptors into providers and life facts</a:t>
            </a:r>
            <a:endParaRPr lang="en-US" sz="1600" dirty="0"/>
          </a:p>
          <a:p>
            <a:pPr marL="342900" indent="-342900">
              <a:spcAft>
                <a:spcPts val="600"/>
              </a:spcAft>
              <a:buSzPct val="100000"/>
              <a:buChar char="•"/>
            </a:pPr>
            <a:r>
              <a:rPr lang="en-US" sz="1600" dirty="0">
                <a:solidFill>
                  <a:schemeClr val="tx1"/>
                </a:solidFill>
              </a:rPr>
              <a:t>Free-text answers into structured facts</a:t>
            </a:r>
            <a:endParaRPr lang="en-US" sz="1600" dirty="0"/>
          </a:p>
          <a:p>
            <a:pPr marL="342900" indent="-342900">
              <a:spcAft>
                <a:spcPts val="600"/>
              </a:spcAft>
              <a:buSzPct val="100000"/>
              <a:buChar char="•"/>
            </a:pPr>
            <a:r>
              <a:rPr lang="en-US" sz="1600" dirty="0">
                <a:solidFill>
                  <a:schemeClr val="tx1"/>
                </a:solidFill>
              </a:rPr>
              <a:t>Edge cases (letting the old home, joint owners)</a:t>
            </a:r>
            <a:endParaRPr lang="en-US" sz="1600" dirty="0"/>
          </a:p>
          <a:p>
            <a:pPr marL="342900" indent="-342900">
              <a:spcAft>
                <a:spcPts val="600"/>
              </a:spcAft>
              <a:buSzPct val="100000"/>
              <a:buChar char="•"/>
            </a:pPr>
            <a:r>
              <a:rPr lang="en-US" sz="1600" dirty="0">
                <a:solidFill>
                  <a:schemeClr val="tx1"/>
                </a:solidFill>
              </a:rPr>
              <a:t>A personal draft for each organisation</a:t>
            </a:r>
            <a:endParaRPr lang="en-US" sz="1600" dirty="0"/>
          </a:p>
          <a:p>
            <a:pPr marL="342900" indent="-342900">
              <a:spcAft>
                <a:spcPts val="600"/>
              </a:spcAft>
              <a:buSzPct val="100000"/>
              <a:buChar char="•"/>
            </a:pPr>
            <a:r>
              <a:rPr lang="en-US" sz="1600" dirty="0">
                <a:solidFill>
                  <a:schemeClr val="tx1"/>
                </a:solidFill>
              </a:rPr>
              <a:t>Reading provider replies</a:t>
            </a:r>
            <a:endParaRPr lang="en-US" sz="1600" dirty="0"/>
          </a:p>
          <a:p>
            <a:pPr marL="342900" indent="-342900">
              <a:spcAft>
                <a:spcPts val="600"/>
              </a:spcAft>
              <a:buSzPct val="100000"/>
              <a:buChar char="•"/>
            </a:pPr>
            <a:r>
              <a:rPr lang="en-US" sz="1600" dirty="0">
                <a:solidFill>
                  <a:schemeClr val="tx1"/>
                </a:solidFill>
              </a:rPr>
              <a:t>Explaining the plan in plain English</a:t>
            </a:r>
            <a:endParaRPr lang="en-US" sz="1600" dirty="0"/>
          </a:p>
        </p:txBody>
      </p:sp>
      <p:sp>
        <p:nvSpPr>
          <p:cNvPr id="13" name="Text 9"/>
          <p:cNvSpPr txBox="1"/>
          <p:nvPr/>
        </p:nvSpPr>
        <p:spPr>
          <a:xfrm>
            <a:off x="548640" y="5532120"/>
            <a:ext cx="11064240" cy="54864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An LLM never invents a deadline, fee or legal obligation.</a:t>
            </a:r>
            <a:endParaRPr lang="en-US" sz="2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13 agents on Neuro SAN, 26 coded tools</a:t>
            </a:r>
            <a:endParaRPr lang="en-US" sz="3400" dirty="0"/>
          </a:p>
        </p:txBody>
      </p:sp>
      <p:sp>
        <p:nvSpPr>
          <p:cNvPr id="3" name="coordinator"/>
          <p:cNvSpPr/>
          <p:nvPr/>
        </p:nvSpPr>
        <p:spPr>
          <a:xfrm>
            <a:off x="4480560" y="2971800"/>
            <a:ext cx="3200400" cy="1005840"/>
          </a:xfrm>
          <a:prstGeom prst="roundRect">
            <a:avLst>
              <a:gd name="adj" fmla="val 10909"/>
            </a:avLst>
          </a:prstGeom>
          <a:solidFill>
            <a:schemeClr val="accent1"/>
          </a:solidFill>
          <a:ln/>
        </p:spPr>
      </p:sp>
      <p:sp>
        <p:nvSpPr>
          <p:cNvPr id="4" name="Text 2"/>
          <p:cNvSpPr txBox="1"/>
          <p:nvPr/>
        </p:nvSpPr>
        <p:spPr>
          <a:xfrm>
            <a:off x="4480560" y="2971800"/>
            <a:ext cx="3200400" cy="1005840"/>
          </a:xfrm>
          <a:prstGeom prst="rect">
            <a:avLst/>
          </a:prstGeom>
          <a:noFill/>
          <a:ln/>
        </p:spPr>
        <p:txBody>
          <a:bodyPr wrap="square" lIns="0" tIns="0" rIns="0" bIns="0" rtlCol="0" anchor="ctr"/>
          <a:lstStyle/>
          <a:p>
            <a:pPr algn="ctr" indent="0" marL="0">
              <a:buNone/>
            </a:pPr>
            <a:r>
              <a:rPr lang="en-US" sz="1800" b="1" dirty="0">
                <a:solidFill>
                  <a:schemeClr val="bg1"/>
                </a:solidFill>
              </a:rPr>
              <a:t>move_coordinator</a:t>
            </a:r>
            <a:endParaRPr lang="en-US" sz="1800" dirty="0"/>
          </a:p>
          <a:p>
            <a:pPr algn="ctr" indent="0" marL="0">
              <a:buNone/>
            </a:pPr>
            <a:r>
              <a:rPr lang="en-US" sz="1400" dirty="0">
                <a:solidFill>
                  <a:schemeClr val="bg1"/>
                </a:solidFill>
              </a:rPr>
              <a:t>talks to the customer</a:t>
            </a:r>
            <a:endParaRPr lang="en-US" sz="1800" dirty="0"/>
          </a:p>
        </p:txBody>
      </p:sp>
      <p:sp>
        <p:nvSpPr>
          <p:cNvPr id="5" name="Intake and discovery"/>
          <p:cNvSpPr/>
          <p:nvPr/>
        </p:nvSpPr>
        <p:spPr>
          <a:xfrm>
            <a:off x="548640" y="1371600"/>
            <a:ext cx="3657600" cy="1371600"/>
          </a:xfrm>
          <a:prstGeom prst="roundRect">
            <a:avLst>
              <a:gd name="adj" fmla="val 8000"/>
            </a:avLst>
          </a:prstGeom>
          <a:solidFill>
            <a:schemeClr val="bg2"/>
          </a:solidFill>
          <a:ln/>
        </p:spPr>
      </p:sp>
      <p:sp>
        <p:nvSpPr>
          <p:cNvPr id="6" name="Text 4"/>
          <p:cNvSpPr txBox="1"/>
          <p:nvPr/>
        </p:nvSpPr>
        <p:spPr>
          <a:xfrm>
            <a:off x="731520" y="1371600"/>
            <a:ext cx="3291840" cy="1371600"/>
          </a:xfrm>
          <a:prstGeom prst="rect">
            <a:avLst/>
          </a:prstGeom>
          <a:noFill/>
          <a:ln/>
        </p:spPr>
        <p:txBody>
          <a:bodyPr wrap="square" lIns="0" tIns="0" rIns="0" bIns="0" rtlCol="0" anchor="ctr"/>
          <a:lstStyle/>
          <a:p>
            <a:pPr indent="0" marL="0">
              <a:buNone/>
            </a:pPr>
            <a:r>
              <a:rPr lang="en-US" sz="1800" b="1" dirty="0">
                <a:solidFill>
                  <a:schemeClr val="tx2"/>
                </a:solidFill>
              </a:rPr>
              <a:t>Intake and discovery</a:t>
            </a:r>
            <a:endParaRPr lang="en-US" sz="1800" dirty="0"/>
          </a:p>
          <a:p>
            <a:pPr indent="0" marL="0">
              <a:buNone/>
            </a:pPr>
            <a:r>
              <a:rPr lang="en-US" sz="1400" dirty="0">
                <a:solidFill>
                  <a:schemeClr val="tx1"/>
                </a:solidFill>
              </a:rPr>
              <a:t>intake · profile · discovery</a:t>
            </a:r>
            <a:endParaRPr lang="en-US" sz="1800" dirty="0"/>
          </a:p>
        </p:txBody>
      </p:sp>
      <p:sp>
        <p:nvSpPr>
          <p:cNvPr id="7" name="link 1"/>
          <p:cNvSpPr/>
          <p:nvPr/>
        </p:nvSpPr>
        <p:spPr>
          <a:xfrm>
            <a:off x="4206240" y="2057400"/>
            <a:ext cx="274320" cy="1051560"/>
          </a:xfrm>
          <a:prstGeom prst="line">
            <a:avLst/>
          </a:prstGeom>
          <a:noFill/>
          <a:ln w="19050">
            <a:solidFill>
              <a:schemeClr val="accent6"/>
            </a:solidFill>
            <a:prstDash val="solid"/>
          </a:ln>
        </p:spPr>
      </p:sp>
      <p:sp>
        <p:nvSpPr>
          <p:cNvPr id="8" name="Planning"/>
          <p:cNvSpPr/>
          <p:nvPr/>
        </p:nvSpPr>
        <p:spPr>
          <a:xfrm>
            <a:off x="7955280" y="1371600"/>
            <a:ext cx="3657600" cy="1371600"/>
          </a:xfrm>
          <a:prstGeom prst="roundRect">
            <a:avLst>
              <a:gd name="adj" fmla="val 8000"/>
            </a:avLst>
          </a:prstGeom>
          <a:solidFill>
            <a:schemeClr val="bg2"/>
          </a:solidFill>
          <a:ln/>
        </p:spPr>
      </p:sp>
      <p:sp>
        <p:nvSpPr>
          <p:cNvPr id="9" name="Text 7"/>
          <p:cNvSpPr txBox="1"/>
          <p:nvPr/>
        </p:nvSpPr>
        <p:spPr>
          <a:xfrm>
            <a:off x="8138160" y="1371600"/>
            <a:ext cx="3291840" cy="1371600"/>
          </a:xfrm>
          <a:prstGeom prst="rect">
            <a:avLst/>
          </a:prstGeom>
          <a:noFill/>
          <a:ln/>
        </p:spPr>
        <p:txBody>
          <a:bodyPr wrap="square" lIns="0" tIns="0" rIns="0" bIns="0" rtlCol="0" anchor="ctr"/>
          <a:lstStyle/>
          <a:p>
            <a:pPr indent="0" marL="0">
              <a:buNone/>
            </a:pPr>
            <a:r>
              <a:rPr lang="en-US" sz="1800" b="1" dirty="0">
                <a:solidFill>
                  <a:schemeClr val="tx2"/>
                </a:solidFill>
              </a:rPr>
              <a:t>Planning</a:t>
            </a:r>
            <a:endParaRPr lang="en-US" sz="1800" dirty="0"/>
          </a:p>
          <a:p>
            <a:pPr indent="0" marL="0">
              <a:buNone/>
            </a:pPr>
            <a:r>
              <a:rPr lang="en-US" sz="1400" dirty="0">
                <a:solidFill>
                  <a:schemeClr val="tx1"/>
                </a:solidFill>
              </a:rPr>
              <a:t>obligations · timeline · local services</a:t>
            </a:r>
            <a:endParaRPr lang="en-US" sz="1800" dirty="0"/>
          </a:p>
        </p:txBody>
      </p:sp>
      <p:sp>
        <p:nvSpPr>
          <p:cNvPr id="10" name="link 2"/>
          <p:cNvSpPr/>
          <p:nvPr/>
        </p:nvSpPr>
        <p:spPr>
          <a:xfrm flipV="1">
            <a:off x="7680960" y="2057400"/>
            <a:ext cx="274320" cy="1051560"/>
          </a:xfrm>
          <a:prstGeom prst="line">
            <a:avLst/>
          </a:prstGeom>
          <a:noFill/>
          <a:ln w="19050">
            <a:solidFill>
              <a:schemeClr val="accent6"/>
            </a:solidFill>
            <a:prstDash val="solid"/>
          </a:ln>
        </p:spPr>
      </p:sp>
      <p:sp>
        <p:nvSpPr>
          <p:cNvPr id="11" name="AAOSA specialists"/>
          <p:cNvSpPr/>
          <p:nvPr/>
        </p:nvSpPr>
        <p:spPr>
          <a:xfrm>
            <a:off x="548640" y="4480560"/>
            <a:ext cx="3657600" cy="1371600"/>
          </a:xfrm>
          <a:prstGeom prst="roundRect">
            <a:avLst>
              <a:gd name="adj" fmla="val 8000"/>
            </a:avLst>
          </a:prstGeom>
          <a:solidFill>
            <a:schemeClr val="bg2"/>
          </a:solidFill>
          <a:ln/>
        </p:spPr>
      </p:sp>
      <p:sp>
        <p:nvSpPr>
          <p:cNvPr id="12" name="Text 10"/>
          <p:cNvSpPr txBox="1"/>
          <p:nvPr/>
        </p:nvSpPr>
        <p:spPr>
          <a:xfrm>
            <a:off x="731520" y="4480560"/>
            <a:ext cx="3291840" cy="1371600"/>
          </a:xfrm>
          <a:prstGeom prst="rect">
            <a:avLst/>
          </a:prstGeom>
          <a:noFill/>
          <a:ln/>
        </p:spPr>
        <p:txBody>
          <a:bodyPr wrap="square" lIns="0" tIns="0" rIns="0" bIns="0" rtlCol="0" anchor="ctr"/>
          <a:lstStyle/>
          <a:p>
            <a:pPr indent="0" marL="0">
              <a:buNone/>
            </a:pPr>
            <a:r>
              <a:rPr lang="en-US" sz="1800" b="1" dirty="0">
                <a:solidFill>
                  <a:schemeClr val="tx2"/>
                </a:solidFill>
              </a:rPr>
              <a:t>AAOSA specialists</a:t>
            </a:r>
            <a:endParaRPr lang="en-US" sz="1800" dirty="0"/>
          </a:p>
          <a:p>
            <a:pPr indent="0" marL="0">
              <a:buNone/>
            </a:pPr>
            <a:r>
              <a:rPr lang="en-US" sz="1400" dirty="0">
                <a:solidFill>
                  <a:schemeClr val="tx1"/>
                </a:solidFill>
              </a:rPr>
              <a:t>government · home &amp; utilities · financial · health &amp; family</a:t>
            </a:r>
            <a:endParaRPr lang="en-US" sz="1800" dirty="0"/>
          </a:p>
        </p:txBody>
      </p:sp>
      <p:sp>
        <p:nvSpPr>
          <p:cNvPr id="13" name="link 3"/>
          <p:cNvSpPr/>
          <p:nvPr/>
        </p:nvSpPr>
        <p:spPr>
          <a:xfrm flipV="1">
            <a:off x="4206240" y="3840480"/>
            <a:ext cx="274320" cy="1325880"/>
          </a:xfrm>
          <a:prstGeom prst="line">
            <a:avLst/>
          </a:prstGeom>
          <a:noFill/>
          <a:ln w="19050">
            <a:solidFill>
              <a:schemeClr val="accent6"/>
            </a:solidFill>
            <a:prstDash val="solid"/>
          </a:ln>
        </p:spPr>
      </p:sp>
      <p:sp>
        <p:nvSpPr>
          <p:cNvPr id="14" name="Delivery"/>
          <p:cNvSpPr/>
          <p:nvPr/>
        </p:nvSpPr>
        <p:spPr>
          <a:xfrm>
            <a:off x="7955280" y="4480560"/>
            <a:ext cx="3657600" cy="1371600"/>
          </a:xfrm>
          <a:prstGeom prst="roundRect">
            <a:avLst>
              <a:gd name="adj" fmla="val 8000"/>
            </a:avLst>
          </a:prstGeom>
          <a:solidFill>
            <a:schemeClr val="bg2"/>
          </a:solidFill>
          <a:ln/>
        </p:spPr>
      </p:sp>
      <p:sp>
        <p:nvSpPr>
          <p:cNvPr id="15" name="Text 13"/>
          <p:cNvSpPr txBox="1"/>
          <p:nvPr/>
        </p:nvSpPr>
        <p:spPr>
          <a:xfrm>
            <a:off x="8138160" y="4480560"/>
            <a:ext cx="3291840" cy="1371600"/>
          </a:xfrm>
          <a:prstGeom prst="rect">
            <a:avLst/>
          </a:prstGeom>
          <a:noFill/>
          <a:ln/>
        </p:spPr>
        <p:txBody>
          <a:bodyPr wrap="square" lIns="0" tIns="0" rIns="0" bIns="0" rtlCol="0" anchor="ctr"/>
          <a:lstStyle/>
          <a:p>
            <a:pPr indent="0" marL="0">
              <a:buNone/>
            </a:pPr>
            <a:r>
              <a:rPr lang="en-US" sz="1800" b="1" dirty="0">
                <a:solidFill>
                  <a:schemeClr val="tx2"/>
                </a:solidFill>
              </a:rPr>
              <a:t>Delivery</a:t>
            </a:r>
            <a:endParaRPr lang="en-US" sz="1800" dirty="0"/>
          </a:p>
          <a:p>
            <a:pPr indent="0" marL="0">
              <a:buNone/>
            </a:pPr>
            <a:r>
              <a:rPr lang="en-US" sz="1400" dirty="0">
                <a:solidFill>
                  <a:schemeClr val="tx1"/>
                </a:solidFill>
              </a:rPr>
              <a:t>comms (drafts) · tracker (approve, send, replan, replies)</a:t>
            </a:r>
            <a:endParaRPr lang="en-US" sz="1800" dirty="0"/>
          </a:p>
        </p:txBody>
      </p:sp>
      <p:sp>
        <p:nvSpPr>
          <p:cNvPr id="16" name="link 4"/>
          <p:cNvSpPr/>
          <p:nvPr/>
        </p:nvSpPr>
        <p:spPr>
          <a:xfrm>
            <a:off x="7680960" y="3840480"/>
            <a:ext cx="274320" cy="1325880"/>
          </a:xfrm>
          <a:prstGeom prst="line">
            <a:avLst/>
          </a:prstGeom>
          <a:noFill/>
          <a:ln w="19050">
            <a:solidFill>
              <a:schemeClr val="accent6"/>
            </a:solidFill>
            <a:prstDash val="solid"/>
          </a:ln>
        </p:spPr>
      </p:sp>
      <p:sp>
        <p:nvSpPr>
          <p:cNvPr id="17" name="Text 15"/>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400" dirty="0">
                <a:solidFill>
                  <a:schemeClr val="accent6"/>
                </a:solidFill>
              </a:rPr>
              <a:t>Specialists use AAOSA: each says whether a task is theirs, then records how to do it. State lives in sly_data and a SQLite case store; tools read and write it, the LLM sees redacted views.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The agents, their jobs and main tools</a:t>
            </a:r>
            <a:endParaRPr lang="en-US" sz="3400" dirty="0"/>
          </a:p>
        </p:txBody>
      </p:sp>
      <p:graphicFrame>
        <p:nvGraphicFramePr>
          <p:cNvPr id="10" name="agents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4114800"/>
                <a:gridCol w="4572000"/>
              </a:tblGrid>
              <a:tr h="329184">
                <a:tc>
                  <a:txBody>
                    <a:bodyPr/>
                    <a:lstStyle/>
                    <a:p>
                      <a:pPr indent="0" marL="0">
                        <a:buNone/>
                      </a:pPr>
                      <a:r>
                        <a:rPr lang="en-US" sz="1400" b="1" dirty="0">
                          <a:solidFill>
                            <a:schemeClr val="bg1"/>
                          </a:solidFill>
                        </a:rPr>
                        <a:t>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Job</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Main tools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indent="0" marL="0">
                        <a:buNone/>
                      </a:pPr>
                      <a:r>
                        <a:rPr lang="en-US" sz="1400" b="1" dirty="0">
                          <a:solidFill>
                            <a:schemeClr val="tx2"/>
                          </a:solidFill>
                        </a:rPr>
                        <a:t>move_coordinator</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Runs the conversation and the whole journey</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5"/>
                          </a:solidFill>
                        </a:rPr>
                        <a:t>all 12 agents below</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400" b="1" dirty="0">
                          <a:solidFill>
                            <a:schemeClr val="tx2"/>
                          </a:solidFill>
                        </a:rPr>
                        <a:t>intake_agent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Starts standalone cases; imports statements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5"/>
                          </a:solidFill>
                        </a:rPr>
                        <a:t>create_case, import_statement, add_manual_providers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400" b="1" dirty="0">
                          <a:solidFill>
                            <a:schemeClr val="tx2"/>
                          </a:solidFill>
                        </a:rPr>
                        <a:t>profile_agent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What we know, what is missing; resumes cases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5"/>
                          </a:solidFill>
                        </a:rPr>
                        <a:t>customer_profile_lookup</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400" b="1" dirty="0">
                          <a:solidFill>
                            <a:schemeClr val="tx2"/>
                          </a:solidFill>
                        </a:rPr>
                        <a:t>discovery_agent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AI moment 1: providers and life facts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5"/>
                          </a:solidFill>
                        </a:rPr>
                        <a:t>get_transactions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400" b="1" dirty="0">
                          <a:solidFill>
                            <a:schemeClr val="tx2"/>
                          </a:solidFill>
                        </a:rPr>
                        <a:t>obligations_agent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Which organisations must be told</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5"/>
                          </a:solidFill>
                        </a:rPr>
                        <a:t>obligations_rules, council_lookup (live)</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400" b="1" dirty="0">
                          <a:solidFill>
                            <a:schemeClr val="tx2"/>
                          </a:solidFill>
                        </a:rPr>
                        <a:t>timeline_agent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Dated plan in UK working days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5"/>
                          </a:solidFill>
                        </a:rPr>
                        <a:t>build_timeline</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400" b="1" dirty="0">
                          <a:solidFill>
                            <a:schemeClr val="tx2"/>
                          </a:solidFill>
                        </a:rPr>
                        <a:t>local_services_agent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GPs, schools and water at the new home</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5"/>
                          </a:solidFill>
                        </a:rPr>
                        <a:t>gp_finder, school_finder, water_supplier_lookup</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indent="0" marL="0">
                        <a:buNone/>
                      </a:pPr>
                      <a:r>
                        <a:rPr lang="en-US" sz="1400" b="1" dirty="0">
                          <a:solidFill>
                            <a:schemeClr val="tx2"/>
                          </a:solidFill>
                        </a:rPr>
                        <a:t>government_agent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tx1"/>
                          </a:solidFill>
                        </a:rPr>
                        <a:t>DVLA, council tax or rates, electoral register</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accent5"/>
                          </a:solidFill>
                        </a:rPr>
                        <a:t>gov_service_directory, list_tasks, update_tasks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r>
              <a:tr h="329184">
                <a:tc>
                  <a:txBody>
                    <a:bodyPr/>
                    <a:lstStyle/>
                    <a:p>
                      <a:pPr indent="0" marL="0">
                        <a:buNone/>
                      </a:pPr>
                      <a:r>
                        <a:rPr lang="en-US" sz="1400" b="1" dirty="0">
                          <a:solidFill>
                            <a:schemeClr val="tx2"/>
                          </a:solidFill>
                        </a:rPr>
                        <a:t>home_utilities_agent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tx1"/>
                          </a:solidFill>
                        </a:rPr>
                        <a:t>Energy, water, broadband, TV Licensing, post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accent5"/>
                          </a:solidFill>
                        </a:rPr>
                        <a:t>provider_directory, list_tasks, update_tasks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r>
              <a:tr h="329184">
                <a:tc>
                  <a:txBody>
                    <a:bodyPr/>
                    <a:lstStyle/>
                    <a:p>
                      <a:pPr indent="0" marL="0">
                        <a:buNone/>
                      </a:pPr>
                      <a:r>
                        <a:rPr lang="en-US" sz="1400" b="1" dirty="0">
                          <a:solidFill>
                            <a:schemeClr val="tx2"/>
                          </a:solidFill>
                        </a:rPr>
                        <a:t>financial_agent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tx1"/>
                          </a:solidFill>
                        </a:rPr>
                        <a:t>Bank address, home and car insurance</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accent5"/>
                          </a:solidFill>
                        </a:rPr>
                        <a:t>bank_address_api, insurance_quote_api</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r>
              <a:tr h="329184">
                <a:tc>
                  <a:txBody>
                    <a:bodyPr/>
                    <a:lstStyle/>
                    <a:p>
                      <a:pPr indent="0" marL="0">
                        <a:buNone/>
                      </a:pPr>
                      <a:r>
                        <a:rPr lang="en-US" sz="1400" b="1" dirty="0">
                          <a:solidFill>
                            <a:schemeClr val="tx2"/>
                          </a:solidFill>
                        </a:rPr>
                        <a:t>health_family_agent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tx1"/>
                          </a:solidFill>
                        </a:rPr>
                        <a:t>GP, pet microchip, nursery or school</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c>
                  <a:txBody>
                    <a:bodyPr/>
                    <a:lstStyle/>
                    <a:p>
                      <a:pPr indent="0" marL="0">
                        <a:buNone/>
                      </a:pPr>
                      <a:r>
                        <a:rPr lang="en-US" sz="1400" dirty="0">
                          <a:solidFill>
                            <a:schemeClr val="accent5"/>
                          </a:solidFill>
                        </a:rPr>
                        <a:t>gp_finder, gov_service_directory</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accent4"/>
                    </a:solidFill>
                  </a:tcPr>
                </a:tc>
              </a:tr>
              <a:tr h="329184">
                <a:tc>
                  <a:txBody>
                    <a:bodyPr/>
                    <a:lstStyle/>
                    <a:p>
                      <a:pPr indent="0" marL="0">
                        <a:buNone/>
                      </a:pPr>
                      <a:r>
                        <a:rPr lang="en-US" sz="1400" b="1" dirty="0">
                          <a:solidFill>
                            <a:schemeClr val="tx2"/>
                          </a:solidFill>
                        </a:rPr>
                        <a:t>comms_agent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One draft per task, with placeholders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accent5"/>
                          </a:solidFill>
                        </a:rPr>
                        <a:t>letter_templates, save_drafts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indent="0" marL="0">
                        <a:buNone/>
                      </a:pPr>
                      <a:r>
                        <a:rPr lang="en-US" sz="1400" b="1" dirty="0">
                          <a:solidFill>
                            <a:schemeClr val="tx2"/>
                          </a:solidFill>
                        </a:rPr>
                        <a:t>tracker_agent</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AI moment 2: approve, send, replan, replies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accent5"/>
                          </a:solidFill>
                        </a:rPr>
                        <a:t>approve_drafts, send_notification, plan_corrections</a:t>
                      </a:r>
                      <a:endParaRPr lang="en-US" sz="14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200" b="1" dirty="0">
                <a:solidFill>
                  <a:schemeClr val="tx2"/>
                </a:solidFill>
              </a:rPr>
              <a:t>Highlighted: </a:t>
            </a:r>
            <a:pPr indent="0" marL="0">
              <a:buNone/>
            </a:pPr>
            <a:r>
              <a:rPr lang="en-US" sz="1200" dirty="0">
                <a:solidFill>
                  <a:schemeClr val="accent6"/>
                </a:solidFill>
              </a:rPr>
              <a:t>the four AAOSA specialists. Each says whether a task is theirs, then records how to do it.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Trust is built into the code, not the prompt</a:t>
            </a:r>
            <a:endParaRPr lang="en-US" sz="3400" dirty="0"/>
          </a:p>
        </p:txBody>
      </p:sp>
      <p:sp>
        <p:nvSpPr>
          <p:cNvPr id="3" name="The server holds the state"/>
          <p:cNvSpPr/>
          <p:nvPr/>
        </p:nvSpPr>
        <p:spPr>
          <a:xfrm>
            <a:off x="548640" y="1463040"/>
            <a:ext cx="3474720" cy="2103120"/>
          </a:xfrm>
          <a:prstGeom prst="roundRect">
            <a:avLst>
              <a:gd name="adj" fmla="val 5217"/>
            </a:avLst>
          </a:prstGeom>
          <a:solidFill>
            <a:schemeClr val="bg2"/>
          </a:solidFill>
          <a:ln/>
        </p:spPr>
      </p:sp>
      <p:sp>
        <p:nvSpPr>
          <p:cNvPr id="4" name="The server holds the state circle"/>
          <p:cNvSpPr/>
          <p:nvPr/>
        </p:nvSpPr>
        <p:spPr>
          <a:xfrm>
            <a:off x="822960" y="1737360"/>
            <a:ext cx="685800" cy="685800"/>
          </a:xfrm>
          <a:prstGeom prst="ellipse">
            <a:avLst/>
          </a:prstGeom>
          <a:solidFill>
            <a:schemeClr val="accent2"/>
          </a:solidFill>
          <a:ln/>
        </p:spPr>
      </p:sp>
      <p:pic>
        <p:nvPicPr>
          <p:cNvPr id="5" name="The server holds the state icon" descr="preencoded.png">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1645920" y="173736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The server holds the state</a:t>
            </a:r>
            <a:endParaRPr lang="en-US" sz="1700" dirty="0"/>
          </a:p>
        </p:txBody>
      </p:sp>
      <p:sp>
        <p:nvSpPr>
          <p:cNvPr id="7" name="Text 4"/>
          <p:cNvSpPr txBox="1"/>
          <p:nvPr/>
        </p:nvSpPr>
        <p:spPr>
          <a:xfrm>
            <a:off x="82296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The client only holds a signed session; any state it sends is discarded</a:t>
            </a:r>
            <a:endParaRPr lang="en-US" sz="1400" dirty="0"/>
          </a:p>
        </p:txBody>
      </p:sp>
      <p:sp>
        <p:nvSpPr>
          <p:cNvPr id="8" name="You open only your own case"/>
          <p:cNvSpPr/>
          <p:nvPr/>
        </p:nvSpPr>
        <p:spPr>
          <a:xfrm>
            <a:off x="4297680" y="1463040"/>
            <a:ext cx="3474720" cy="2103120"/>
          </a:xfrm>
          <a:prstGeom prst="roundRect">
            <a:avLst>
              <a:gd name="adj" fmla="val 5217"/>
            </a:avLst>
          </a:prstGeom>
          <a:solidFill>
            <a:schemeClr val="bg2"/>
          </a:solidFill>
          <a:ln/>
        </p:spPr>
      </p:sp>
      <p:sp>
        <p:nvSpPr>
          <p:cNvPr id="9" name="You open only your own case circle"/>
          <p:cNvSpPr/>
          <p:nvPr/>
        </p:nvSpPr>
        <p:spPr>
          <a:xfrm>
            <a:off x="4572000" y="1737360"/>
            <a:ext cx="685800" cy="685800"/>
          </a:xfrm>
          <a:prstGeom prst="ellipse">
            <a:avLst/>
          </a:prstGeom>
          <a:solidFill>
            <a:schemeClr val="accent2"/>
          </a:solidFill>
          <a:ln/>
        </p:spPr>
      </p:sp>
      <p:pic>
        <p:nvPicPr>
          <p:cNvPr id="10" name="You open only your own case icon" descr="preencoded.png">    </p:cNvPr>
          <p:cNvPicPr>
            <a:picLocks noChangeAspect="1"/>
          </p:cNvPicPr>
          <p:nvPr/>
        </p:nvPicPr>
        <p:blipFill>
          <a:blip r:embed="rId2"/>
          <a:stretch>
            <a:fillRect/>
          </a:stretch>
        </p:blipFill>
        <p:spPr>
          <a:xfrm>
            <a:off x="4743450" y="1908810"/>
            <a:ext cx="342900" cy="342900"/>
          </a:xfrm>
          <a:prstGeom prst="rect">
            <a:avLst/>
          </a:prstGeom>
        </p:spPr>
      </p:pic>
      <p:sp>
        <p:nvSpPr>
          <p:cNvPr id="11" name="Text 7"/>
          <p:cNvSpPr txBox="1"/>
          <p:nvPr/>
        </p:nvSpPr>
        <p:spPr>
          <a:xfrm>
            <a:off x="5394960" y="173736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You open only your own case</a:t>
            </a:r>
            <a:endParaRPr lang="en-US" sz="1700" dirty="0"/>
          </a:p>
        </p:txBody>
      </p:sp>
      <p:sp>
        <p:nvSpPr>
          <p:cNvPr id="12" name="Text 8"/>
          <p:cNvSpPr txBox="1"/>
          <p:nvPr/>
        </p:nvSpPr>
        <p:spPr>
          <a:xfrm>
            <a:off x="457200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Signed sessions, ownership checks and unguessable case IDs</a:t>
            </a:r>
            <a:endParaRPr lang="en-US" sz="1400" dirty="0"/>
          </a:p>
        </p:txBody>
      </p:sp>
      <p:sp>
        <p:nvSpPr>
          <p:cNvPr id="13" name="Personal data stays out of the LLM"/>
          <p:cNvSpPr/>
          <p:nvPr/>
        </p:nvSpPr>
        <p:spPr>
          <a:xfrm>
            <a:off x="8046720" y="1463040"/>
            <a:ext cx="3474720" cy="2103120"/>
          </a:xfrm>
          <a:prstGeom prst="roundRect">
            <a:avLst>
              <a:gd name="adj" fmla="val 5217"/>
            </a:avLst>
          </a:prstGeom>
          <a:solidFill>
            <a:schemeClr val="bg2"/>
          </a:solidFill>
          <a:ln/>
        </p:spPr>
      </p:sp>
      <p:sp>
        <p:nvSpPr>
          <p:cNvPr id="14" name="Personal data stays out of the LLM circle"/>
          <p:cNvSpPr/>
          <p:nvPr/>
        </p:nvSpPr>
        <p:spPr>
          <a:xfrm>
            <a:off x="8321040" y="1737360"/>
            <a:ext cx="685800" cy="685800"/>
          </a:xfrm>
          <a:prstGeom prst="ellipse">
            <a:avLst/>
          </a:prstGeom>
          <a:solidFill>
            <a:schemeClr val="accent2"/>
          </a:solidFill>
          <a:ln/>
        </p:spPr>
      </p:sp>
      <p:pic>
        <p:nvPicPr>
          <p:cNvPr id="15" name="Personal data stays out of the LLM icon" descr="preencoded.png">    </p:cNvPr>
          <p:cNvPicPr>
            <a:picLocks noChangeAspect="1"/>
          </p:cNvPicPr>
          <p:nvPr/>
        </p:nvPicPr>
        <p:blipFill>
          <a:blip r:embed="rId3"/>
          <a:stretch>
            <a:fillRect/>
          </a:stretch>
        </p:blipFill>
        <p:spPr>
          <a:xfrm>
            <a:off x="8492490" y="1908810"/>
            <a:ext cx="342900" cy="342900"/>
          </a:xfrm>
          <a:prstGeom prst="rect">
            <a:avLst/>
          </a:prstGeom>
        </p:spPr>
      </p:pic>
      <p:sp>
        <p:nvSpPr>
          <p:cNvPr id="16" name="Text 11"/>
          <p:cNvSpPr txBox="1"/>
          <p:nvPr/>
        </p:nvSpPr>
        <p:spPr>
          <a:xfrm>
            <a:off x="9144000" y="173736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Personal data stays out of the LLM</a:t>
            </a:r>
            <a:endParaRPr lang="en-US" sz="1700" dirty="0"/>
          </a:p>
        </p:txBody>
      </p:sp>
      <p:sp>
        <p:nvSpPr>
          <p:cNvPr id="17" name="Text 12"/>
          <p:cNvSpPr txBox="1"/>
          <p:nvPr/>
        </p:nvSpPr>
        <p:spPr>
          <a:xfrm>
            <a:off x="8321040" y="2560320"/>
            <a:ext cx="3017520" cy="914400"/>
          </a:xfrm>
          <a:prstGeom prst="rect">
            <a:avLst/>
          </a:prstGeom>
          <a:noFill/>
          <a:ln/>
        </p:spPr>
        <p:txBody>
          <a:bodyPr wrap="square" lIns="0" tIns="0" rIns="0" bIns="0" rtlCol="0" anchor="t"/>
          <a:lstStyle/>
          <a:p>
            <a:pPr indent="0" marL="0">
              <a:buNone/>
            </a:pPr>
            <a:r>
              <a:rPr lang="en-US" sz="1400" dirty="0">
                <a:solidFill>
                  <a:schemeClr val="tx1"/>
                </a:solidFill>
              </a:rPr>
              <a:t>Drafts use {{placeholders}} filled in by code at send time</a:t>
            </a:r>
            <a:endParaRPr lang="en-US" sz="1400" dirty="0"/>
          </a:p>
        </p:txBody>
      </p:sp>
      <p:sp>
        <p:nvSpPr>
          <p:cNvPr id="18" name="Encrypted at rest"/>
          <p:cNvSpPr/>
          <p:nvPr/>
        </p:nvSpPr>
        <p:spPr>
          <a:xfrm>
            <a:off x="548640" y="3794760"/>
            <a:ext cx="3474720" cy="2103120"/>
          </a:xfrm>
          <a:prstGeom prst="roundRect">
            <a:avLst>
              <a:gd name="adj" fmla="val 5217"/>
            </a:avLst>
          </a:prstGeom>
          <a:solidFill>
            <a:schemeClr val="bg2"/>
          </a:solidFill>
          <a:ln/>
        </p:spPr>
      </p:sp>
      <p:sp>
        <p:nvSpPr>
          <p:cNvPr id="19" name="Encrypted at rest circle"/>
          <p:cNvSpPr/>
          <p:nvPr/>
        </p:nvSpPr>
        <p:spPr>
          <a:xfrm>
            <a:off x="822960" y="4069080"/>
            <a:ext cx="685800" cy="685800"/>
          </a:xfrm>
          <a:prstGeom prst="ellipse">
            <a:avLst/>
          </a:prstGeom>
          <a:solidFill>
            <a:schemeClr val="accent5"/>
          </a:solidFill>
          <a:ln/>
        </p:spPr>
      </p:sp>
      <p:pic>
        <p:nvPicPr>
          <p:cNvPr id="20" name="Encrypted at rest icon" descr="preencoded.png">    </p:cNvPr>
          <p:cNvPicPr>
            <a:picLocks noChangeAspect="1"/>
          </p:cNvPicPr>
          <p:nvPr/>
        </p:nvPicPr>
        <p:blipFill>
          <a:blip r:embed="rId4"/>
          <a:stretch>
            <a:fillRect/>
          </a:stretch>
        </p:blipFill>
        <p:spPr>
          <a:xfrm>
            <a:off x="994410" y="4240530"/>
            <a:ext cx="342900" cy="342900"/>
          </a:xfrm>
          <a:prstGeom prst="rect">
            <a:avLst/>
          </a:prstGeom>
        </p:spPr>
      </p:pic>
      <p:sp>
        <p:nvSpPr>
          <p:cNvPr id="21" name="Text 15"/>
          <p:cNvSpPr txBox="1"/>
          <p:nvPr/>
        </p:nvSpPr>
        <p:spPr>
          <a:xfrm>
            <a:off x="1645920" y="406908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Encrypted at rest</a:t>
            </a:r>
            <a:endParaRPr lang="en-US" sz="1700" dirty="0"/>
          </a:p>
        </p:txBody>
      </p:sp>
      <p:sp>
        <p:nvSpPr>
          <p:cNvPr id="22" name="Text 16"/>
          <p:cNvSpPr txBox="1"/>
          <p:nvPr/>
        </p:nvSpPr>
        <p:spPr>
          <a:xfrm>
            <a:off x="822960" y="4892040"/>
            <a:ext cx="3017520" cy="914400"/>
          </a:xfrm>
          <a:prstGeom prst="rect">
            <a:avLst/>
          </a:prstGeom>
          <a:noFill/>
          <a:ln/>
        </p:spPr>
        <p:txBody>
          <a:bodyPr wrap="square" lIns="0" tIns="0" rIns="0" bIns="0" rtlCol="0" anchor="t"/>
          <a:lstStyle/>
          <a:p>
            <a:pPr indent="0" marL="0">
              <a:buNone/>
            </a:pPr>
            <a:r>
              <a:rPr lang="en-US" sz="1400" dirty="0">
                <a:solidFill>
                  <a:schemeClr val="tx1"/>
                </a:solidFill>
              </a:rPr>
              <a:t>Plan state and personal details encrypted; delete on request</a:t>
            </a:r>
            <a:endParaRPr lang="en-US" sz="1400" dirty="0"/>
          </a:p>
        </p:txBody>
      </p:sp>
      <p:sp>
        <p:nvSpPr>
          <p:cNvPr id="23" name="Statements kept out of the chat"/>
          <p:cNvSpPr/>
          <p:nvPr/>
        </p:nvSpPr>
        <p:spPr>
          <a:xfrm>
            <a:off x="4297680" y="3794760"/>
            <a:ext cx="3474720" cy="2103120"/>
          </a:xfrm>
          <a:prstGeom prst="roundRect">
            <a:avLst>
              <a:gd name="adj" fmla="val 5217"/>
            </a:avLst>
          </a:prstGeom>
          <a:solidFill>
            <a:schemeClr val="bg2"/>
          </a:solidFill>
          <a:ln/>
        </p:spPr>
      </p:sp>
      <p:sp>
        <p:nvSpPr>
          <p:cNvPr id="24" name="Statements kept out of the chat circle"/>
          <p:cNvSpPr/>
          <p:nvPr/>
        </p:nvSpPr>
        <p:spPr>
          <a:xfrm>
            <a:off x="4572000" y="4069080"/>
            <a:ext cx="685800" cy="685800"/>
          </a:xfrm>
          <a:prstGeom prst="ellipse">
            <a:avLst/>
          </a:prstGeom>
          <a:solidFill>
            <a:schemeClr val="accent5"/>
          </a:solidFill>
          <a:ln/>
        </p:spPr>
      </p:sp>
      <p:pic>
        <p:nvPicPr>
          <p:cNvPr id="25" name="Statements kept out of the chat icon" descr="preencoded.png">    </p:cNvPr>
          <p:cNvPicPr>
            <a:picLocks noChangeAspect="1"/>
          </p:cNvPicPr>
          <p:nvPr/>
        </p:nvPicPr>
        <p:blipFill>
          <a:blip r:embed="rId5"/>
          <a:stretch>
            <a:fillRect/>
          </a:stretch>
        </p:blipFill>
        <p:spPr>
          <a:xfrm>
            <a:off x="4743450" y="4240530"/>
            <a:ext cx="342900" cy="342900"/>
          </a:xfrm>
          <a:prstGeom prst="rect">
            <a:avLst/>
          </a:prstGeom>
        </p:spPr>
      </p:pic>
      <p:sp>
        <p:nvSpPr>
          <p:cNvPr id="26" name="Text 19"/>
          <p:cNvSpPr txBox="1"/>
          <p:nvPr/>
        </p:nvSpPr>
        <p:spPr>
          <a:xfrm>
            <a:off x="5394960" y="406908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Statements kept out of the chat</a:t>
            </a:r>
            <a:endParaRPr lang="en-US" sz="1700" dirty="0"/>
          </a:p>
        </p:txBody>
      </p:sp>
      <p:sp>
        <p:nvSpPr>
          <p:cNvPr id="27" name="Text 20"/>
          <p:cNvSpPr txBox="1"/>
          <p:nvPr/>
        </p:nvSpPr>
        <p:spPr>
          <a:xfrm>
            <a:off x="4572000" y="4892040"/>
            <a:ext cx="3017520" cy="914400"/>
          </a:xfrm>
          <a:prstGeom prst="rect">
            <a:avLst/>
          </a:prstGeom>
          <a:noFill/>
          <a:ln/>
        </p:spPr>
        <p:txBody>
          <a:bodyPr wrap="square" lIns="0" tIns="0" rIns="0" bIns="0" rtlCol="0" anchor="t"/>
          <a:lstStyle/>
          <a:p>
            <a:pPr indent="0" marL="0">
              <a:buNone/>
            </a:pPr>
            <a:r>
              <a:rPr lang="en-US" sz="1400" dirty="0">
                <a:solidFill>
                  <a:schemeClr val="tx1"/>
                </a:solidFill>
              </a:rPr>
              <a:t>Uploaded to your own folder, read once, then deleted</a:t>
            </a:r>
            <a:endParaRPr lang="en-US" sz="1400" dirty="0"/>
          </a:p>
        </p:txBody>
      </p:sp>
      <p:sp>
        <p:nvSpPr>
          <p:cNvPr id="28" name="Sourced rules"/>
          <p:cNvSpPr/>
          <p:nvPr/>
        </p:nvSpPr>
        <p:spPr>
          <a:xfrm>
            <a:off x="8046720" y="3794760"/>
            <a:ext cx="3474720" cy="2103120"/>
          </a:xfrm>
          <a:prstGeom prst="roundRect">
            <a:avLst>
              <a:gd name="adj" fmla="val 5217"/>
            </a:avLst>
          </a:prstGeom>
          <a:solidFill>
            <a:schemeClr val="bg2"/>
          </a:solidFill>
          <a:ln/>
        </p:spPr>
      </p:sp>
      <p:sp>
        <p:nvSpPr>
          <p:cNvPr id="29" name="Sourced rules circle"/>
          <p:cNvSpPr/>
          <p:nvPr/>
        </p:nvSpPr>
        <p:spPr>
          <a:xfrm>
            <a:off x="8321040" y="4069080"/>
            <a:ext cx="685800" cy="685800"/>
          </a:xfrm>
          <a:prstGeom prst="ellipse">
            <a:avLst/>
          </a:prstGeom>
          <a:solidFill>
            <a:schemeClr val="accent5"/>
          </a:solidFill>
          <a:ln/>
        </p:spPr>
      </p:sp>
      <p:pic>
        <p:nvPicPr>
          <p:cNvPr id="30" name="Sourced rules icon" descr="preencoded.png">    </p:cNvPr>
          <p:cNvPicPr>
            <a:picLocks noChangeAspect="1"/>
          </p:cNvPicPr>
          <p:nvPr/>
        </p:nvPicPr>
        <p:blipFill>
          <a:blip r:embed="rId6"/>
          <a:stretch>
            <a:fillRect/>
          </a:stretch>
        </p:blipFill>
        <p:spPr>
          <a:xfrm>
            <a:off x="8492490" y="4240530"/>
            <a:ext cx="342900" cy="342900"/>
          </a:xfrm>
          <a:prstGeom prst="rect">
            <a:avLst/>
          </a:prstGeom>
        </p:spPr>
      </p:pic>
      <p:sp>
        <p:nvSpPr>
          <p:cNvPr id="31" name="Text 23"/>
          <p:cNvSpPr txBox="1"/>
          <p:nvPr/>
        </p:nvSpPr>
        <p:spPr>
          <a:xfrm>
            <a:off x="9144000" y="4069080"/>
            <a:ext cx="2240280" cy="731520"/>
          </a:xfrm>
          <a:prstGeom prst="rect">
            <a:avLst/>
          </a:prstGeom>
          <a:noFill/>
          <a:ln/>
        </p:spPr>
        <p:txBody>
          <a:bodyPr wrap="square" lIns="0" tIns="0" rIns="0" bIns="0" rtlCol="0" anchor="ctr"/>
          <a:lstStyle/>
          <a:p>
            <a:pPr indent="0" marL="0">
              <a:buNone/>
            </a:pPr>
            <a:r>
              <a:rPr lang="en-US" sz="1700" b="1" dirty="0">
                <a:solidFill>
                  <a:schemeClr val="tx2"/>
                </a:solidFill>
              </a:rPr>
              <a:t>Sourced rules</a:t>
            </a:r>
            <a:endParaRPr lang="en-US" sz="1700" dirty="0"/>
          </a:p>
        </p:txBody>
      </p:sp>
      <p:sp>
        <p:nvSpPr>
          <p:cNvPr id="32" name="Text 24"/>
          <p:cNvSpPr txBox="1"/>
          <p:nvPr/>
        </p:nvSpPr>
        <p:spPr>
          <a:xfrm>
            <a:off x="8321040" y="4892040"/>
            <a:ext cx="3017520" cy="914400"/>
          </a:xfrm>
          <a:prstGeom prst="rect">
            <a:avLst/>
          </a:prstGeom>
          <a:noFill/>
          <a:ln/>
        </p:spPr>
        <p:txBody>
          <a:bodyPr wrap="square" lIns="0" tIns="0" rIns="0" bIns="0" rtlCol="0" anchor="t"/>
          <a:lstStyle/>
          <a:p>
            <a:pPr indent="0" marL="0">
              <a:buNone/>
            </a:pPr>
            <a:r>
              <a:rPr lang="en-US" sz="1400" dirty="0">
                <a:solidFill>
                  <a:schemeClr val="tx1"/>
                </a:solidFill>
              </a:rPr>
              <a:t>20 of 23 rules checked against gov.uk and other official sources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Works across all four UK nations</a:t>
            </a:r>
            <a:endParaRPr lang="en-US" sz="3400" dirty="0"/>
          </a:p>
        </p:txBody>
      </p:sp>
      <p:sp>
        <p:nvSpPr>
          <p:cNvPr id="3" name="England"/>
          <p:cNvSpPr/>
          <p:nvPr/>
        </p:nvSpPr>
        <p:spPr>
          <a:xfrm>
            <a:off x="548640" y="1463040"/>
            <a:ext cx="2606040" cy="3291840"/>
          </a:xfrm>
          <a:prstGeom prst="roundRect">
            <a:avLst>
              <a:gd name="adj" fmla="val 4211"/>
            </a:avLst>
          </a:prstGeom>
          <a:solidFill>
            <a:schemeClr val="bg2"/>
          </a:solidFill>
          <a:ln/>
        </p:spPr>
      </p:sp>
      <p:sp>
        <p:nvSpPr>
          <p:cNvPr id="4" name="England dot"/>
          <p:cNvSpPr/>
          <p:nvPr/>
        </p:nvSpPr>
        <p:spPr>
          <a:xfrm>
            <a:off x="822960" y="1737360"/>
            <a:ext cx="502920" cy="502920"/>
          </a:xfrm>
          <a:prstGeom prst="ellipse">
            <a:avLst/>
          </a:prstGeom>
          <a:solidFill>
            <a:schemeClr val="accent2"/>
          </a:solidFill>
          <a:ln/>
        </p:spPr>
      </p:sp>
      <p:sp>
        <p:nvSpPr>
          <p:cNvPr id="5" name="Text 3"/>
          <p:cNvSpPr txBox="1"/>
          <p:nvPr/>
        </p:nvSpPr>
        <p:spPr>
          <a:xfrm>
            <a:off x="822960" y="237744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England</a:t>
            </a:r>
            <a:endParaRPr lang="en-US" sz="2000" dirty="0"/>
          </a:p>
        </p:txBody>
      </p:sp>
      <p:sp>
        <p:nvSpPr>
          <p:cNvPr id="6" name="Text 4"/>
          <p:cNvSpPr txBox="1"/>
          <p:nvPr/>
        </p:nvSpPr>
        <p:spPr>
          <a:xfrm>
            <a:off x="822960" y="2971800"/>
            <a:ext cx="2148840" cy="1691640"/>
          </a:xfrm>
          <a:prstGeom prst="rect">
            <a:avLst/>
          </a:prstGeom>
          <a:noFill/>
          <a:ln/>
        </p:spPr>
        <p:txBody>
          <a:bodyPr wrap="square" lIns="0" tIns="0" rIns="0" bIns="0" rtlCol="0" anchor="t"/>
          <a:lstStyle/>
          <a:p>
            <a:pPr indent="0" marL="0">
              <a:buNone/>
            </a:pPr>
            <a:r>
              <a:rPr lang="en-US" sz="1500" dirty="0">
                <a:solidFill>
                  <a:schemeClr val="tx1"/>
                </a:solidFill>
              </a:rPr>
              <a:t>Council tax, a water company for the old and new home, NHS GP and school search</a:t>
            </a:r>
            <a:endParaRPr lang="en-US" sz="1500" dirty="0"/>
          </a:p>
        </p:txBody>
      </p:sp>
      <p:sp>
        <p:nvSpPr>
          <p:cNvPr id="7" name="Wales"/>
          <p:cNvSpPr/>
          <p:nvPr/>
        </p:nvSpPr>
        <p:spPr>
          <a:xfrm>
            <a:off x="3364992" y="1463040"/>
            <a:ext cx="2606040" cy="3291840"/>
          </a:xfrm>
          <a:prstGeom prst="roundRect">
            <a:avLst>
              <a:gd name="adj" fmla="val 4211"/>
            </a:avLst>
          </a:prstGeom>
          <a:solidFill>
            <a:schemeClr val="bg2"/>
          </a:solidFill>
          <a:ln/>
        </p:spPr>
      </p:sp>
      <p:sp>
        <p:nvSpPr>
          <p:cNvPr id="8" name="Wales dot"/>
          <p:cNvSpPr/>
          <p:nvPr/>
        </p:nvSpPr>
        <p:spPr>
          <a:xfrm>
            <a:off x="3639312" y="1737360"/>
            <a:ext cx="502920" cy="502920"/>
          </a:xfrm>
          <a:prstGeom prst="ellipse">
            <a:avLst/>
          </a:prstGeom>
          <a:solidFill>
            <a:schemeClr val="accent1"/>
          </a:solidFill>
          <a:ln/>
        </p:spPr>
      </p:sp>
      <p:sp>
        <p:nvSpPr>
          <p:cNvPr id="9" name="Text 7"/>
          <p:cNvSpPr txBox="1"/>
          <p:nvPr/>
        </p:nvSpPr>
        <p:spPr>
          <a:xfrm>
            <a:off x="3639312" y="237744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Wales</a:t>
            </a:r>
            <a:endParaRPr lang="en-US" sz="2000" dirty="0"/>
          </a:p>
        </p:txBody>
      </p:sp>
      <p:sp>
        <p:nvSpPr>
          <p:cNvPr id="10" name="Text 8"/>
          <p:cNvSpPr txBox="1"/>
          <p:nvPr/>
        </p:nvSpPr>
        <p:spPr>
          <a:xfrm>
            <a:off x="3639312" y="2971800"/>
            <a:ext cx="2148840" cy="1691640"/>
          </a:xfrm>
          <a:prstGeom prst="rect">
            <a:avLst/>
          </a:prstGeom>
          <a:noFill/>
          <a:ln/>
        </p:spPr>
        <p:txBody>
          <a:bodyPr wrap="square" lIns="0" tIns="0" rIns="0" bIns="0" rtlCol="0" anchor="t"/>
          <a:lstStyle/>
          <a:p>
            <a:pPr indent="0" marL="0">
              <a:buNone/>
            </a:pPr>
            <a:r>
              <a:rPr lang="en-US" sz="1500" dirty="0">
                <a:solidFill>
                  <a:schemeClr val="tx1"/>
                </a:solidFill>
              </a:rPr>
              <a:t>Close the Welsh water account; Welsh GP and school finders signposted</a:t>
            </a:r>
            <a:endParaRPr lang="en-US" sz="1500" dirty="0"/>
          </a:p>
        </p:txBody>
      </p:sp>
      <p:sp>
        <p:nvSpPr>
          <p:cNvPr id="11" name="Scotland"/>
          <p:cNvSpPr/>
          <p:nvPr/>
        </p:nvSpPr>
        <p:spPr>
          <a:xfrm>
            <a:off x="6181344" y="1463040"/>
            <a:ext cx="2606040" cy="3291840"/>
          </a:xfrm>
          <a:prstGeom prst="roundRect">
            <a:avLst>
              <a:gd name="adj" fmla="val 4211"/>
            </a:avLst>
          </a:prstGeom>
          <a:solidFill>
            <a:schemeClr val="bg2"/>
          </a:solidFill>
          <a:ln/>
        </p:spPr>
      </p:sp>
      <p:sp>
        <p:nvSpPr>
          <p:cNvPr id="12" name="Scotland dot"/>
          <p:cNvSpPr/>
          <p:nvPr/>
        </p:nvSpPr>
        <p:spPr>
          <a:xfrm>
            <a:off x="6455664" y="1737360"/>
            <a:ext cx="502920" cy="502920"/>
          </a:xfrm>
          <a:prstGeom prst="ellipse">
            <a:avLst/>
          </a:prstGeom>
          <a:solidFill>
            <a:schemeClr val="accent5"/>
          </a:solidFill>
          <a:ln/>
        </p:spPr>
      </p:sp>
      <p:sp>
        <p:nvSpPr>
          <p:cNvPr id="13" name="Text 11"/>
          <p:cNvSpPr txBox="1"/>
          <p:nvPr/>
        </p:nvSpPr>
        <p:spPr>
          <a:xfrm>
            <a:off x="6455664" y="237744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Scotland</a:t>
            </a:r>
            <a:endParaRPr lang="en-US" sz="2000" dirty="0"/>
          </a:p>
        </p:txBody>
      </p:sp>
      <p:sp>
        <p:nvSpPr>
          <p:cNvPr id="14" name="Text 12"/>
          <p:cNvSpPr txBox="1"/>
          <p:nvPr/>
        </p:nvSpPr>
        <p:spPr>
          <a:xfrm>
            <a:off x="6455664" y="2971800"/>
            <a:ext cx="2148840" cy="1691640"/>
          </a:xfrm>
          <a:prstGeom prst="rect">
            <a:avLst/>
          </a:prstGeom>
          <a:noFill/>
          <a:ln/>
        </p:spPr>
        <p:txBody>
          <a:bodyPr wrap="square" lIns="0" tIns="0" rIns="0" bIns="0" rtlCol="0" anchor="t"/>
          <a:lstStyle/>
          <a:p>
            <a:pPr indent="0" marL="0">
              <a:buNone/>
            </a:pPr>
            <a:r>
              <a:rPr lang="en-US" sz="1500" dirty="0">
                <a:solidFill>
                  <a:schemeClr val="tx1"/>
                </a:solidFill>
              </a:rPr>
              <a:t>Water billed with council tax, Scottish bank holidays, Scottish GP finder</a:t>
            </a:r>
            <a:endParaRPr lang="en-US" sz="1500" dirty="0"/>
          </a:p>
        </p:txBody>
      </p:sp>
      <p:sp>
        <p:nvSpPr>
          <p:cNvPr id="15" name="Northern Ireland"/>
          <p:cNvSpPr/>
          <p:nvPr/>
        </p:nvSpPr>
        <p:spPr>
          <a:xfrm>
            <a:off x="8997696" y="1463040"/>
            <a:ext cx="2606040" cy="3291840"/>
          </a:xfrm>
          <a:prstGeom prst="roundRect">
            <a:avLst>
              <a:gd name="adj" fmla="val 4211"/>
            </a:avLst>
          </a:prstGeom>
          <a:solidFill>
            <a:schemeClr val="bg2"/>
          </a:solidFill>
          <a:ln/>
        </p:spPr>
      </p:sp>
      <p:sp>
        <p:nvSpPr>
          <p:cNvPr id="16" name="Northern Ireland dot"/>
          <p:cNvSpPr/>
          <p:nvPr/>
        </p:nvSpPr>
        <p:spPr>
          <a:xfrm>
            <a:off x="9272016" y="1737360"/>
            <a:ext cx="502920" cy="502920"/>
          </a:xfrm>
          <a:prstGeom prst="ellipse">
            <a:avLst/>
          </a:prstGeom>
          <a:solidFill>
            <a:schemeClr val="accent3"/>
          </a:solidFill>
          <a:ln/>
        </p:spPr>
      </p:sp>
      <p:sp>
        <p:nvSpPr>
          <p:cNvPr id="17" name="Text 15"/>
          <p:cNvSpPr txBox="1"/>
          <p:nvPr/>
        </p:nvSpPr>
        <p:spPr>
          <a:xfrm>
            <a:off x="9272016" y="237744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Northern Ireland</a:t>
            </a:r>
            <a:endParaRPr lang="en-US" sz="2000" dirty="0"/>
          </a:p>
        </p:txBody>
      </p:sp>
      <p:sp>
        <p:nvSpPr>
          <p:cNvPr id="18" name="Text 16"/>
          <p:cNvSpPr txBox="1"/>
          <p:nvPr/>
        </p:nvSpPr>
        <p:spPr>
          <a:xfrm>
            <a:off x="9272016" y="2971800"/>
            <a:ext cx="2148840" cy="1691640"/>
          </a:xfrm>
          <a:prstGeom prst="rect">
            <a:avLst/>
          </a:prstGeom>
          <a:noFill/>
          <a:ln/>
        </p:spPr>
        <p:txBody>
          <a:bodyPr wrap="square" lIns="0" tIns="0" rIns="0" bIns="0" rtlCol="0" anchor="t"/>
          <a:lstStyle/>
          <a:p>
            <a:pPr indent="0" marL="0">
              <a:buNone/>
            </a:pPr>
            <a:r>
              <a:rPr lang="en-US" sz="1500" dirty="0">
                <a:solidFill>
                  <a:schemeClr val="tx1"/>
                </a:solidFill>
              </a:rPr>
              <a:t>Domestic rates through Land &amp; Property Services; NI licence route via DVLA</a:t>
            </a:r>
            <a:endParaRPr lang="en-US" sz="1500" dirty="0"/>
          </a:p>
        </p:txBody>
      </p:sp>
      <p:sp>
        <p:nvSpPr>
          <p:cNvPr id="19" name="Text 17"/>
          <p:cNvSpPr txBox="1"/>
          <p:nvPr/>
        </p:nvSpPr>
        <p:spPr>
          <a:xfrm>
            <a:off x="548640" y="5074920"/>
            <a:ext cx="11064240" cy="731520"/>
          </a:xfrm>
          <a:prstGeom prst="rect">
            <a:avLst/>
          </a:prstGeom>
          <a:noFill/>
          <a:ln/>
        </p:spPr>
        <p:txBody>
          <a:bodyPr wrap="square" lIns="0" tIns="0" rIns="0" bIns="0" rtlCol="0" anchor="ctr"/>
          <a:lstStyle/>
          <a:p>
            <a:pPr indent="0" marL="0">
              <a:buNone/>
            </a:pPr>
            <a:r>
              <a:rPr lang="en-US" sz="1600" dirty="0">
                <a:solidFill>
                  <a:schemeClr val="tx1"/>
                </a:solidFill>
              </a:rPr>
              <a:t>Tested with five customers: Leeds → Harrogate, Halifax → Chelmsford, Glasgow → Darlington, Cardiff → Edinburgh, Belfast → Leeds, plus a standalone Bristol → Nottingham move.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Who to contact near the new home</a:t>
            </a:r>
            <a:endParaRPr lang="en-US" sz="3400" dirty="0"/>
          </a:p>
        </p:txBody>
      </p:sp>
      <p:sp>
        <p:nvSpPr>
          <p:cNvPr id="3" name="GP practices"/>
          <p:cNvSpPr/>
          <p:nvPr/>
        </p:nvSpPr>
        <p:spPr>
          <a:xfrm>
            <a:off x="548640" y="1463040"/>
            <a:ext cx="3474720" cy="4023360"/>
          </a:xfrm>
          <a:prstGeom prst="roundRect">
            <a:avLst>
              <a:gd name="adj" fmla="val 3158"/>
            </a:avLst>
          </a:prstGeom>
          <a:solidFill>
            <a:schemeClr val="bg2"/>
          </a:solidFill>
          <a:ln/>
        </p:spPr>
      </p:sp>
      <p:sp>
        <p:nvSpPr>
          <p:cNvPr id="4" name="GP practices circle"/>
          <p:cNvSpPr/>
          <p:nvPr/>
        </p:nvSpPr>
        <p:spPr>
          <a:xfrm>
            <a:off x="822960" y="1691640"/>
            <a:ext cx="731520" cy="731520"/>
          </a:xfrm>
          <a:prstGeom prst="ellipse">
            <a:avLst/>
          </a:prstGeom>
          <a:solidFill>
            <a:schemeClr val="accent2"/>
          </a:solidFill>
          <a:ln/>
        </p:spPr>
      </p:sp>
      <p:pic>
        <p:nvPicPr>
          <p:cNvPr id="5" name="GP practices icon"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691640" y="1691640"/>
            <a:ext cx="2194560" cy="731520"/>
          </a:xfrm>
          <a:prstGeom prst="rect">
            <a:avLst/>
          </a:prstGeom>
          <a:noFill/>
          <a:ln/>
        </p:spPr>
        <p:txBody>
          <a:bodyPr wrap="square" lIns="0" tIns="0" rIns="0" bIns="0" rtlCol="0" anchor="ctr"/>
          <a:lstStyle/>
          <a:p>
            <a:pPr indent="0" marL="0">
              <a:buNone/>
            </a:pPr>
            <a:r>
              <a:rPr lang="en-US" sz="2200" b="1" dirty="0">
                <a:solidFill>
                  <a:schemeClr val="tx2"/>
                </a:solidFill>
              </a:rPr>
              <a:t>GP practices</a:t>
            </a:r>
            <a:endParaRPr lang="en-US" sz="2200" dirty="0"/>
          </a:p>
        </p:txBody>
      </p:sp>
      <p:sp>
        <p:nvSpPr>
          <p:cNvPr id="7" name="Text 4"/>
          <p:cNvSpPr txBox="1"/>
          <p:nvPr/>
        </p:nvSpPr>
        <p:spPr>
          <a:xfrm>
            <a:off x="822960" y="2606040"/>
            <a:ext cx="3017520" cy="548640"/>
          </a:xfrm>
          <a:prstGeom prst="rect">
            <a:avLst/>
          </a:prstGeom>
          <a:noFill/>
          <a:ln/>
        </p:spPr>
        <p:txBody>
          <a:bodyPr wrap="square" lIns="0" tIns="0" rIns="0" bIns="0" rtlCol="0" anchor="ctr"/>
          <a:lstStyle/>
          <a:p>
            <a:pPr indent="0" marL="0">
              <a:buNone/>
            </a:pPr>
            <a:r>
              <a:rPr lang="en-US" sz="1300" i="1" dirty="0">
                <a:solidFill>
                  <a:schemeClr val="accent6"/>
                </a:solidFill>
              </a:rPr>
              <a:t>NHS Organisation Data Service, live</a:t>
            </a:r>
            <a:endParaRPr lang="en-US" sz="1300" dirty="0"/>
          </a:p>
        </p:txBody>
      </p:sp>
      <p:sp>
        <p:nvSpPr>
          <p:cNvPr id="8" name="Text 5"/>
          <p:cNvSpPr txBox="1"/>
          <p:nvPr/>
        </p:nvSpPr>
        <p:spPr>
          <a:xfrm>
            <a:off x="822960" y="32004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Burton Croft Surgery · 0.2 km</a:t>
            </a:r>
            <a:endParaRPr lang="en-US" sz="1500" dirty="0"/>
          </a:p>
          <a:p>
            <a:pPr marL="342900" indent="-342900">
              <a:spcAft>
                <a:spcPts val="800"/>
              </a:spcAft>
              <a:buSzPct val="100000"/>
              <a:buChar char="•"/>
            </a:pPr>
            <a:r>
              <a:rPr lang="en-US" sz="1500" dirty="0">
                <a:solidFill>
                  <a:schemeClr val="tx1"/>
                </a:solidFill>
              </a:rPr>
              <a:t>Laurel Bank Surgery · 0.6 km</a:t>
            </a:r>
            <a:endParaRPr lang="en-US" sz="1500" dirty="0"/>
          </a:p>
          <a:p>
            <a:pPr marL="342900" indent="-342900">
              <a:spcAft>
                <a:spcPts val="800"/>
              </a:spcAft>
              <a:buSzPct val="100000"/>
              <a:buChar char="•"/>
            </a:pPr>
            <a:r>
              <a:rPr lang="en-US" sz="1500" dirty="0">
                <a:solidFill>
                  <a:schemeClr val="tx1"/>
                </a:solidFill>
              </a:rPr>
              <a:t>Meanwood Health Centre · 1.3 km</a:t>
            </a:r>
            <a:endParaRPr lang="en-US" sz="1500" dirty="0"/>
          </a:p>
        </p:txBody>
      </p:sp>
      <p:sp>
        <p:nvSpPr>
          <p:cNvPr id="9" name="Schools"/>
          <p:cNvSpPr/>
          <p:nvPr/>
        </p:nvSpPr>
        <p:spPr>
          <a:xfrm>
            <a:off x="4297680" y="1463040"/>
            <a:ext cx="3474720" cy="4023360"/>
          </a:xfrm>
          <a:prstGeom prst="roundRect">
            <a:avLst>
              <a:gd name="adj" fmla="val 3158"/>
            </a:avLst>
          </a:prstGeom>
          <a:solidFill>
            <a:schemeClr val="bg2"/>
          </a:solidFill>
          <a:ln/>
        </p:spPr>
      </p:sp>
      <p:sp>
        <p:nvSpPr>
          <p:cNvPr id="10" name="Schools circle"/>
          <p:cNvSpPr/>
          <p:nvPr/>
        </p:nvSpPr>
        <p:spPr>
          <a:xfrm>
            <a:off x="4572000" y="1691640"/>
            <a:ext cx="731520" cy="731520"/>
          </a:xfrm>
          <a:prstGeom prst="ellipse">
            <a:avLst/>
          </a:prstGeom>
          <a:solidFill>
            <a:schemeClr val="accent2"/>
          </a:solidFill>
          <a:ln/>
        </p:spPr>
      </p:sp>
      <p:pic>
        <p:nvPicPr>
          <p:cNvPr id="11" name="Schools icon" descr="preencoded.png">    </p:cNvPr>
          <p:cNvPicPr>
            <a:picLocks noChangeAspect="1"/>
          </p:cNvPicPr>
          <p:nvPr/>
        </p:nvPicPr>
        <p:blipFill>
          <a:blip r:embed="rId2"/>
          <a:stretch>
            <a:fillRect/>
          </a:stretch>
        </p:blipFill>
        <p:spPr>
          <a:xfrm>
            <a:off x="4754880" y="1874520"/>
            <a:ext cx="365760" cy="365760"/>
          </a:xfrm>
          <a:prstGeom prst="rect">
            <a:avLst/>
          </a:prstGeom>
        </p:spPr>
      </p:pic>
      <p:sp>
        <p:nvSpPr>
          <p:cNvPr id="12" name="Text 8"/>
          <p:cNvSpPr txBox="1"/>
          <p:nvPr/>
        </p:nvSpPr>
        <p:spPr>
          <a:xfrm>
            <a:off x="5440680" y="1691640"/>
            <a:ext cx="2194560" cy="731520"/>
          </a:xfrm>
          <a:prstGeom prst="rect">
            <a:avLst/>
          </a:prstGeom>
          <a:noFill/>
          <a:ln/>
        </p:spPr>
        <p:txBody>
          <a:bodyPr wrap="square" lIns="0" tIns="0" rIns="0" bIns="0" rtlCol="0" anchor="ctr"/>
          <a:lstStyle/>
          <a:p>
            <a:pPr indent="0" marL="0">
              <a:buNone/>
            </a:pPr>
            <a:r>
              <a:rPr lang="en-US" sz="2200" b="1" dirty="0">
                <a:solidFill>
                  <a:schemeClr val="tx2"/>
                </a:solidFill>
              </a:rPr>
              <a:t>Schools</a:t>
            </a:r>
            <a:endParaRPr lang="en-US" sz="2200" dirty="0"/>
          </a:p>
        </p:txBody>
      </p:sp>
      <p:sp>
        <p:nvSpPr>
          <p:cNvPr id="13" name="Text 9"/>
          <p:cNvSpPr txBox="1"/>
          <p:nvPr/>
        </p:nvSpPr>
        <p:spPr>
          <a:xfrm>
            <a:off x="4572000" y="2606040"/>
            <a:ext cx="3017520" cy="548640"/>
          </a:xfrm>
          <a:prstGeom prst="rect">
            <a:avLst/>
          </a:prstGeom>
          <a:noFill/>
          <a:ln/>
        </p:spPr>
        <p:txBody>
          <a:bodyPr wrap="square" lIns="0" tIns="0" rIns="0" bIns="0" rtlCol="0" anchor="ctr"/>
          <a:lstStyle/>
          <a:p>
            <a:pPr indent="0" marL="0">
              <a:buNone/>
            </a:pPr>
            <a:r>
              <a:rPr lang="en-US" sz="1300" i="1" dirty="0">
                <a:solidFill>
                  <a:schemeClr val="accent6"/>
                </a:solidFill>
              </a:rPr>
              <a:t>Department for Education, 26,483 schools</a:t>
            </a:r>
            <a:endParaRPr lang="en-US" sz="1300" dirty="0"/>
          </a:p>
        </p:txBody>
      </p:sp>
      <p:sp>
        <p:nvSpPr>
          <p:cNvPr id="14" name="Text 10"/>
          <p:cNvSpPr txBox="1"/>
          <p:nvPr/>
        </p:nvSpPr>
        <p:spPr>
          <a:xfrm>
            <a:off x="4572000" y="32004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Nearest schools for each child's age</a:t>
            </a:r>
            <a:endParaRPr lang="en-US" sz="1500" dirty="0"/>
          </a:p>
          <a:p>
            <a:pPr marL="342900" indent="-342900">
              <a:spcAft>
                <a:spcPts val="800"/>
              </a:spcAft>
              <a:buSzPct val="100000"/>
              <a:buChar char="•"/>
            </a:pPr>
            <a:r>
              <a:rPr lang="en-US" sz="1500" dirty="0">
                <a:solidFill>
                  <a:schemeClr val="tx1"/>
                </a:solidFill>
              </a:rPr>
              <a:t>Phone, website and distance</a:t>
            </a:r>
            <a:endParaRPr lang="en-US" sz="1500" dirty="0"/>
          </a:p>
          <a:p>
            <a:pPr marL="342900" indent="-342900">
              <a:spcAft>
                <a:spcPts val="800"/>
              </a:spcAft>
              <a:buSzPct val="100000"/>
              <a:buChar char="•"/>
            </a:pPr>
            <a:r>
              <a:rPr lang="en-US" sz="1500" dirty="0">
                <a:solidFill>
                  <a:schemeClr val="tx1"/>
                </a:solidFill>
              </a:rPr>
              <a:t>Council admissions and childcare links</a:t>
            </a:r>
            <a:endParaRPr lang="en-US" sz="1500" dirty="0"/>
          </a:p>
        </p:txBody>
      </p:sp>
      <p:sp>
        <p:nvSpPr>
          <p:cNvPr id="15" name="Water"/>
          <p:cNvSpPr/>
          <p:nvPr/>
        </p:nvSpPr>
        <p:spPr>
          <a:xfrm>
            <a:off x="8046720" y="1463040"/>
            <a:ext cx="3474720" cy="4023360"/>
          </a:xfrm>
          <a:prstGeom prst="roundRect">
            <a:avLst>
              <a:gd name="adj" fmla="val 3158"/>
            </a:avLst>
          </a:prstGeom>
          <a:solidFill>
            <a:schemeClr val="bg2"/>
          </a:solidFill>
          <a:ln/>
        </p:spPr>
      </p:sp>
      <p:sp>
        <p:nvSpPr>
          <p:cNvPr id="16" name="Water circle"/>
          <p:cNvSpPr/>
          <p:nvPr/>
        </p:nvSpPr>
        <p:spPr>
          <a:xfrm>
            <a:off x="8321040" y="1691640"/>
            <a:ext cx="731520" cy="731520"/>
          </a:xfrm>
          <a:prstGeom prst="ellipse">
            <a:avLst/>
          </a:prstGeom>
          <a:solidFill>
            <a:schemeClr val="accent2"/>
          </a:solidFill>
          <a:ln/>
        </p:spPr>
      </p:sp>
      <p:pic>
        <p:nvPicPr>
          <p:cNvPr id="17" name="Water icon" descr="preencoded.png">    </p:cNvPr>
          <p:cNvPicPr>
            <a:picLocks noChangeAspect="1"/>
          </p:cNvPicPr>
          <p:nvPr/>
        </p:nvPicPr>
        <p:blipFill>
          <a:blip r:embed="rId3"/>
          <a:stretch>
            <a:fillRect/>
          </a:stretch>
        </p:blipFill>
        <p:spPr>
          <a:xfrm>
            <a:off x="8503920" y="1874520"/>
            <a:ext cx="365760" cy="365760"/>
          </a:xfrm>
          <a:prstGeom prst="rect">
            <a:avLst/>
          </a:prstGeom>
        </p:spPr>
      </p:pic>
      <p:sp>
        <p:nvSpPr>
          <p:cNvPr id="18" name="Text 13"/>
          <p:cNvSpPr txBox="1"/>
          <p:nvPr/>
        </p:nvSpPr>
        <p:spPr>
          <a:xfrm>
            <a:off x="9189720" y="1691640"/>
            <a:ext cx="2194560" cy="731520"/>
          </a:xfrm>
          <a:prstGeom prst="rect">
            <a:avLst/>
          </a:prstGeom>
          <a:noFill/>
          <a:ln/>
        </p:spPr>
        <p:txBody>
          <a:bodyPr wrap="square" lIns="0" tIns="0" rIns="0" bIns="0" rtlCol="0" anchor="ctr"/>
          <a:lstStyle/>
          <a:p>
            <a:pPr indent="0" marL="0">
              <a:buNone/>
            </a:pPr>
            <a:r>
              <a:rPr lang="en-US" sz="2200" b="1" dirty="0">
                <a:solidFill>
                  <a:schemeClr val="tx2"/>
                </a:solidFill>
              </a:rPr>
              <a:t>Water</a:t>
            </a:r>
            <a:endParaRPr lang="en-US" sz="2200" dirty="0"/>
          </a:p>
        </p:txBody>
      </p:sp>
      <p:sp>
        <p:nvSpPr>
          <p:cNvPr id="19" name="Text 14"/>
          <p:cNvSpPr txBox="1"/>
          <p:nvPr/>
        </p:nvSpPr>
        <p:spPr>
          <a:xfrm>
            <a:off x="8321040" y="2606040"/>
            <a:ext cx="3017520" cy="548640"/>
          </a:xfrm>
          <a:prstGeom prst="rect">
            <a:avLst/>
          </a:prstGeom>
          <a:noFill/>
          <a:ln/>
        </p:spPr>
        <p:txBody>
          <a:bodyPr wrap="square" lIns="0" tIns="0" rIns="0" bIns="0" rtlCol="0" anchor="ctr"/>
          <a:lstStyle/>
          <a:p>
            <a:pPr indent="0" marL="0">
              <a:buNone/>
            </a:pPr>
            <a:r>
              <a:rPr lang="en-US" sz="1300" i="1" dirty="0">
                <a:solidFill>
                  <a:schemeClr val="accent6"/>
                </a:solidFill>
              </a:rPr>
              <a:t>Checked table plus the official CCW checker</a:t>
            </a:r>
            <a:endParaRPr lang="en-US" sz="1300" dirty="0"/>
          </a:p>
        </p:txBody>
      </p:sp>
      <p:sp>
        <p:nvSpPr>
          <p:cNvPr id="20" name="Text 15"/>
          <p:cNvSpPr txBox="1"/>
          <p:nvPr/>
        </p:nvSpPr>
        <p:spPr>
          <a:xfrm>
            <a:off x="8321040" y="3200400"/>
            <a:ext cx="30175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Yorkshire Water (to confirm)</a:t>
            </a:r>
            <a:endParaRPr lang="en-US" sz="1500" dirty="0"/>
          </a:p>
          <a:p>
            <a:pPr marL="342900" indent="-342900">
              <a:spcAft>
                <a:spcPts val="800"/>
              </a:spcAft>
              <a:buSzPct val="100000"/>
              <a:buChar char="•"/>
            </a:pPr>
            <a:r>
              <a:rPr lang="en-US" sz="1500" dirty="0">
                <a:solidFill>
                  <a:schemeClr val="tx1"/>
                </a:solidFill>
              </a:rPr>
              <a:t>Water and sewerage named separately</a:t>
            </a:r>
            <a:endParaRPr lang="en-US" sz="1500" dirty="0"/>
          </a:p>
          <a:p>
            <a:pPr marL="342900" indent="-342900">
              <a:spcAft>
                <a:spcPts val="800"/>
              </a:spcAft>
              <a:buSzPct val="100000"/>
              <a:buChar char="•"/>
            </a:pPr>
            <a:r>
              <a:rPr lang="en-US" sz="1500" dirty="0">
                <a:solidFill>
                  <a:schemeClr val="tx1"/>
                </a:solidFill>
              </a:rPr>
              <a:t>Scotland and NI: no account needed</a:t>
            </a:r>
            <a:endParaRPr lang="en-US" sz="1500" dirty="0"/>
          </a:p>
        </p:txBody>
      </p:sp>
      <p:sp>
        <p:nvSpPr>
          <p:cNvPr id="21" name="Text 16"/>
          <p:cNvSpPr txBox="1"/>
          <p:nvPr/>
        </p:nvSpPr>
        <p:spPr>
          <a:xfrm>
            <a:off x="548640" y="5715000"/>
            <a:ext cx="11064240" cy="457200"/>
          </a:xfrm>
          <a:prstGeom prst="rect">
            <a:avLst/>
          </a:prstGeom>
          <a:noFill/>
          <a:ln/>
        </p:spPr>
        <p:txBody>
          <a:bodyPr wrap="square" lIns="0" tIns="0" rIns="0" bIns="0" rtlCol="0" anchor="ctr"/>
          <a:lstStyle/>
          <a:p>
            <a:pPr indent="0" marL="0">
              <a:buNone/>
            </a:pPr>
            <a:r>
              <a:rPr lang="en-US" sz="1500" i="1" dirty="0">
                <a:solidFill>
                  <a:schemeClr val="tx2"/>
                </a:solidFill>
              </a:rPr>
              <a:t>Live example: Belfast → Leeds LS6 3BQ. Distance is not catchment: the list says how to check practice areas and school admissions.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What we built in the hackathon</a:t>
            </a:r>
            <a:endParaRPr lang="en-US" sz="3400" dirty="0"/>
          </a:p>
        </p:txBody>
      </p:sp>
      <p:sp>
        <p:nvSpPr>
          <p:cNvPr id="3" name="number 1"/>
          <p:cNvSpPr/>
          <p:nvPr/>
        </p:nvSpPr>
        <p:spPr>
          <a:xfrm>
            <a:off x="548640" y="1463040"/>
            <a:ext cx="3474720" cy="2011680"/>
          </a:xfrm>
          <a:prstGeom prst="roundRect">
            <a:avLst>
              <a:gd name="adj" fmla="val 5455"/>
            </a:avLst>
          </a:prstGeom>
          <a:solidFill>
            <a:schemeClr val="bg2"/>
          </a:solidFill>
          <a:ln/>
        </p:spPr>
      </p:sp>
      <p:sp>
        <p:nvSpPr>
          <p:cNvPr id="4" name="Text 2"/>
          <p:cNvSpPr txBox="1"/>
          <p:nvPr/>
        </p:nvSpPr>
        <p:spPr>
          <a:xfrm>
            <a:off x="822960" y="1645920"/>
            <a:ext cx="29260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13</a:t>
            </a:r>
            <a:endParaRPr lang="en-US" sz="5400" dirty="0"/>
          </a:p>
        </p:txBody>
      </p:sp>
      <p:sp>
        <p:nvSpPr>
          <p:cNvPr id="5" name="Text 3"/>
          <p:cNvSpPr txBox="1"/>
          <p:nvPr/>
        </p:nvSpPr>
        <p:spPr>
          <a:xfrm>
            <a:off x="822960" y="2697480"/>
            <a:ext cx="2926080" cy="640080"/>
          </a:xfrm>
          <a:prstGeom prst="rect">
            <a:avLst/>
          </a:prstGeom>
          <a:noFill/>
          <a:ln/>
        </p:spPr>
        <p:txBody>
          <a:bodyPr wrap="square" lIns="0" tIns="0" rIns="0" bIns="0" rtlCol="0" anchor="t"/>
          <a:lstStyle/>
          <a:p>
            <a:pPr indent="0" marL="0">
              <a:buNone/>
            </a:pPr>
            <a:r>
              <a:rPr lang="en-US" sz="1700" dirty="0">
                <a:solidFill>
                  <a:schemeClr val="tx1"/>
                </a:solidFill>
              </a:rPr>
              <a:t>LLM agents</a:t>
            </a:r>
            <a:endParaRPr lang="en-US" sz="1700" dirty="0"/>
          </a:p>
        </p:txBody>
      </p:sp>
      <p:sp>
        <p:nvSpPr>
          <p:cNvPr id="6" name="number 2"/>
          <p:cNvSpPr/>
          <p:nvPr/>
        </p:nvSpPr>
        <p:spPr>
          <a:xfrm>
            <a:off x="4297680" y="1463040"/>
            <a:ext cx="3474720" cy="2011680"/>
          </a:xfrm>
          <a:prstGeom prst="roundRect">
            <a:avLst>
              <a:gd name="adj" fmla="val 5455"/>
            </a:avLst>
          </a:prstGeom>
          <a:solidFill>
            <a:schemeClr val="bg2"/>
          </a:solidFill>
          <a:ln/>
        </p:spPr>
      </p:sp>
      <p:sp>
        <p:nvSpPr>
          <p:cNvPr id="7" name="Text 5"/>
          <p:cNvSpPr txBox="1"/>
          <p:nvPr/>
        </p:nvSpPr>
        <p:spPr>
          <a:xfrm>
            <a:off x="4572000" y="1645920"/>
            <a:ext cx="29260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26</a:t>
            </a:r>
            <a:endParaRPr lang="en-US" sz="5400" dirty="0"/>
          </a:p>
        </p:txBody>
      </p:sp>
      <p:sp>
        <p:nvSpPr>
          <p:cNvPr id="8" name="Text 6"/>
          <p:cNvSpPr txBox="1"/>
          <p:nvPr/>
        </p:nvSpPr>
        <p:spPr>
          <a:xfrm>
            <a:off x="4572000" y="2697480"/>
            <a:ext cx="2926080" cy="640080"/>
          </a:xfrm>
          <a:prstGeom prst="rect">
            <a:avLst/>
          </a:prstGeom>
          <a:noFill/>
          <a:ln/>
        </p:spPr>
        <p:txBody>
          <a:bodyPr wrap="square" lIns="0" tIns="0" rIns="0" bIns="0" rtlCol="0" anchor="t"/>
          <a:lstStyle/>
          <a:p>
            <a:pPr indent="0" marL="0">
              <a:buNone/>
            </a:pPr>
            <a:r>
              <a:rPr lang="en-US" sz="1700" dirty="0">
                <a:solidFill>
                  <a:schemeClr val="tx1"/>
                </a:solidFill>
              </a:rPr>
              <a:t>coded tools</a:t>
            </a:r>
            <a:endParaRPr lang="en-US" sz="1700" dirty="0"/>
          </a:p>
        </p:txBody>
      </p:sp>
      <p:sp>
        <p:nvSpPr>
          <p:cNvPr id="9" name="number 3"/>
          <p:cNvSpPr/>
          <p:nvPr/>
        </p:nvSpPr>
        <p:spPr>
          <a:xfrm>
            <a:off x="8046720" y="1463040"/>
            <a:ext cx="3474720" cy="2011680"/>
          </a:xfrm>
          <a:prstGeom prst="roundRect">
            <a:avLst>
              <a:gd name="adj" fmla="val 5455"/>
            </a:avLst>
          </a:prstGeom>
          <a:solidFill>
            <a:schemeClr val="bg2"/>
          </a:solidFill>
          <a:ln/>
        </p:spPr>
      </p:sp>
      <p:sp>
        <p:nvSpPr>
          <p:cNvPr id="10" name="Text 8"/>
          <p:cNvSpPr txBox="1"/>
          <p:nvPr/>
        </p:nvSpPr>
        <p:spPr>
          <a:xfrm>
            <a:off x="8321040" y="1645920"/>
            <a:ext cx="29260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23</a:t>
            </a:r>
            <a:endParaRPr lang="en-US" sz="5400" dirty="0"/>
          </a:p>
        </p:txBody>
      </p:sp>
      <p:sp>
        <p:nvSpPr>
          <p:cNvPr id="11" name="Text 9"/>
          <p:cNvSpPr txBox="1"/>
          <p:nvPr/>
        </p:nvSpPr>
        <p:spPr>
          <a:xfrm>
            <a:off x="8321040" y="2697480"/>
            <a:ext cx="2926080" cy="640080"/>
          </a:xfrm>
          <a:prstGeom prst="rect">
            <a:avLst/>
          </a:prstGeom>
          <a:noFill/>
          <a:ln/>
        </p:spPr>
        <p:txBody>
          <a:bodyPr wrap="square" lIns="0" tIns="0" rIns="0" bIns="0" rtlCol="0" anchor="t"/>
          <a:lstStyle/>
          <a:p>
            <a:pPr indent="0" marL="0">
              <a:buNone/>
            </a:pPr>
            <a:r>
              <a:rPr lang="en-US" sz="1700" dirty="0">
                <a:solidFill>
                  <a:schemeClr val="tx1"/>
                </a:solidFill>
              </a:rPr>
              <a:t>rules, 20 verified</a:t>
            </a:r>
            <a:endParaRPr lang="en-US" sz="1700" dirty="0"/>
          </a:p>
        </p:txBody>
      </p:sp>
      <p:sp>
        <p:nvSpPr>
          <p:cNvPr id="12" name="number 4"/>
          <p:cNvSpPr/>
          <p:nvPr/>
        </p:nvSpPr>
        <p:spPr>
          <a:xfrm>
            <a:off x="548640" y="3703320"/>
            <a:ext cx="3474720" cy="2011680"/>
          </a:xfrm>
          <a:prstGeom prst="roundRect">
            <a:avLst>
              <a:gd name="adj" fmla="val 5455"/>
            </a:avLst>
          </a:prstGeom>
          <a:solidFill>
            <a:schemeClr val="bg2"/>
          </a:solidFill>
          <a:ln/>
        </p:spPr>
      </p:sp>
      <p:sp>
        <p:nvSpPr>
          <p:cNvPr id="13" name="Text 11"/>
          <p:cNvSpPr txBox="1"/>
          <p:nvPr/>
        </p:nvSpPr>
        <p:spPr>
          <a:xfrm>
            <a:off x="822960" y="3886200"/>
            <a:ext cx="29260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70</a:t>
            </a:r>
            <a:endParaRPr lang="en-US" sz="5400" dirty="0"/>
          </a:p>
        </p:txBody>
      </p:sp>
      <p:sp>
        <p:nvSpPr>
          <p:cNvPr id="14" name="Text 12"/>
          <p:cNvSpPr txBox="1"/>
          <p:nvPr/>
        </p:nvSpPr>
        <p:spPr>
          <a:xfrm>
            <a:off x="822960" y="4937760"/>
            <a:ext cx="2926080" cy="640080"/>
          </a:xfrm>
          <a:prstGeom prst="rect">
            <a:avLst/>
          </a:prstGeom>
          <a:noFill/>
          <a:ln/>
        </p:spPr>
        <p:txBody>
          <a:bodyPr wrap="square" lIns="0" tIns="0" rIns="0" bIns="0" rtlCol="0" anchor="t"/>
          <a:lstStyle/>
          <a:p>
            <a:pPr indent="0" marL="0">
              <a:buNone/>
            </a:pPr>
            <a:r>
              <a:rPr lang="en-US" sz="1700" dirty="0">
                <a:solidFill>
                  <a:schemeClr val="tx1"/>
                </a:solidFill>
              </a:rPr>
              <a:t>automated tests</a:t>
            </a:r>
            <a:endParaRPr lang="en-US" sz="1700" dirty="0"/>
          </a:p>
        </p:txBody>
      </p:sp>
      <p:sp>
        <p:nvSpPr>
          <p:cNvPr id="15" name="number 5"/>
          <p:cNvSpPr/>
          <p:nvPr/>
        </p:nvSpPr>
        <p:spPr>
          <a:xfrm>
            <a:off x="4297680" y="3703320"/>
            <a:ext cx="3474720" cy="2011680"/>
          </a:xfrm>
          <a:prstGeom prst="roundRect">
            <a:avLst>
              <a:gd name="adj" fmla="val 5455"/>
            </a:avLst>
          </a:prstGeom>
          <a:solidFill>
            <a:schemeClr val="bg2"/>
          </a:solidFill>
          <a:ln/>
        </p:spPr>
      </p:sp>
      <p:sp>
        <p:nvSpPr>
          <p:cNvPr id="16" name="Text 14"/>
          <p:cNvSpPr txBox="1"/>
          <p:nvPr/>
        </p:nvSpPr>
        <p:spPr>
          <a:xfrm>
            <a:off x="4572000" y="3886200"/>
            <a:ext cx="292608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6</a:t>
            </a:r>
            <a:endParaRPr lang="en-US" sz="5400" dirty="0"/>
          </a:p>
        </p:txBody>
      </p:sp>
      <p:sp>
        <p:nvSpPr>
          <p:cNvPr id="17" name="Text 15"/>
          <p:cNvSpPr txBox="1"/>
          <p:nvPr/>
        </p:nvSpPr>
        <p:spPr>
          <a:xfrm>
            <a:off x="4572000" y="4937760"/>
            <a:ext cx="2926080" cy="640080"/>
          </a:xfrm>
          <a:prstGeom prst="rect">
            <a:avLst/>
          </a:prstGeom>
          <a:noFill/>
          <a:ln/>
        </p:spPr>
        <p:txBody>
          <a:bodyPr wrap="square" lIns="0" tIns="0" rIns="0" bIns="0" rtlCol="0" anchor="t"/>
          <a:lstStyle/>
          <a:p>
            <a:pPr indent="0" marL="0">
              <a:buNone/>
            </a:pPr>
            <a:r>
              <a:rPr lang="en-US" sz="1700" dirty="0">
                <a:solidFill>
                  <a:schemeClr val="tx1"/>
                </a:solidFill>
              </a:rPr>
              <a:t>test journeys</a:t>
            </a:r>
            <a:endParaRPr lang="en-US" sz="1700" dirty="0"/>
          </a:p>
        </p:txBody>
      </p:sp>
      <p:sp>
        <p:nvSpPr>
          <p:cNvPr id="18" name="number 6"/>
          <p:cNvSpPr/>
          <p:nvPr/>
        </p:nvSpPr>
        <p:spPr>
          <a:xfrm>
            <a:off x="8046720" y="3703320"/>
            <a:ext cx="3474720" cy="2011680"/>
          </a:xfrm>
          <a:prstGeom prst="roundRect">
            <a:avLst>
              <a:gd name="adj" fmla="val 5455"/>
            </a:avLst>
          </a:prstGeom>
          <a:solidFill>
            <a:schemeClr val="bg2"/>
          </a:solidFill>
          <a:ln/>
        </p:spPr>
      </p:sp>
      <p:sp>
        <p:nvSpPr>
          <p:cNvPr id="19" name="Text 17"/>
          <p:cNvSpPr txBox="1"/>
          <p:nvPr/>
        </p:nvSpPr>
        <p:spPr>
          <a:xfrm>
            <a:off x="8321040" y="3886200"/>
            <a:ext cx="2926080"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4</a:t>
            </a:r>
            <a:endParaRPr lang="en-US" sz="5400" dirty="0"/>
          </a:p>
        </p:txBody>
      </p:sp>
      <p:sp>
        <p:nvSpPr>
          <p:cNvPr id="20" name="Text 18"/>
          <p:cNvSpPr txBox="1"/>
          <p:nvPr/>
        </p:nvSpPr>
        <p:spPr>
          <a:xfrm>
            <a:off x="8321040" y="4937760"/>
            <a:ext cx="2926080" cy="640080"/>
          </a:xfrm>
          <a:prstGeom prst="rect">
            <a:avLst/>
          </a:prstGeom>
          <a:noFill/>
          <a:ln/>
        </p:spPr>
        <p:txBody>
          <a:bodyPr wrap="square" lIns="0" tIns="0" rIns="0" bIns="0" rtlCol="0" anchor="t"/>
          <a:lstStyle/>
          <a:p>
            <a:pPr indent="0" marL="0">
              <a:buNone/>
            </a:pPr>
            <a:r>
              <a:rPr lang="en-US" sz="1700" dirty="0">
                <a:solidFill>
                  <a:schemeClr val="tx1"/>
                </a:solidFill>
              </a:rPr>
              <a:t>UK nations' rules covered</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Why a bank, and what we would measure</a:t>
            </a:r>
            <a:endParaRPr lang="en-US" sz="3400" dirty="0"/>
          </a:p>
        </p:txBody>
      </p:sp>
      <p:sp>
        <p:nvSpPr>
          <p:cNvPr id="3" name="why bank card"/>
          <p:cNvSpPr/>
          <p:nvPr/>
        </p:nvSpPr>
        <p:spPr>
          <a:xfrm>
            <a:off x="548640" y="1463040"/>
            <a:ext cx="4206240" cy="4297680"/>
          </a:xfrm>
          <a:prstGeom prst="roundRect">
            <a:avLst>
              <a:gd name="adj" fmla="val 2609"/>
            </a:avLst>
          </a:prstGeom>
          <a:solidFill>
            <a:schemeClr val="tx2"/>
          </a:solidFill>
          <a:ln/>
        </p:spPr>
      </p:sp>
      <p:sp>
        <p:nvSpPr>
          <p:cNvPr id="4" name="Text 2"/>
          <p:cNvSpPr txBox="1"/>
          <p:nvPr/>
        </p:nvSpPr>
        <p:spPr>
          <a:xfrm>
            <a:off x="822960" y="1691640"/>
            <a:ext cx="3657600" cy="822960"/>
          </a:xfrm>
          <a:prstGeom prst="rect">
            <a:avLst/>
          </a:prstGeom>
          <a:noFill/>
          <a:ln/>
        </p:spPr>
        <p:txBody>
          <a:bodyPr wrap="square" lIns="0" tIns="0" rIns="0" bIns="0" rtlCol="0" anchor="ctr"/>
          <a:lstStyle/>
          <a:p>
            <a:pPr indent="0" marL="0">
              <a:buNone/>
            </a:pPr>
            <a:r>
              <a:rPr lang="en-US" sz="2200" b="1" dirty="0">
                <a:solidFill>
                  <a:schemeClr val="accent4"/>
                </a:solidFill>
              </a:rPr>
              <a:t>Why a bank, not a moving app</a:t>
            </a:r>
            <a:endParaRPr lang="en-US" sz="2200" dirty="0"/>
          </a:p>
        </p:txBody>
      </p:sp>
      <p:sp>
        <p:nvSpPr>
          <p:cNvPr id="5" name="Text 3"/>
          <p:cNvSpPr txBox="1"/>
          <p:nvPr/>
        </p:nvSpPr>
        <p:spPr>
          <a:xfrm>
            <a:off x="822960" y="2651760"/>
            <a:ext cx="365760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Sees who the customer pays</a:t>
            </a:r>
            <a:endParaRPr lang="en-US" sz="1800" dirty="0"/>
          </a:p>
          <a:p>
            <a:pPr marL="342900" indent="-342900">
              <a:spcAft>
                <a:spcPts val="1200"/>
              </a:spcAft>
              <a:buSzPct val="100000"/>
              <a:buChar char="•"/>
            </a:pPr>
            <a:r>
              <a:rPr lang="en-US" sz="1800" dirty="0">
                <a:solidFill>
                  <a:schemeClr val="bg1"/>
                </a:solidFill>
              </a:rPr>
              <a:t>Knows the completion date</a:t>
            </a:r>
            <a:endParaRPr lang="en-US" sz="1800" dirty="0"/>
          </a:p>
          <a:p>
            <a:pPr marL="342900" indent="-342900">
              <a:spcAft>
                <a:spcPts val="1200"/>
              </a:spcAft>
              <a:buSzPct val="100000"/>
              <a:buChar char="•"/>
            </a:pPr>
            <a:r>
              <a:rPr lang="en-US" sz="1800" dirty="0">
                <a:solidFill>
                  <a:schemeClr val="bg1"/>
                </a:solidFill>
              </a:rPr>
              <a:t>Already trusted with the data</a:t>
            </a:r>
            <a:endParaRPr lang="en-US" sz="1800" dirty="0"/>
          </a:p>
        </p:txBody>
      </p:sp>
      <p:sp>
        <p:nvSpPr>
          <p:cNvPr id="6" name="kpi dot 1"/>
          <p:cNvSpPr/>
          <p:nvPr/>
        </p:nvSpPr>
        <p:spPr>
          <a:xfrm>
            <a:off x="5120640" y="1572768"/>
            <a:ext cx="274320" cy="274320"/>
          </a:xfrm>
          <a:prstGeom prst="ellipse">
            <a:avLst/>
          </a:prstGeom>
          <a:solidFill>
            <a:schemeClr val="accent1"/>
          </a:solidFill>
          <a:ln/>
        </p:spPr>
      </p:sp>
      <p:sp>
        <p:nvSpPr>
          <p:cNvPr id="7" name="Text 5"/>
          <p:cNvSpPr txBox="1"/>
          <p:nvPr/>
        </p:nvSpPr>
        <p:spPr>
          <a:xfrm>
            <a:off x="5532120" y="146304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Fewer servicing contacts</a:t>
            </a:r>
            <a:endParaRPr lang="en-US" sz="1600" dirty="0"/>
          </a:p>
          <a:p>
            <a:pPr indent="0" marL="0">
              <a:buNone/>
            </a:pPr>
            <a:r>
              <a:rPr lang="en-US" sz="1400" dirty="0">
                <a:solidFill>
                  <a:schemeClr val="tx1"/>
                </a:solidFill>
              </a:rPr>
              <a:t>address changes and moving queries</a:t>
            </a:r>
            <a:endParaRPr lang="en-US" sz="1600" dirty="0"/>
          </a:p>
        </p:txBody>
      </p:sp>
      <p:sp>
        <p:nvSpPr>
          <p:cNvPr id="8" name="kpi dot 2"/>
          <p:cNvSpPr/>
          <p:nvPr/>
        </p:nvSpPr>
        <p:spPr>
          <a:xfrm>
            <a:off x="8412480" y="1572768"/>
            <a:ext cx="274320" cy="274320"/>
          </a:xfrm>
          <a:prstGeom prst="ellipse">
            <a:avLst/>
          </a:prstGeom>
          <a:solidFill>
            <a:schemeClr val="accent1"/>
          </a:solidFill>
          <a:ln/>
        </p:spPr>
      </p:sp>
      <p:sp>
        <p:nvSpPr>
          <p:cNvPr id="9" name="Text 7"/>
          <p:cNvSpPr txBox="1"/>
          <p:nvPr/>
        </p:nvSpPr>
        <p:spPr>
          <a:xfrm>
            <a:off x="8823960" y="146304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Satisfaction at completion</a:t>
            </a:r>
            <a:endParaRPr lang="en-US" sz="1600" dirty="0"/>
          </a:p>
          <a:p>
            <a:pPr indent="0" marL="0">
              <a:buNone/>
            </a:pPr>
            <a:r>
              <a:rPr lang="en-US" sz="1400" dirty="0">
                <a:solidFill>
                  <a:schemeClr val="tx1"/>
                </a:solidFill>
              </a:rPr>
              <a:t>and Consumer Duty evidence</a:t>
            </a:r>
            <a:endParaRPr lang="en-US" sz="1600" dirty="0"/>
          </a:p>
        </p:txBody>
      </p:sp>
      <p:sp>
        <p:nvSpPr>
          <p:cNvPr id="10" name="kpi dot 3"/>
          <p:cNvSpPr/>
          <p:nvPr/>
        </p:nvSpPr>
        <p:spPr>
          <a:xfrm>
            <a:off x="5120640" y="3035808"/>
            <a:ext cx="274320" cy="274320"/>
          </a:xfrm>
          <a:prstGeom prst="ellipse">
            <a:avLst/>
          </a:prstGeom>
          <a:solidFill>
            <a:schemeClr val="accent1"/>
          </a:solidFill>
          <a:ln/>
        </p:spPr>
      </p:sp>
      <p:sp>
        <p:nvSpPr>
          <p:cNvPr id="11" name="Text 9"/>
          <p:cNvSpPr txBox="1"/>
          <p:nvPr/>
        </p:nvSpPr>
        <p:spPr>
          <a:xfrm>
            <a:off x="5532120" y="292608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Home insurance conversion</a:t>
            </a:r>
            <a:endParaRPr lang="en-US" sz="1600" dirty="0"/>
          </a:p>
          <a:p>
            <a:pPr indent="0" marL="0">
              <a:buNone/>
            </a:pPr>
            <a:r>
              <a:rPr lang="en-US" sz="1400" dirty="0">
                <a:solidFill>
                  <a:schemeClr val="tx1"/>
                </a:solidFill>
              </a:rPr>
              <a:t>an opt-in offer at the moment it is needed</a:t>
            </a:r>
            <a:endParaRPr lang="en-US" sz="1600" dirty="0"/>
          </a:p>
        </p:txBody>
      </p:sp>
      <p:sp>
        <p:nvSpPr>
          <p:cNvPr id="12" name="kpi dot 4"/>
          <p:cNvSpPr/>
          <p:nvPr/>
        </p:nvSpPr>
        <p:spPr>
          <a:xfrm>
            <a:off x="8412480" y="3035808"/>
            <a:ext cx="274320" cy="274320"/>
          </a:xfrm>
          <a:prstGeom prst="ellipse">
            <a:avLst/>
          </a:prstGeom>
          <a:solidFill>
            <a:schemeClr val="accent1"/>
          </a:solidFill>
          <a:ln/>
        </p:spPr>
      </p:sp>
      <p:sp>
        <p:nvSpPr>
          <p:cNvPr id="13" name="Text 11"/>
          <p:cNvSpPr txBox="1"/>
          <p:nvPr/>
        </p:nvSpPr>
        <p:spPr>
          <a:xfrm>
            <a:off x="8823960" y="292608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Tasks done before their due date</a:t>
            </a:r>
            <a:endParaRPr lang="en-US" sz="1600" dirty="0"/>
          </a:p>
          <a:p>
            <a:pPr indent="0" marL="0">
              <a:buNone/>
            </a:pPr>
            <a:r>
              <a:rPr lang="en-US" sz="1400" dirty="0">
                <a:solidFill>
                  <a:schemeClr val="tx1"/>
                </a:solidFill>
              </a:rPr>
              <a:t>fewer missed legal obligations</a:t>
            </a:r>
            <a:endParaRPr lang="en-US" sz="1600" dirty="0"/>
          </a:p>
        </p:txBody>
      </p:sp>
      <p:sp>
        <p:nvSpPr>
          <p:cNvPr id="14" name="kpi dot 5"/>
          <p:cNvSpPr/>
          <p:nvPr/>
        </p:nvSpPr>
        <p:spPr>
          <a:xfrm>
            <a:off x="5120640" y="4498848"/>
            <a:ext cx="274320" cy="274320"/>
          </a:xfrm>
          <a:prstGeom prst="ellipse">
            <a:avLst/>
          </a:prstGeom>
          <a:solidFill>
            <a:schemeClr val="accent1"/>
          </a:solidFill>
          <a:ln/>
        </p:spPr>
      </p:sp>
      <p:sp>
        <p:nvSpPr>
          <p:cNvPr id="15" name="Text 13"/>
          <p:cNvSpPr txBox="1"/>
          <p:nvPr/>
        </p:nvSpPr>
        <p:spPr>
          <a:xfrm>
            <a:off x="5532120" y="438912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Customer time saved per move</a:t>
            </a:r>
            <a:endParaRPr lang="en-US" sz="1600" dirty="0"/>
          </a:p>
          <a:p>
            <a:pPr indent="0" marL="0">
              <a:buNone/>
            </a:pPr>
            <a:r>
              <a:rPr lang="en-US" sz="1400" dirty="0">
                <a:solidFill>
                  <a:schemeClr val="tx1"/>
                </a:solidFill>
              </a:rPr>
              <a:t>from a task-time study</a:t>
            </a:r>
            <a:endParaRPr lang="en-US" sz="1600" dirty="0"/>
          </a:p>
        </p:txBody>
      </p:sp>
      <p:sp>
        <p:nvSpPr>
          <p:cNvPr id="16" name="kpi dot 6"/>
          <p:cNvSpPr/>
          <p:nvPr/>
        </p:nvSpPr>
        <p:spPr>
          <a:xfrm>
            <a:off x="8412480" y="4498848"/>
            <a:ext cx="274320" cy="274320"/>
          </a:xfrm>
          <a:prstGeom prst="ellipse">
            <a:avLst/>
          </a:prstGeom>
          <a:solidFill>
            <a:schemeClr val="accent1"/>
          </a:solidFill>
          <a:ln/>
        </p:spPr>
      </p:sp>
      <p:sp>
        <p:nvSpPr>
          <p:cNvPr id="17" name="Text 15"/>
          <p:cNvSpPr txBox="1"/>
          <p:nvPr/>
        </p:nvSpPr>
        <p:spPr>
          <a:xfrm>
            <a:off x="8823960" y="4389120"/>
            <a:ext cx="2743200" cy="1280160"/>
          </a:xfrm>
          <a:prstGeom prst="rect">
            <a:avLst/>
          </a:prstGeom>
          <a:noFill/>
          <a:ln/>
        </p:spPr>
        <p:txBody>
          <a:bodyPr wrap="square" lIns="0" tIns="0" rIns="0" bIns="0" rtlCol="0" anchor="t"/>
          <a:lstStyle/>
          <a:p>
            <a:pPr indent="0" marL="0">
              <a:buNone/>
            </a:pPr>
            <a:r>
              <a:rPr lang="en-US" sz="1600" b="1" dirty="0">
                <a:solidFill>
                  <a:schemeClr val="tx2"/>
                </a:solidFill>
              </a:rPr>
              <a:t>Retention at product transfer</a:t>
            </a:r>
            <a:endParaRPr lang="en-US" sz="1600" dirty="0"/>
          </a:p>
          <a:p>
            <a:pPr indent="0" marL="0">
              <a:buNone/>
            </a:pPr>
            <a:r>
              <a:rPr lang="en-US" sz="1400" dirty="0">
                <a:solidFill>
                  <a:schemeClr val="tx1"/>
                </a:solidFill>
              </a:rPr>
              <a:t>long-term relationship value</a:t>
            </a:r>
            <a:endParaRPr lang="en-US" sz="1600" dirty="0"/>
          </a:p>
        </p:txBody>
      </p:sp>
      <p:sp>
        <p:nvSpPr>
          <p:cNvPr id="18" name="Text 16"/>
          <p:cNvSpPr txBox="1"/>
          <p:nvPr/>
        </p:nvSpPr>
        <p:spPr>
          <a:xfrm>
            <a:off x="5120640" y="5897880"/>
            <a:ext cx="6492240" cy="365760"/>
          </a:xfrm>
          <a:prstGeom prst="rect">
            <a:avLst/>
          </a:prstGeom>
          <a:noFill/>
          <a:ln/>
        </p:spPr>
        <p:txBody>
          <a:bodyPr wrap="square" lIns="0" tIns="0" rIns="0" bIns="0" rtlCol="0" anchor="ctr"/>
          <a:lstStyle/>
          <a:p>
            <a:pPr indent="0" marL="0">
              <a:buNone/>
            </a:pPr>
            <a:r>
              <a:rPr lang="en-US" sz="1200" i="1" dirty="0">
                <a:solidFill>
                  <a:schemeClr val="accent6"/>
                </a:solidFill>
              </a:rPr>
              <a:t>Targets to measure in a pilot, not claimed results.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chemeClr val="tx2"/>
                </a:solidFill>
              </a:rPr>
              <a:t>Roadmap</a:t>
            </a:r>
            <a:endParaRPr lang="en-US" sz="3400" dirty="0"/>
          </a:p>
        </p:txBody>
      </p:sp>
      <p:sp>
        <p:nvSpPr>
          <p:cNvPr id="3" name="timeline"/>
          <p:cNvSpPr/>
          <p:nvPr/>
        </p:nvSpPr>
        <p:spPr>
          <a:xfrm>
            <a:off x="1097280" y="2331720"/>
            <a:ext cx="9966960" cy="0"/>
          </a:xfrm>
          <a:prstGeom prst="line">
            <a:avLst/>
          </a:prstGeom>
          <a:noFill/>
          <a:ln w="38100">
            <a:solidFill>
              <a:schemeClr val="accent3"/>
            </a:solidFill>
            <a:prstDash val="solid"/>
          </a:ln>
        </p:spPr>
      </p:sp>
      <p:sp>
        <p:nvSpPr>
          <p:cNvPr id="4" name="step 1"/>
          <p:cNvSpPr/>
          <p:nvPr/>
        </p:nvSpPr>
        <p:spPr>
          <a:xfrm>
            <a:off x="1051560" y="2011680"/>
            <a:ext cx="640080" cy="640080"/>
          </a:xfrm>
          <a:prstGeom prst="ellipse">
            <a:avLst/>
          </a:prstGeom>
          <a:solidFill>
            <a:schemeClr val="accent1"/>
          </a:solidFill>
          <a:ln/>
        </p:spPr>
      </p:sp>
      <p:sp>
        <p:nvSpPr>
          <p:cNvPr id="5" name="Text 3"/>
          <p:cNvSpPr txBox="1"/>
          <p:nvPr/>
        </p:nvSpPr>
        <p:spPr>
          <a:xfrm>
            <a:off x="105156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548640" y="2880360"/>
            <a:ext cx="2057400" cy="457200"/>
          </a:xfrm>
          <a:prstGeom prst="rect">
            <a:avLst/>
          </a:prstGeom>
          <a:noFill/>
          <a:ln/>
        </p:spPr>
        <p:txBody>
          <a:bodyPr wrap="square" lIns="0" tIns="0" rIns="0" bIns="0" rtlCol="0" anchor="ctr"/>
          <a:lstStyle/>
          <a:p>
            <a:pPr indent="0" marL="0">
              <a:buNone/>
            </a:pPr>
            <a:r>
              <a:rPr lang="en-US" sz="1900" b="1" dirty="0">
                <a:solidFill>
                  <a:schemeClr val="tx2"/>
                </a:solidFill>
              </a:rPr>
              <a:t>Open Banking</a:t>
            </a:r>
            <a:endParaRPr lang="en-US" sz="1900" dirty="0"/>
          </a:p>
        </p:txBody>
      </p:sp>
      <p:sp>
        <p:nvSpPr>
          <p:cNvPr id="7" name="Text 5"/>
          <p:cNvSpPr txBox="1"/>
          <p:nvPr/>
        </p:nvSpPr>
        <p:spPr>
          <a:xfrm>
            <a:off x="548640" y="3383280"/>
            <a:ext cx="2057400" cy="1737360"/>
          </a:xfrm>
          <a:prstGeom prst="rect">
            <a:avLst/>
          </a:prstGeom>
          <a:noFill/>
          <a:ln/>
        </p:spPr>
        <p:txBody>
          <a:bodyPr wrap="square" lIns="0" tIns="0" rIns="0" bIns="0" rtlCol="0" anchor="t"/>
          <a:lstStyle/>
          <a:p>
            <a:pPr indent="0" marL="0">
              <a:buNone/>
            </a:pPr>
            <a:r>
              <a:rPr lang="en-US" sz="1500" dirty="0">
                <a:solidFill>
                  <a:schemeClr val="tx1"/>
                </a:solidFill>
              </a:rPr>
              <a:t>Transactions and Direct Debits from any UK bank, with consent</a:t>
            </a:r>
            <a:endParaRPr lang="en-US" sz="1500" dirty="0"/>
          </a:p>
        </p:txBody>
      </p:sp>
      <p:sp>
        <p:nvSpPr>
          <p:cNvPr id="8" name="step 2"/>
          <p:cNvSpPr/>
          <p:nvPr/>
        </p:nvSpPr>
        <p:spPr>
          <a:xfrm>
            <a:off x="3291840" y="2011680"/>
            <a:ext cx="640080" cy="640080"/>
          </a:xfrm>
          <a:prstGeom prst="ellipse">
            <a:avLst/>
          </a:prstGeom>
          <a:solidFill>
            <a:schemeClr val="accent2"/>
          </a:solidFill>
          <a:ln/>
        </p:spPr>
      </p:sp>
      <p:sp>
        <p:nvSpPr>
          <p:cNvPr id="9" name="Text 7"/>
          <p:cNvSpPr txBox="1"/>
          <p:nvPr/>
        </p:nvSpPr>
        <p:spPr>
          <a:xfrm>
            <a:off x="329184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2788920" y="2880360"/>
            <a:ext cx="2057400" cy="457200"/>
          </a:xfrm>
          <a:prstGeom prst="rect">
            <a:avLst/>
          </a:prstGeom>
          <a:noFill/>
          <a:ln/>
        </p:spPr>
        <p:txBody>
          <a:bodyPr wrap="square" lIns="0" tIns="0" rIns="0" bIns="0" rtlCol="0" anchor="ctr"/>
          <a:lstStyle/>
          <a:p>
            <a:pPr indent="0" marL="0">
              <a:buNone/>
            </a:pPr>
            <a:r>
              <a:rPr lang="en-US" sz="1900" b="1" dirty="0">
                <a:solidFill>
                  <a:schemeClr val="tx2"/>
                </a:solidFill>
              </a:rPr>
              <a:t>Pilot</a:t>
            </a:r>
            <a:endParaRPr lang="en-US" sz="1900" dirty="0"/>
          </a:p>
        </p:txBody>
      </p:sp>
      <p:sp>
        <p:nvSpPr>
          <p:cNvPr id="11" name="Text 9"/>
          <p:cNvSpPr txBox="1"/>
          <p:nvPr/>
        </p:nvSpPr>
        <p:spPr>
          <a:xfrm>
            <a:off x="2788920" y="3383280"/>
            <a:ext cx="2057400" cy="1737360"/>
          </a:xfrm>
          <a:prstGeom prst="rect">
            <a:avLst/>
          </a:prstGeom>
          <a:noFill/>
          <a:ln/>
        </p:spPr>
        <p:txBody>
          <a:bodyPr wrap="square" lIns="0" tIns="0" rIns="0" bIns="0" rtlCol="0" anchor="t"/>
          <a:lstStyle/>
          <a:p>
            <a:pPr indent="0" marL="0">
              <a:buNone/>
            </a:pPr>
            <a:r>
              <a:rPr lang="en-US" sz="1500" dirty="0">
                <a:solidFill>
                  <a:schemeClr val="tx1"/>
                </a:solidFill>
              </a:rPr>
              <a:t>Consenting mortgage customers; address update and home insurance live</a:t>
            </a:r>
            <a:endParaRPr lang="en-US" sz="1500" dirty="0"/>
          </a:p>
        </p:txBody>
      </p:sp>
      <p:sp>
        <p:nvSpPr>
          <p:cNvPr id="12" name="step 3"/>
          <p:cNvSpPr/>
          <p:nvPr/>
        </p:nvSpPr>
        <p:spPr>
          <a:xfrm>
            <a:off x="5532120" y="2011680"/>
            <a:ext cx="640080" cy="640080"/>
          </a:xfrm>
          <a:prstGeom prst="ellipse">
            <a:avLst/>
          </a:prstGeom>
          <a:solidFill>
            <a:schemeClr val="accent2"/>
          </a:solidFill>
          <a:ln/>
        </p:spPr>
      </p:sp>
      <p:sp>
        <p:nvSpPr>
          <p:cNvPr id="13" name="Text 11"/>
          <p:cNvSpPr txBox="1"/>
          <p:nvPr/>
        </p:nvSpPr>
        <p:spPr>
          <a:xfrm>
            <a:off x="553212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5029200" y="2880360"/>
            <a:ext cx="2057400" cy="457200"/>
          </a:xfrm>
          <a:prstGeom prst="rect">
            <a:avLst/>
          </a:prstGeom>
          <a:noFill/>
          <a:ln/>
        </p:spPr>
        <p:txBody>
          <a:bodyPr wrap="square" lIns="0" tIns="0" rIns="0" bIns="0" rtlCol="0" anchor="ctr"/>
          <a:lstStyle/>
          <a:p>
            <a:pPr indent="0" marL="0">
              <a:buNone/>
            </a:pPr>
            <a:r>
              <a:rPr lang="en-US" sz="1900" b="1" dirty="0">
                <a:solidFill>
                  <a:schemeClr val="tx2"/>
                </a:solidFill>
              </a:rPr>
              <a:t>Partner APIs</a:t>
            </a:r>
            <a:endParaRPr lang="en-US" sz="1900" dirty="0"/>
          </a:p>
        </p:txBody>
      </p:sp>
      <p:sp>
        <p:nvSpPr>
          <p:cNvPr id="15" name="Text 13"/>
          <p:cNvSpPr txBox="1"/>
          <p:nvPr/>
        </p:nvSpPr>
        <p:spPr>
          <a:xfrm>
            <a:off x="5029200" y="3383280"/>
            <a:ext cx="2057400" cy="1737360"/>
          </a:xfrm>
          <a:prstGeom prst="rect">
            <a:avLst/>
          </a:prstGeom>
          <a:noFill/>
          <a:ln/>
        </p:spPr>
        <p:txBody>
          <a:bodyPr wrap="square" lIns="0" tIns="0" rIns="0" bIns="0" rtlCol="0" anchor="t"/>
          <a:lstStyle/>
          <a:p>
            <a:pPr indent="0" marL="0">
              <a:buNone/>
            </a:pPr>
            <a:r>
              <a:rPr lang="en-US" sz="1500" dirty="0">
                <a:solidFill>
                  <a:schemeClr val="tx1"/>
                </a:solidFill>
              </a:rPr>
              <a:t>Energy, water and broadband providers</a:t>
            </a:r>
            <a:endParaRPr lang="en-US" sz="1500" dirty="0"/>
          </a:p>
        </p:txBody>
      </p:sp>
      <p:sp>
        <p:nvSpPr>
          <p:cNvPr id="16" name="step 4"/>
          <p:cNvSpPr/>
          <p:nvPr/>
        </p:nvSpPr>
        <p:spPr>
          <a:xfrm>
            <a:off x="7772400" y="2011680"/>
            <a:ext cx="640080" cy="640080"/>
          </a:xfrm>
          <a:prstGeom prst="ellipse">
            <a:avLst/>
          </a:prstGeom>
          <a:solidFill>
            <a:schemeClr val="accent2"/>
          </a:solidFill>
          <a:ln/>
        </p:spPr>
      </p:sp>
      <p:sp>
        <p:nvSpPr>
          <p:cNvPr id="17" name="Text 15"/>
          <p:cNvSpPr txBox="1"/>
          <p:nvPr/>
        </p:nvSpPr>
        <p:spPr>
          <a:xfrm>
            <a:off x="777240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7269480" y="2880360"/>
            <a:ext cx="2057400" cy="457200"/>
          </a:xfrm>
          <a:prstGeom prst="rect">
            <a:avLst/>
          </a:prstGeom>
          <a:noFill/>
          <a:ln/>
        </p:spPr>
        <p:txBody>
          <a:bodyPr wrap="square" lIns="0" tIns="0" rIns="0" bIns="0" rtlCol="0" anchor="ctr"/>
          <a:lstStyle/>
          <a:p>
            <a:pPr indent="0" marL="0">
              <a:buNone/>
            </a:pPr>
            <a:r>
              <a:rPr lang="en-US" sz="1900" b="1" dirty="0">
                <a:solidFill>
                  <a:schemeClr val="tx2"/>
                </a:solidFill>
              </a:rPr>
              <a:t>gov.uk links</a:t>
            </a:r>
            <a:endParaRPr lang="en-US" sz="1900" dirty="0"/>
          </a:p>
        </p:txBody>
      </p:sp>
      <p:sp>
        <p:nvSpPr>
          <p:cNvPr id="19" name="Text 17"/>
          <p:cNvSpPr txBox="1"/>
          <p:nvPr/>
        </p:nvSpPr>
        <p:spPr>
          <a:xfrm>
            <a:off x="7269480" y="3383280"/>
            <a:ext cx="2057400" cy="1737360"/>
          </a:xfrm>
          <a:prstGeom prst="rect">
            <a:avLst/>
          </a:prstGeom>
          <a:noFill/>
          <a:ln/>
        </p:spPr>
        <p:txBody>
          <a:bodyPr wrap="square" lIns="0" tIns="0" rIns="0" bIns="0" rtlCol="0" anchor="t"/>
          <a:lstStyle/>
          <a:p>
            <a:pPr indent="0" marL="0">
              <a:buNone/>
            </a:pPr>
            <a:r>
              <a:rPr lang="en-US" sz="1500" dirty="0">
                <a:solidFill>
                  <a:schemeClr val="tx1"/>
                </a:solidFill>
              </a:rPr>
              <a:t>Official change-of-address services as they open up</a:t>
            </a:r>
            <a:endParaRPr lang="en-US" sz="1500" dirty="0"/>
          </a:p>
        </p:txBody>
      </p:sp>
      <p:sp>
        <p:nvSpPr>
          <p:cNvPr id="20" name="step 5"/>
          <p:cNvSpPr/>
          <p:nvPr/>
        </p:nvSpPr>
        <p:spPr>
          <a:xfrm>
            <a:off x="10012680" y="2011680"/>
            <a:ext cx="640080" cy="640080"/>
          </a:xfrm>
          <a:prstGeom prst="ellipse">
            <a:avLst/>
          </a:prstGeom>
          <a:solidFill>
            <a:schemeClr val="accent2"/>
          </a:solidFill>
          <a:ln/>
        </p:spPr>
      </p:sp>
      <p:sp>
        <p:nvSpPr>
          <p:cNvPr id="21" name="Text 19"/>
          <p:cNvSpPr txBox="1"/>
          <p:nvPr/>
        </p:nvSpPr>
        <p:spPr>
          <a:xfrm>
            <a:off x="1001268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Text 20"/>
          <p:cNvSpPr txBox="1"/>
          <p:nvPr/>
        </p:nvSpPr>
        <p:spPr>
          <a:xfrm>
            <a:off x="9509760" y="2880360"/>
            <a:ext cx="2057400" cy="457200"/>
          </a:xfrm>
          <a:prstGeom prst="rect">
            <a:avLst/>
          </a:prstGeom>
          <a:noFill/>
          <a:ln/>
        </p:spPr>
        <p:txBody>
          <a:bodyPr wrap="square" lIns="0" tIns="0" rIns="0" bIns="0" rtlCol="0" anchor="ctr"/>
          <a:lstStyle/>
          <a:p>
            <a:pPr indent="0" marL="0">
              <a:buNone/>
            </a:pPr>
            <a:r>
              <a:rPr lang="en-US" sz="1900" b="1" dirty="0">
                <a:solidFill>
                  <a:schemeClr val="tx2"/>
                </a:solidFill>
              </a:rPr>
              <a:t>New journeys</a:t>
            </a:r>
            <a:endParaRPr lang="en-US" sz="1900" dirty="0"/>
          </a:p>
        </p:txBody>
      </p:sp>
      <p:sp>
        <p:nvSpPr>
          <p:cNvPr id="23" name="Text 21"/>
          <p:cNvSpPr txBox="1"/>
          <p:nvPr/>
        </p:nvSpPr>
        <p:spPr>
          <a:xfrm>
            <a:off x="9509760" y="3383280"/>
            <a:ext cx="2057400" cy="1737360"/>
          </a:xfrm>
          <a:prstGeom prst="rect">
            <a:avLst/>
          </a:prstGeom>
          <a:noFill/>
          <a:ln/>
        </p:spPr>
        <p:txBody>
          <a:bodyPr wrap="square" lIns="0" tIns="0" rIns="0" bIns="0" rtlCol="0" anchor="t"/>
          <a:lstStyle/>
          <a:p>
            <a:pPr indent="0" marL="0">
              <a:buNone/>
            </a:pPr>
            <a:r>
              <a:rPr lang="en-US" sz="1500" dirty="0">
                <a:solidFill>
                  <a:schemeClr val="tx1"/>
                </a:solidFill>
              </a:rPr>
              <a:t>Business premises moves, bereavement, marriage, a new baby</a:t>
            </a:r>
            <a:endParaRPr lang="en-US" sz="1500" dirty="0"/>
          </a:p>
        </p:txBody>
      </p:sp>
      <p:sp>
        <p:nvSpPr>
          <p:cNvPr id="24" name="Text 22"/>
          <p:cNvSpPr txBox="1"/>
          <p:nvPr/>
        </p:nvSpPr>
        <p:spPr>
          <a:xfrm>
            <a:off x="548640" y="5349240"/>
            <a:ext cx="11064240" cy="731520"/>
          </a:xfrm>
          <a:prstGeom prst="rect">
            <a:avLst/>
          </a:prstGeom>
          <a:noFill/>
          <a:ln/>
        </p:spPr>
        <p:txBody>
          <a:bodyPr wrap="square" lIns="0" tIns="0" rIns="0" bIns="0" rtlCol="0" anchor="ctr"/>
          <a:lstStyle/>
          <a:p>
            <a:pPr indent="0" marL="0">
              <a:buNone/>
            </a:pPr>
            <a:r>
              <a:rPr lang="en-US" sz="1500" dirty="0">
                <a:solidFill>
                  <a:schemeClr val="accent6"/>
                </a:solidFill>
              </a:rPr>
              <a:t>Production work: Consumer Duty review, authority to act for the customer, data-sharing agreements, managed encryption keys and model risk governance.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463040"/>
          </a:xfrm>
          <a:prstGeom prst="rect">
            <a:avLst/>
          </a:prstGeom>
          <a:noFill/>
          <a:ln/>
        </p:spPr>
        <p:txBody>
          <a:bodyPr wrap="square" lIns="0" tIns="0" rIns="0" bIns="0" rtlCol="0" anchor="b"/>
          <a:lstStyle/>
          <a:p>
            <a:pPr indent="0" marL="0">
              <a:buNone/>
            </a:pPr>
            <a:r>
              <a:rPr lang="en-US" sz="5400" b="1" dirty="0">
                <a:solidFill>
                  <a:schemeClr val="bg1"/>
                </a:solidFill>
              </a:rPr>
              <a:t>Let's see it</a:t>
            </a:r>
            <a:endParaRPr lang="en-US" sz="5400" dirty="0"/>
          </a:p>
        </p:txBody>
      </p:sp>
      <p:sp>
        <p:nvSpPr>
          <p:cNvPr id="3" name="Text 0"/>
          <p:cNvSpPr/>
          <p:nvPr>
            <p:ph idx="101" type="body" hasCustomPrompt="1"/>
          </p:nvPr>
        </p:nvSpPr>
        <p:spPr>
          <a:xfrm>
            <a:off x="731520" y="3429000"/>
            <a:ext cx="6766560" cy="1463040"/>
          </a:xfrm>
          <a:prstGeom prst="rect">
            <a:avLst/>
          </a:prstGeom>
          <a:noFill/>
          <a:ln/>
        </p:spPr>
        <p:txBody>
          <a:bodyPr wrap="square" lIns="0" tIns="0" rIns="0" bIns="0" rtlCol="0" anchor="t"/>
          <a:lstStyle/>
          <a:p>
            <a:pPr indent="0" marL="0">
              <a:buNone/>
            </a:pPr>
            <a:r>
              <a:rPr lang="en-US" sz="2200" dirty="0">
                <a:solidFill>
                  <a:schemeClr val="accent4"/>
                </a:solidFill>
              </a:rPr>
              <a:t>Live demo in nsflow: hackathon/house_move</a:t>
            </a:r>
            <a:endParaRPr lang="en-US" sz="2200" dirty="0"/>
          </a:p>
          <a:p>
            <a:pPr indent="0" marL="0">
              <a:buNone/>
            </a:pPr>
            <a:r>
              <a:rPr lang="en-US" sz="2200" dirty="0">
                <a:solidFill>
                  <a:schemeClr val="accent4"/>
                </a:solidFill>
              </a:rPr>
              <a:t>Thank you</a:t>
            </a:r>
            <a:endParaRPr lang="en-US" sz="2200" dirty="0"/>
          </a:p>
        </p:txBody>
      </p:sp>
      <p:sp>
        <p:nvSpPr>
          <p:cNvPr id="4" name="closing circle"/>
          <p:cNvSpPr/>
          <p:nvPr/>
        </p:nvSpPr>
        <p:spPr>
          <a:xfrm>
            <a:off x="8503920" y="1463040"/>
            <a:ext cx="3108960" cy="3108960"/>
          </a:xfrm>
          <a:prstGeom prst="ellipse">
            <a:avLst/>
          </a:prstGeom>
          <a:solidFill>
            <a:schemeClr val="accent2"/>
          </a:solidFill>
          <a:ln/>
        </p:spPr>
      </p:sp>
      <p:pic>
        <p:nvPicPr>
          <p:cNvPr id="5" name="closing icon" descr="preencoded.png">    </p:cNvPr>
          <p:cNvPicPr>
            <a:picLocks noChangeAspect="1"/>
          </p:cNvPicPr>
          <p:nvPr/>
        </p:nvPicPr>
        <p:blipFill>
          <a:blip r:embed="rId1"/>
          <a:stretch>
            <a:fillRect/>
          </a:stretch>
        </p:blipFill>
        <p:spPr>
          <a:xfrm>
            <a:off x="9235440" y="2148840"/>
            <a:ext cx="1645920" cy="1645920"/>
          </a:xfrm>
          <a:prstGeom prst="rect">
            <a:avLst/>
          </a:prstGeom>
        </p:spPr>
      </p:pic>
    </p:spTree>
  </p:cSld>
  <p:clrMapOvr>
    <a:masterClrMapping/>
  </p:clrMapOvr>
</p:sld>
</file>

<file path=ppt/theme/theme1.xml><?xml version="1.0" encoding="utf-8"?>
<a:theme xmlns:a="http://schemas.openxmlformats.org/drawingml/2006/main" name="House Move">
  <a:themeElements>
    <a:clrScheme name="House Move">
      <a:dk1>
        <a:srgbClr val="1E2B2A"/>
      </a:dk1>
      <a:lt1>
        <a:srgbClr val="FFFFFF"/>
      </a:lt1>
      <a:dk2>
        <a:srgbClr val="1F4E4A"/>
      </a:dk2>
      <a:lt2>
        <a:srgbClr val="EEF4F1"/>
      </a:lt2>
      <a:accent1>
        <a:srgbClr val="E07A5F"/>
      </a:accent1>
      <a:accent2>
        <a:srgbClr val="2F7D6D"/>
      </a:accent2>
      <a:accent3>
        <a:srgbClr val="81B29A"/>
      </a:accent3>
      <a:accent4>
        <a:srgbClr val="F2CC8F"/>
      </a:accent4>
      <a:accent5>
        <a:srgbClr val="3D405B"/>
      </a:accent5>
      <a:accent6>
        <a:srgbClr val="6B7F7B"/>
      </a:accent6>
      <a:hlink>
        <a:srgbClr val="2F7D6D"/>
      </a:hlink>
      <a:folHlink>
        <a:srgbClr val="3D405B"/>
      </a:folHlink>
    </a:clrScheme>
    <a:fontScheme name="House Mo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Move Agent</dc:title>
  <dc:subject>PptxGenJS Presentation</dc:subject>
  <dc:creator>Hackathon team</dc:creator>
  <cp:lastModifiedBy>Hackathon team</cp:lastModifiedBy>
  <cp:revision>1</cp:revision>
  <dcterms:created xsi:type="dcterms:W3CDTF">2026-10-19T06:30:54Z</dcterms:created>
  <dcterms:modified xsi:type="dcterms:W3CDTF">2026-10-19T06:30:54Z</dcterms:modified>
</cp:coreProperties>
</file>