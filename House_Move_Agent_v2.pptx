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3af382c-df91-76ec-5142-1d54ac07a938}">
          <p14:sldIdLst>
            <p14:sldId id="256"/>
          </p14:sldIdLst>
        </p14:section>
        <p14:section name="Problem and journey" id="{45f903ce-7815-ac64-00b5-eb5e6bf28bc6}">
          <p14:sldIdLst>
            <p14:sldId id="257"/>
            <p14:sldId id="258"/>
            <p14:sldId id="259"/>
          </p14:sldIdLst>
        </p14:section>
        <p14:section name="How it works" id="{b9360a81-3d2e-7b95-1c58-739b7062e1f4}">
          <p14:sldIdLst>
            <p14:sldId id="260"/>
            <p14:sldId id="261"/>
            <p14:sldId id="262"/>
            <p14:sldId id="263"/>
          </p14:sldIdLst>
        </p14:section>
        <p14:section name="Trust" id="{cfbe46d2-5dd3-0300-3549-8ce4c341b52c}">
          <p14:sldIdLst>
            <p14:sldId id="264"/>
            <p14:sldId id="265"/>
          </p14:sldIdLst>
        </p14:section>
        <p14:section name="Experience" id="{99d47081-60ed-6e88-1f3d-cf510ddad5e0}">
          <p14:sldIdLst>
            <p14:sldId id="266"/>
            <p14:sldId id="267"/>
            <p14:sldId id="268"/>
          </p14:sldIdLst>
        </p14:section>
        <p14:section name="Evidence and value" id="{a01d547d-dc54-2013-975f-7c22d90cdec8}">
          <p14:sldIdLst>
            <p14:sldId id="269"/>
            <p14:sldId id="270"/>
            <p14:sldId id="271"/>
          </p14:sldIdLst>
        </p14:section>
        <p14:section name="Close" id="{43b00c5f-e8fd-0fc5-8adc-a07264b857ba}">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403C"/>
                </a:solidFill>
                <a:latin typeface="+mj-lt"/>
              </a:defRPr>
            </a:pPr>
            <a:r>
              <a:rPr sz="1600" b="0" i="0" u="none" strike="noStrike">
                <a:solidFill>
                  <a:srgbClr val="17403C"/>
                </a:solidFill>
                <a:latin typeface="+mj-lt"/>
              </a:rPr>
              <a:t>Live demo run: 17 tasks re-sorted</a:t>
            </a:r>
          </a:p>
        </c:rich>
      </c:tx>
      <c:layout/>
      <c:overlay val="0"/>
    </c:title>
    <c:autoTitleDeleted val="0"/>
    <c:plotArea>
      <c:layout/>
      <c:barChart>
        <c:barDir val="bar"/>
        <c:grouping val="clustered"/>
        <c:varyColors val="0"/>
        <c:ser>
          <c:idx val="0"/>
          <c:order val="0"/>
          <c:tx>
            <c:strRef>
              <c:f>Sheet1!$B$1</c:f>
              <c:strCache>
                <c:ptCount val="1"/>
                <c:pt idx="0">
                  <c:v>Tasks</c:v>
                </c:pt>
              </c:strCache>
            </c:strRef>
          </c:tx>
          <c:spPr>
            <a:solidFill>
              <a:srgbClr val="1F6F66"/>
            </a:solidFill>
            <a:effectLst/>
          </c:spPr>
          <c:invertIfNegative val="0"/>
          <c:dLbls>
            <c:numFmt formatCode="#,##0" sourceLinked="0"/>
            <c:txPr>
              <a:bodyPr/>
              <a:lstStyle/>
              <a:p>
                <a:pPr>
                  <a:defRPr b="0" i="0" strike="noStrike" sz="1400" u="none">
                    <a:solidFill>
                      <a:srgbClr val="1B2B2E"/>
                    </a:solidFill>
                    <a:latin typeface="+mn-lt"/>
                  </a:defRPr>
                </a:pPr>
              </a:p>
            </c:txPr>
            <c:showLegendKey val="0"/>
            <c:showVal val="1"/>
            <c:showCatName val="0"/>
            <c:showSerName val="0"/>
            <c:showPercent val="0"/>
            <c:showBubbleSize val="0"/>
            <c:showLeaderLines val="0"/>
          </c:dLbls>
          <c:cat>
            <c:multiLvlStrRef>
              <c:f>Sheet1!$A$2:$A$5</c:f>
              <c:multiLvlStrCache>
                <c:ptCount val="4"/>
                <c:lvl>
                  <c:pt idx="0">
                    <c:v>Already sent: correction drafted</c:v>
                  </c:pt>
                  <c:pt idx="1">
                    <c:v>Bookings to move</c:v>
                  </c:pt>
                  <c:pt idx="2">
                    <c:v>Not sent yet: updated</c:v>
                  </c:pt>
                  <c:pt idx="3">
                    <c:v>Unchanged (tied to exchange)</c:v>
                  </c:pt>
                </c:lvl>
              </c:multiLvlStrCache>
            </c:multiLvlStrRef>
          </c:cat>
          <c:val>
            <c:numRef>
              <c:f>Sheet1!$B$2:$B$5</c:f>
              <c:numCache>
                <c:formatCode>General</c:formatCode>
                <c:ptCount val="4"/>
                <c:pt idx="0">
                  <c:v>13</c:v>
                </c:pt>
                <c:pt idx="1">
                  <c:v>3</c:v>
                </c:pt>
                <c:pt idx="2">
                  <c:v>0</c:v>
                </c:pt>
                <c:pt idx="3">
                  <c:v>1</c:v>
                </c:pt>
              </c:numCache>
            </c:numRef>
          </c:val>
        </c:ser>
        <c:dLbls>
          <c:numFmt formatCode="#,##0" sourceLinked="0"/>
          <c:txPr>
            <a:bodyPr/>
            <a:lstStyle/>
            <a:p>
              <a:pPr>
                <a:defRPr b="0" i="0" strike="noStrike" sz="1400" u="none">
                  <a:solidFill>
                    <a:srgbClr val="1B2B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B2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customer moment: the mortgage completes, and now there are 15 to 30 organisations to tell. This assistant finds them from the customer's own payments, plans and drafts everything, and sends nothing without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Fines are real and sourced: DVLA up to £1,000 for the licence and log book; councils can charge £70 for not notifying. Banks feel the cost as servicing contacts after the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left to right. Approval is the hinge: everything before it is preparation, everything after it acts only on what the customer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agents and rules behind both doors. The bank route is strongest because the bank already holds the payments and references; standalone shows the product works for everyone. Resume codes are shown once, stored as a salted hash, and lock after five wrong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first tidies descriptors (references and DD markers stripped) and groups them by payee; the LLM then classifies and infers life facts. Raw rows never reach the model, only one line per payee. Be candid if asked: the confidence score is the model's own estimate, which is why low-confidence items go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live run after everything had been sent. Each task keeps its status, draft and history; only its dates are recomputed, then code decides what needs a correction or a rebooking. We call this deterministic by design: the AI's part is writing the corrections and reading the replies. Replies are scripted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'is this just a checklist?': the checklist parts are deliberately code, so they are auditable; the AI does the parts a checklist cannot. Since the review, a legal duty that a household fact rules out is always shown to the customer with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steps are called in order; the four specialists use AAOSA delegation. Every deadline, fee, send and date change runs through a coded tool. Show the nsflow graph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control is enforced in code and replayed as an attack in the tests: forged state is discarded, another customer's record will not open, tampered tokens are refused, and a customer ID the LLM passes to a tool cannot read another customer's payments. Provider replies are read only by reply_agent, which has no approve or send tools. Postcodes do reach the model, for the council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an adversarial review against our own build. Two findings were fixed before submission, each with regression tests that replay the attack. We list what is still open rather than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reads the same server-side case the agents use, under the same ownership rules, so the next step always matches what has happened. Each approval is tied to the fingerprint of the exact wording the customer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these rules a Belfast to Leeds move would have been told to contact 'Belfast council tax', which does not exist: Northern Ireland uses domestic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and sewerage come live from Ofwat's appointed area maps at the postcode's coordinates, with a checked table as fallback. GP practices come live from the NHS; schools from the Department for Education's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evaluation run caught a real bug: get_transactions trusted a customer ID written by the LLM, so one customer's session could read another's payments. It now reads only the case the session opened, with a regression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these are pilot metrics. The insurance offer is opt-in, labelled indicative and never pre-selected.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Banking is first because it restores the strongest feature, automatic account references, for customers of any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sign in on the House Move app, discovery, the dated plan with local contacts, Approve all (or one by one), send, open a ready-to-send pack, the date slip, a provider reply, the audit trail. Show the agent graph in nsflow alongside.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94944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200400"/>
            <a:ext cx="6949440" cy="9144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House Move Agent  ·  Neuro SAN  ·  synthetic data only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9494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House Move Agent</a:t>
            </a:r>
            <a:endParaRPr lang="en-US" sz="5400" dirty="0"/>
          </a:p>
        </p:txBody>
      </p:sp>
      <p:sp>
        <p:nvSpPr>
          <p:cNvPr id="3" name="Text 0"/>
          <p:cNvSpPr/>
          <p:nvPr>
            <p:ph idx="101" type="body" hasCustomPrompt="1"/>
          </p:nvPr>
        </p:nvSpPr>
        <p:spPr>
          <a:xfrm>
            <a:off x="548640" y="3200400"/>
            <a:ext cx="6949440" cy="914400"/>
          </a:xfrm>
          <a:prstGeom prst="rect">
            <a:avLst/>
          </a:prstGeom>
          <a:noFill/>
          <a:ln/>
        </p:spPr>
        <p:txBody>
          <a:bodyPr wrap="square" lIns="0" tIns="0" rIns="0" bIns="0" rtlCol="0" anchor="t"/>
          <a:lstStyle/>
          <a:p>
            <a:pPr algn="l" indent="0" marL="0">
              <a:buNone/>
            </a:pPr>
            <a:r>
              <a:rPr lang="en-US" sz="2200" dirty="0">
                <a:solidFill>
                  <a:schemeClr val="bg2"/>
                </a:solidFill>
              </a:rPr>
              <a:t>Tell everyone you're moving: on time, in the right order, and only with your approval</a:t>
            </a:r>
            <a:endParaRPr lang="en-US" sz="2200" dirty="0"/>
          </a:p>
        </p:txBody>
      </p:sp>
      <p:sp>
        <p:nvSpPr>
          <p:cNvPr id="4" name="chip 14 LLM agents"/>
          <p:cNvSpPr/>
          <p:nvPr/>
        </p:nvSpPr>
        <p:spPr>
          <a:xfrm>
            <a:off x="548640" y="4434840"/>
            <a:ext cx="1476756" cy="38404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548640" y="4434840"/>
            <a:ext cx="1476756" cy="384048"/>
          </a:xfrm>
          <a:prstGeom prst="rect">
            <a:avLst/>
          </a:prstGeom>
          <a:noFill/>
          <a:ln/>
        </p:spPr>
        <p:txBody>
          <a:bodyPr wrap="square" lIns="0" tIns="0" rIns="0" bIns="0" rtlCol="0" anchor="ctr"/>
          <a:lstStyle/>
          <a:p>
            <a:pPr algn="ctr" indent="0" marL="0">
              <a:buNone/>
            </a:pPr>
            <a:r>
              <a:rPr lang="en-US" sz="1400" dirty="0">
                <a:solidFill>
                  <a:schemeClr val="bg1"/>
                </a:solidFill>
              </a:rPr>
              <a:t>14 LLM agents</a:t>
            </a:r>
            <a:endParaRPr lang="en-US" sz="1400" dirty="0"/>
          </a:p>
        </p:txBody>
      </p:sp>
      <p:sp>
        <p:nvSpPr>
          <p:cNvPr id="6" name="chip 27 coded tools"/>
          <p:cNvSpPr/>
          <p:nvPr/>
        </p:nvSpPr>
        <p:spPr>
          <a:xfrm>
            <a:off x="2208276" y="4434840"/>
            <a:ext cx="1572768" cy="384048"/>
          </a:xfrm>
          <a:prstGeom prst="roundRect">
            <a:avLst>
              <a:gd name="adj" fmla="val 50000"/>
            </a:avLst>
          </a:prstGeom>
          <a:solidFill>
            <a:schemeClr val="accent1"/>
          </a:solidFill>
          <a:ln w="12700">
            <a:solidFill>
              <a:schemeClr val="accent1"/>
            </a:solidFill>
            <a:prstDash val="solid"/>
          </a:ln>
        </p:spPr>
      </p:sp>
      <p:sp>
        <p:nvSpPr>
          <p:cNvPr id="7" name="Text 5"/>
          <p:cNvSpPr txBox="1"/>
          <p:nvPr/>
        </p:nvSpPr>
        <p:spPr>
          <a:xfrm>
            <a:off x="2208276" y="4434840"/>
            <a:ext cx="1572768" cy="384048"/>
          </a:xfrm>
          <a:prstGeom prst="rect">
            <a:avLst/>
          </a:prstGeom>
          <a:noFill/>
          <a:ln/>
        </p:spPr>
        <p:txBody>
          <a:bodyPr wrap="square" lIns="0" tIns="0" rIns="0" bIns="0" rtlCol="0" anchor="ctr"/>
          <a:lstStyle/>
          <a:p>
            <a:pPr algn="ctr" indent="0" marL="0">
              <a:buNone/>
            </a:pPr>
            <a:r>
              <a:rPr lang="en-US" sz="1400" dirty="0">
                <a:solidFill>
                  <a:schemeClr val="bg1"/>
                </a:solidFill>
              </a:rPr>
              <a:t>27 coded tools</a:t>
            </a:r>
            <a:endParaRPr lang="en-US" sz="1400" dirty="0"/>
          </a:p>
        </p:txBody>
      </p:sp>
      <p:sp>
        <p:nvSpPr>
          <p:cNvPr id="8" name="chip Built on Neuro SAN"/>
          <p:cNvSpPr/>
          <p:nvPr/>
        </p:nvSpPr>
        <p:spPr>
          <a:xfrm>
            <a:off x="3963924" y="4434840"/>
            <a:ext cx="1956816" cy="384048"/>
          </a:xfrm>
          <a:prstGeom prst="roundRect">
            <a:avLst>
              <a:gd name="adj" fmla="val 50000"/>
            </a:avLst>
          </a:prstGeom>
          <a:solidFill>
            <a:schemeClr val="accent1"/>
          </a:solidFill>
          <a:ln w="12700">
            <a:solidFill>
              <a:schemeClr val="accent1"/>
            </a:solidFill>
            <a:prstDash val="solid"/>
          </a:ln>
        </p:spPr>
      </p:sp>
      <p:sp>
        <p:nvSpPr>
          <p:cNvPr id="9" name="Text 7"/>
          <p:cNvSpPr txBox="1"/>
          <p:nvPr/>
        </p:nvSpPr>
        <p:spPr>
          <a:xfrm>
            <a:off x="3963924" y="4434840"/>
            <a:ext cx="1956816" cy="384048"/>
          </a:xfrm>
          <a:prstGeom prst="rect">
            <a:avLst/>
          </a:prstGeom>
          <a:noFill/>
          <a:ln/>
        </p:spPr>
        <p:txBody>
          <a:bodyPr wrap="square" lIns="0" tIns="0" rIns="0" bIns="0" rtlCol="0" anchor="ctr"/>
          <a:lstStyle/>
          <a:p>
            <a:pPr algn="ctr" indent="0" marL="0">
              <a:buNone/>
            </a:pPr>
            <a:r>
              <a:rPr lang="en-US" sz="1400" dirty="0">
                <a:solidFill>
                  <a:schemeClr val="bg1"/>
                </a:solidFill>
              </a:rPr>
              <a:t>Built on Neuro SAN</a:t>
            </a:r>
            <a:endParaRPr lang="en-US" sz="1400" dirty="0"/>
          </a:p>
        </p:txBody>
      </p:sp>
      <p:sp>
        <p:nvSpPr>
          <p:cNvPr id="10" name="chip Synthetic data only"/>
          <p:cNvSpPr/>
          <p:nvPr/>
        </p:nvSpPr>
        <p:spPr>
          <a:xfrm>
            <a:off x="6103620" y="4434840"/>
            <a:ext cx="2052828" cy="384048"/>
          </a:xfrm>
          <a:prstGeom prst="roundRect">
            <a:avLst>
              <a:gd name="adj" fmla="val 50000"/>
            </a:avLst>
          </a:prstGeom>
          <a:solidFill>
            <a:schemeClr val="accent1"/>
          </a:solidFill>
          <a:ln w="12700">
            <a:solidFill>
              <a:schemeClr val="accent1"/>
            </a:solidFill>
            <a:prstDash val="solid"/>
          </a:ln>
        </p:spPr>
      </p:sp>
      <p:sp>
        <p:nvSpPr>
          <p:cNvPr id="11" name="Text 9"/>
          <p:cNvSpPr txBox="1"/>
          <p:nvPr/>
        </p:nvSpPr>
        <p:spPr>
          <a:xfrm>
            <a:off x="6103620" y="4434840"/>
            <a:ext cx="2052828" cy="384048"/>
          </a:xfrm>
          <a:prstGeom prst="rect">
            <a:avLst/>
          </a:prstGeom>
          <a:noFill/>
          <a:ln/>
        </p:spPr>
        <p:txBody>
          <a:bodyPr wrap="square" lIns="0" tIns="0" rIns="0" bIns="0" rtlCol="0" anchor="ctr"/>
          <a:lstStyle/>
          <a:p>
            <a:pPr algn="ctr" indent="0" marL="0">
              <a:buNone/>
            </a:pPr>
            <a:r>
              <a:rPr lang="en-US" sz="1400" dirty="0">
                <a:solidFill>
                  <a:schemeClr val="bg1"/>
                </a:solidFill>
              </a:rPr>
              <a:t>Synthetic data only</a:t>
            </a:r>
            <a:endParaRPr lang="en-US" sz="1400" dirty="0"/>
          </a:p>
        </p:txBody>
      </p:sp>
      <p:sp>
        <p:nvSpPr>
          <p:cNvPr id="12" name="Text 10"/>
          <p:cNvSpPr txBox="1"/>
          <p:nvPr/>
        </p:nvSpPr>
        <p:spPr>
          <a:xfrm>
            <a:off x="548640" y="5943600"/>
            <a:ext cx="10058400" cy="320040"/>
          </a:xfrm>
          <a:prstGeom prst="rect">
            <a:avLst/>
          </a:prstGeom>
          <a:noFill/>
          <a:ln/>
        </p:spPr>
        <p:txBody>
          <a:bodyPr wrap="square" lIns="0" tIns="0" rIns="0" bIns="0" rtlCol="0" anchor="t"/>
          <a:lstStyle/>
          <a:p>
            <a:pPr indent="0" marL="0">
              <a:buNone/>
            </a:pPr>
            <a:r>
              <a:rPr lang="en-US" sz="1200" dirty="0">
                <a:solidFill>
                  <a:schemeClr val="accent5"/>
                </a:solidFill>
              </a:rPr>
              <a:t>EMEA Hackathon 2026  ·  Entry by associate 110737  ·  Varadaraj.pandurangan@cognizant.com  ·  BFS UK</a:t>
            </a:r>
            <a:endParaRPr lang="en-US" sz="1200" dirty="0"/>
          </a:p>
        </p:txBody>
      </p:sp>
      <p:sp>
        <p:nvSpPr>
          <p:cNvPr id="13" name="hero circle"/>
          <p:cNvSpPr/>
          <p:nvPr/>
        </p:nvSpPr>
        <p:spPr>
          <a:xfrm>
            <a:off x="8366760" y="1417320"/>
            <a:ext cx="3108960" cy="3108960"/>
          </a:xfrm>
          <a:prstGeom prst="ellipse">
            <a:avLst/>
          </a:prstGeom>
          <a:solidFill>
            <a:schemeClr val="accent1"/>
          </a:solidFill>
          <a:ln w="12700">
            <a:solidFill>
              <a:schemeClr val="accent1"/>
            </a:solidFill>
            <a:prstDash val="solid"/>
          </a:ln>
        </p:spPr>
      </p:sp>
      <p:pic>
        <p:nvPicPr>
          <p:cNvPr id="14" name="hero icon" descr="House">    </p:cNvPr>
          <p:cNvPicPr>
            <a:picLocks noChangeAspect="1"/>
          </p:cNvPicPr>
          <p:nvPr/>
        </p:nvPicPr>
        <p:blipFill>
          <a:blip r:embed="rId1"/>
          <a:stretch>
            <a:fillRect/>
          </a:stretch>
        </p:blipFill>
        <p:spPr>
          <a:xfrm>
            <a:off x="9098280" y="2103120"/>
            <a:ext cx="1645920" cy="1645920"/>
          </a:xfrm>
          <a:prstGeom prst="rect">
            <a:avLst/>
          </a:prstGeom>
        </p:spPr>
      </p:pic>
      <p:sp>
        <p:nvSpPr>
          <p:cNvPr id="15" name="badge circle"/>
          <p:cNvSpPr/>
          <p:nvPr/>
        </p:nvSpPr>
        <p:spPr>
          <a:xfrm>
            <a:off x="10744200" y="3520440"/>
            <a:ext cx="1005840" cy="1005840"/>
          </a:xfrm>
          <a:prstGeom prst="ellipse">
            <a:avLst/>
          </a:prstGeom>
          <a:solidFill>
            <a:schemeClr val="accent2"/>
          </a:solidFill>
          <a:ln w="12700">
            <a:solidFill>
              <a:schemeClr val="accent2"/>
            </a:solidFill>
            <a:prstDash val="solid"/>
          </a:ln>
        </p:spPr>
      </p:sp>
      <p:pic>
        <p:nvPicPr>
          <p:cNvPr id="16" name="badge icon" descr="Send">    </p:cNvPr>
          <p:cNvPicPr>
            <a:picLocks noChangeAspect="1"/>
          </p:cNvPicPr>
          <p:nvPr/>
        </p:nvPicPr>
        <p:blipFill>
          <a:blip r:embed="rId2"/>
          <a:stretch>
            <a:fillRect/>
          </a:stretch>
        </p:blipFill>
        <p:spPr>
          <a:xfrm>
            <a:off x="11000232" y="3776472"/>
            <a:ext cx="493776" cy="4937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Moving home means telling 15 to 30 organisations</a:t>
            </a:r>
            <a:endParaRPr lang="en-US" sz="3400" dirty="0"/>
          </a:p>
        </p:txBody>
      </p:sp>
      <p:sp>
        <p:nvSpPr>
          <p:cNvPr id="3" name="stat card 0"/>
          <p:cNvSpPr/>
          <p:nvPr/>
        </p:nvSpPr>
        <p:spPr>
          <a:xfrm>
            <a:off x="548640" y="1463040"/>
            <a:ext cx="3474720" cy="2651760"/>
          </a:xfrm>
          <a:prstGeom prst="roundRect">
            <a:avLst>
              <a:gd name="adj" fmla="val 2759"/>
            </a:avLst>
          </a:prstGeom>
          <a:solidFill>
            <a:schemeClr val="bg2"/>
          </a:solidFill>
          <a:ln w="12700">
            <a:solidFill>
              <a:schemeClr val="bg2"/>
            </a:solidFill>
            <a:prstDash val="solid"/>
          </a:ln>
        </p:spPr>
      </p:sp>
      <p:sp>
        <p:nvSpPr>
          <p:cNvPr id="4" name="Text 2"/>
          <p:cNvSpPr txBox="1"/>
          <p:nvPr/>
        </p:nvSpPr>
        <p:spPr>
          <a:xfrm>
            <a:off x="868680" y="1783080"/>
            <a:ext cx="2834640" cy="1097280"/>
          </a:xfrm>
          <a:prstGeom prst="rect">
            <a:avLst/>
          </a:prstGeom>
          <a:noFill/>
          <a:ln/>
        </p:spPr>
        <p:txBody>
          <a:bodyPr wrap="square" lIns="0" tIns="0" rIns="0" bIns="0" rtlCol="0" anchor="ctr"/>
          <a:lstStyle/>
          <a:p>
            <a:pPr indent="0" marL="0">
              <a:buNone/>
            </a:pPr>
            <a:r>
              <a:rPr lang="en-US" sz="6400" b="1" dirty="0">
                <a:solidFill>
                  <a:schemeClr val="accent1"/>
                </a:solidFill>
                <a:latin typeface="Cambria" pitchFamily="34" charset="0"/>
                <a:ea typeface="Cambria" pitchFamily="34" charset="-122"/>
                <a:cs typeface="Cambria" pitchFamily="34" charset="-120"/>
              </a:rPr>
              <a:t>15–30</a:t>
            </a:r>
            <a:endParaRPr lang="en-US" sz="6400" dirty="0"/>
          </a:p>
        </p:txBody>
      </p:sp>
      <p:sp>
        <p:nvSpPr>
          <p:cNvPr id="5" name="Text 3"/>
          <p:cNvSpPr txBox="1"/>
          <p:nvPr/>
        </p:nvSpPr>
        <p:spPr>
          <a:xfrm>
            <a:off x="868680" y="3017520"/>
            <a:ext cx="2834640" cy="822960"/>
          </a:xfrm>
          <a:prstGeom prst="rect">
            <a:avLst/>
          </a:prstGeom>
          <a:noFill/>
          <a:ln/>
        </p:spPr>
        <p:txBody>
          <a:bodyPr wrap="square" lIns="0" tIns="0" rIns="0" bIns="0" rtlCol="0" anchor="t"/>
          <a:lstStyle/>
          <a:p>
            <a:pPr indent="0" marL="0">
              <a:buNone/>
            </a:pPr>
            <a:r>
              <a:rPr lang="en-US" sz="1600" dirty="0">
                <a:solidFill>
                  <a:schemeClr val="tx1"/>
                </a:solidFill>
              </a:rPr>
              <a:t>organisations to tell about a move</a:t>
            </a:r>
            <a:endParaRPr lang="en-US" sz="1600" dirty="0"/>
          </a:p>
        </p:txBody>
      </p:sp>
      <p:sp>
        <p:nvSpPr>
          <p:cNvPr id="6" name="stat card 1"/>
          <p:cNvSpPr/>
          <p:nvPr/>
        </p:nvSpPr>
        <p:spPr>
          <a:xfrm>
            <a:off x="4325112" y="1463040"/>
            <a:ext cx="3474720" cy="2651760"/>
          </a:xfrm>
          <a:prstGeom prst="roundRect">
            <a:avLst>
              <a:gd name="adj" fmla="val 2759"/>
            </a:avLst>
          </a:prstGeom>
          <a:solidFill>
            <a:schemeClr val="bg2"/>
          </a:solidFill>
          <a:ln w="12700">
            <a:solidFill>
              <a:schemeClr val="bg2"/>
            </a:solidFill>
            <a:prstDash val="solid"/>
          </a:ln>
        </p:spPr>
      </p:sp>
      <p:sp>
        <p:nvSpPr>
          <p:cNvPr id="7" name="Text 5"/>
          <p:cNvSpPr txBox="1"/>
          <p:nvPr/>
        </p:nvSpPr>
        <p:spPr>
          <a:xfrm>
            <a:off x="4645152" y="1783080"/>
            <a:ext cx="2834640" cy="1097280"/>
          </a:xfrm>
          <a:prstGeom prst="rect">
            <a:avLst/>
          </a:prstGeom>
          <a:noFill/>
          <a:ln/>
        </p:spPr>
        <p:txBody>
          <a:bodyPr wrap="square" lIns="0" tIns="0" rIns="0" bIns="0" rtlCol="0" anchor="ctr"/>
          <a:lstStyle/>
          <a:p>
            <a:pPr indent="0" marL="0">
              <a:buNone/>
            </a:pPr>
            <a:r>
              <a:rPr lang="en-US" sz="6400" b="1" dirty="0">
                <a:solidFill>
                  <a:schemeClr val="accent6"/>
                </a:solidFill>
                <a:latin typeface="Cambria" pitchFamily="34" charset="0"/>
                <a:ea typeface="Cambria" pitchFamily="34" charset="-122"/>
                <a:cs typeface="Cambria" pitchFamily="34" charset="-120"/>
              </a:rPr>
              <a:t>£1,000</a:t>
            </a:r>
            <a:endParaRPr lang="en-US" sz="6400" dirty="0"/>
          </a:p>
        </p:txBody>
      </p:sp>
      <p:sp>
        <p:nvSpPr>
          <p:cNvPr id="8" name="Text 6"/>
          <p:cNvSpPr txBox="1"/>
          <p:nvPr/>
        </p:nvSpPr>
        <p:spPr>
          <a:xfrm>
            <a:off x="4645152" y="3017520"/>
            <a:ext cx="2834640" cy="822960"/>
          </a:xfrm>
          <a:prstGeom prst="rect">
            <a:avLst/>
          </a:prstGeom>
          <a:noFill/>
          <a:ln/>
        </p:spPr>
        <p:txBody>
          <a:bodyPr wrap="square" lIns="0" tIns="0" rIns="0" bIns="0" rtlCol="0" anchor="t"/>
          <a:lstStyle/>
          <a:p>
            <a:pPr indent="0" marL="0">
              <a:buNone/>
            </a:pPr>
            <a:r>
              <a:rPr lang="en-US" sz="1600" dirty="0">
                <a:solidFill>
                  <a:schemeClr val="tx1"/>
                </a:solidFill>
              </a:rPr>
              <a:t>maximum fine for not telling DVLA your new address</a:t>
            </a:r>
            <a:endParaRPr lang="en-US" sz="1600" dirty="0"/>
          </a:p>
        </p:txBody>
      </p:sp>
      <p:sp>
        <p:nvSpPr>
          <p:cNvPr id="9" name="stat card 2"/>
          <p:cNvSpPr/>
          <p:nvPr/>
        </p:nvSpPr>
        <p:spPr>
          <a:xfrm>
            <a:off x="8101584" y="1463040"/>
            <a:ext cx="3474720" cy="2651760"/>
          </a:xfrm>
          <a:prstGeom prst="roundRect">
            <a:avLst>
              <a:gd name="adj" fmla="val 2759"/>
            </a:avLst>
          </a:prstGeom>
          <a:solidFill>
            <a:schemeClr val="bg2"/>
          </a:solidFill>
          <a:ln w="12700">
            <a:solidFill>
              <a:schemeClr val="bg2"/>
            </a:solidFill>
            <a:prstDash val="solid"/>
          </a:ln>
        </p:spPr>
      </p:sp>
      <p:sp>
        <p:nvSpPr>
          <p:cNvPr id="10" name="Text 8"/>
          <p:cNvSpPr txBox="1"/>
          <p:nvPr/>
        </p:nvSpPr>
        <p:spPr>
          <a:xfrm>
            <a:off x="8421624" y="1783080"/>
            <a:ext cx="2834640" cy="1097280"/>
          </a:xfrm>
          <a:prstGeom prst="rect">
            <a:avLst/>
          </a:prstGeom>
          <a:noFill/>
          <a:ln/>
        </p:spPr>
        <p:txBody>
          <a:bodyPr wrap="square" lIns="0" tIns="0" rIns="0" bIns="0" rtlCol="0" anchor="ctr"/>
          <a:lstStyle/>
          <a:p>
            <a:pPr indent="0" marL="0">
              <a:buNone/>
            </a:pPr>
            <a:r>
              <a:rPr lang="en-US" sz="6400" b="1" dirty="0">
                <a:solidFill>
                  <a:schemeClr val="accent2"/>
                </a:solidFill>
                <a:latin typeface="Cambria" pitchFamily="34" charset="0"/>
                <a:ea typeface="Cambria" pitchFamily="34" charset="-122"/>
                <a:cs typeface="Cambria" pitchFamily="34" charset="-120"/>
              </a:rPr>
              <a:t>£70</a:t>
            </a:r>
            <a:endParaRPr lang="en-US" sz="6400" dirty="0"/>
          </a:p>
        </p:txBody>
      </p:sp>
      <p:sp>
        <p:nvSpPr>
          <p:cNvPr id="11" name="Text 9"/>
          <p:cNvSpPr txBox="1"/>
          <p:nvPr/>
        </p:nvSpPr>
        <p:spPr>
          <a:xfrm>
            <a:off x="8421624" y="3017520"/>
            <a:ext cx="2834640" cy="822960"/>
          </a:xfrm>
          <a:prstGeom prst="rect">
            <a:avLst/>
          </a:prstGeom>
          <a:noFill/>
          <a:ln/>
        </p:spPr>
        <p:txBody>
          <a:bodyPr wrap="square" lIns="0" tIns="0" rIns="0" bIns="0" rtlCol="0" anchor="t"/>
          <a:lstStyle/>
          <a:p>
            <a:pPr indent="0" marL="0">
              <a:buNone/>
            </a:pPr>
            <a:r>
              <a:rPr lang="en-US" sz="1600" dirty="0">
                <a:solidFill>
                  <a:schemeClr val="tx1"/>
                </a:solidFill>
              </a:rPr>
              <a:t>council tax penalty for not notifying a move</a:t>
            </a:r>
            <a:endParaRPr lang="en-US" sz="1600" dirty="0"/>
          </a:p>
        </p:txBody>
      </p:sp>
      <p:sp>
        <p:nvSpPr>
          <p:cNvPr id="12" name="Text 10"/>
          <p:cNvSpPr txBox="1"/>
          <p:nvPr/>
        </p:nvSpPr>
        <p:spPr>
          <a:xfrm>
            <a:off x="548640" y="4526280"/>
            <a:ext cx="10515600" cy="822960"/>
          </a:xfrm>
          <a:prstGeom prst="rect">
            <a:avLst/>
          </a:prstGeom>
          <a:noFill/>
          <a:ln/>
        </p:spPr>
        <p:txBody>
          <a:bodyPr wrap="square" lIns="0" tIns="0" rIns="0" bIns="0" rtlCol="0" anchor="t"/>
          <a:lstStyle/>
          <a:p>
            <a:pPr indent="0" marL="0">
              <a:buNone/>
            </a:pPr>
            <a:r>
              <a:rPr lang="en-US" sz="1800" dirty="0">
                <a:solidFill>
                  <a:schemeClr val="tx2"/>
                </a:solidFill>
              </a:rPr>
              <a:t>People forget some, find out late, and then call their bank and providers to fix the gaps. Some of those gaps are legal obligations.</a:t>
            </a:r>
            <a:endParaRPr lang="en-US" sz="1800" dirty="0"/>
          </a:p>
        </p:txBody>
      </p:sp>
      <p:sp>
        <p:nvSpPr>
          <p:cNvPr id="13" name="Text 11"/>
          <p:cNvSpPr txBox="1"/>
          <p:nvPr/>
        </p:nvSpPr>
        <p:spPr>
          <a:xfrm>
            <a:off x="548640" y="5760720"/>
            <a:ext cx="10058400" cy="274320"/>
          </a:xfrm>
          <a:prstGeom prst="rect">
            <a:avLst/>
          </a:prstGeom>
          <a:noFill/>
          <a:ln/>
        </p:spPr>
        <p:txBody>
          <a:bodyPr wrap="square" lIns="0" tIns="0" rIns="0" bIns="0" rtlCol="0" anchor="t"/>
          <a:lstStyle/>
          <a:p>
            <a:pPr indent="0" marL="0">
              <a:buNone/>
            </a:pPr>
            <a:r>
              <a:rPr lang="en-US" sz="1100" dirty="0">
                <a:solidFill>
                  <a:schemeClr val="accent5"/>
                </a:solidFill>
              </a:rPr>
              <a:t>Sources: gov.uk (DVLA); Local Government Finance Act 1992, Schedule 3 (legislation.gov.uk)</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One conversation, six steps</a:t>
            </a:r>
            <a:endParaRPr lang="en-US" sz="3400" dirty="0"/>
          </a:p>
        </p:txBody>
      </p:sp>
      <p:sp>
        <p:nvSpPr>
          <p:cNvPr id="3" name="journey connector"/>
          <p:cNvSpPr/>
          <p:nvPr/>
        </p:nvSpPr>
        <p:spPr>
          <a:xfrm>
            <a:off x="1473175" y="2011680"/>
            <a:ext cx="9245346" cy="0"/>
          </a:xfrm>
          <a:prstGeom prst="line">
            <a:avLst/>
          </a:prstGeom>
          <a:noFill/>
          <a:ln w="25400">
            <a:solidFill>
              <a:srgbClr val="8AB0A8"/>
            </a:solidFill>
            <a:prstDash val="solid"/>
          </a:ln>
        </p:spPr>
      </p:sp>
      <p:sp>
        <p:nvSpPr>
          <p:cNvPr id="4" name="Discover circle"/>
          <p:cNvSpPr/>
          <p:nvPr/>
        </p:nvSpPr>
        <p:spPr>
          <a:xfrm>
            <a:off x="1015975" y="1554480"/>
            <a:ext cx="914400" cy="914400"/>
          </a:xfrm>
          <a:prstGeom prst="ellipse">
            <a:avLst/>
          </a:prstGeom>
          <a:solidFill>
            <a:schemeClr val="accent1"/>
          </a:solidFill>
          <a:ln w="12700">
            <a:solidFill>
              <a:schemeClr val="accent1"/>
            </a:solidFill>
            <a:prstDash val="solid"/>
          </a:ln>
        </p:spPr>
      </p:sp>
      <p:pic>
        <p:nvPicPr>
          <p:cNvPr id="5" name="Discover icon" descr="Discover">    </p:cNvPr>
          <p:cNvPicPr>
            <a:picLocks noChangeAspect="1"/>
          </p:cNvPicPr>
          <p:nvPr/>
        </p:nvPicPr>
        <p:blipFill>
          <a:blip r:embed="rId1"/>
          <a:stretch>
            <a:fillRect/>
          </a:stretch>
        </p:blipFill>
        <p:spPr>
          <a:xfrm>
            <a:off x="1244575" y="1783080"/>
            <a:ext cx="457200" cy="457200"/>
          </a:xfrm>
          <a:prstGeom prst="rect">
            <a:avLst/>
          </a:prstGeom>
        </p:spPr>
      </p:pic>
      <p:sp>
        <p:nvSpPr>
          <p:cNvPr id="6" name="Text 3"/>
          <p:cNvSpPr txBox="1"/>
          <p:nvPr/>
        </p:nvSpPr>
        <p:spPr>
          <a:xfrm>
            <a:off x="640080" y="2697480"/>
            <a:ext cx="1666189" cy="411480"/>
          </a:xfrm>
          <a:prstGeom prst="rect">
            <a:avLst/>
          </a:prstGeom>
          <a:noFill/>
          <a:ln/>
        </p:spPr>
        <p:txBody>
          <a:bodyPr wrap="square" lIns="0" tIns="0" rIns="0" bIns="0" rtlCol="0" anchor="t"/>
          <a:lstStyle/>
          <a:p>
            <a:pPr algn="ctr" indent="0" marL="0">
              <a:buNone/>
            </a:pPr>
            <a:r>
              <a:rPr lang="en-US" sz="1800" b="1" dirty="0">
                <a:solidFill>
                  <a:schemeClr val="tx2"/>
                </a:solidFill>
              </a:rPr>
              <a:t>1. Discover</a:t>
            </a:r>
            <a:endParaRPr lang="en-US" sz="1800" dirty="0"/>
          </a:p>
        </p:txBody>
      </p:sp>
      <p:sp>
        <p:nvSpPr>
          <p:cNvPr id="7" name="Text 4"/>
          <p:cNvSpPr txBox="1"/>
          <p:nvPr/>
        </p:nvSpPr>
        <p:spPr>
          <a:xfrm>
            <a:off x="685800" y="3154680"/>
            <a:ext cx="1574749" cy="1463040"/>
          </a:xfrm>
          <a:prstGeom prst="rect">
            <a:avLst/>
          </a:prstGeom>
          <a:noFill/>
          <a:ln/>
        </p:spPr>
        <p:txBody>
          <a:bodyPr wrap="square" lIns="0" tIns="0" rIns="0" bIns="0" rtlCol="0" anchor="t"/>
          <a:lstStyle/>
          <a:p>
            <a:pPr algn="ctr" indent="0" marL="0">
              <a:buNone/>
            </a:pPr>
            <a:r>
              <a:rPr lang="en-US" sz="1400" dirty="0">
                <a:solidFill>
                  <a:schemeClr val="tx1"/>
                </a:solidFill>
              </a:rPr>
              <a:t>Finds who you pay from your own transactions, including the ones you forgot</a:t>
            </a:r>
            <a:endParaRPr lang="en-US" sz="1400" dirty="0"/>
          </a:p>
        </p:txBody>
      </p:sp>
      <p:sp>
        <p:nvSpPr>
          <p:cNvPr id="8" name="Plan circle"/>
          <p:cNvSpPr/>
          <p:nvPr/>
        </p:nvSpPr>
        <p:spPr>
          <a:xfrm>
            <a:off x="2865044" y="1554480"/>
            <a:ext cx="914400" cy="914400"/>
          </a:xfrm>
          <a:prstGeom prst="ellipse">
            <a:avLst/>
          </a:prstGeom>
          <a:solidFill>
            <a:schemeClr val="accent1"/>
          </a:solidFill>
          <a:ln w="12700">
            <a:solidFill>
              <a:schemeClr val="accent1"/>
            </a:solidFill>
            <a:prstDash val="solid"/>
          </a:ln>
        </p:spPr>
      </p:sp>
      <p:pic>
        <p:nvPicPr>
          <p:cNvPr id="9" name="Plan icon" descr="Plan">    </p:cNvPr>
          <p:cNvPicPr>
            <a:picLocks noChangeAspect="1"/>
          </p:cNvPicPr>
          <p:nvPr/>
        </p:nvPicPr>
        <p:blipFill>
          <a:blip r:embed="rId2"/>
          <a:stretch>
            <a:fillRect/>
          </a:stretch>
        </p:blipFill>
        <p:spPr>
          <a:xfrm>
            <a:off x="3093644" y="1783080"/>
            <a:ext cx="457200" cy="457200"/>
          </a:xfrm>
          <a:prstGeom prst="rect">
            <a:avLst/>
          </a:prstGeom>
        </p:spPr>
      </p:pic>
      <p:sp>
        <p:nvSpPr>
          <p:cNvPr id="10" name="Text 6"/>
          <p:cNvSpPr txBox="1"/>
          <p:nvPr/>
        </p:nvSpPr>
        <p:spPr>
          <a:xfrm>
            <a:off x="2489149" y="2697480"/>
            <a:ext cx="1666189" cy="411480"/>
          </a:xfrm>
          <a:prstGeom prst="rect">
            <a:avLst/>
          </a:prstGeom>
          <a:noFill/>
          <a:ln/>
        </p:spPr>
        <p:txBody>
          <a:bodyPr wrap="square" lIns="0" tIns="0" rIns="0" bIns="0" rtlCol="0" anchor="t"/>
          <a:lstStyle/>
          <a:p>
            <a:pPr algn="ctr" indent="0" marL="0">
              <a:buNone/>
            </a:pPr>
            <a:r>
              <a:rPr lang="en-US" sz="1800" b="1" dirty="0">
                <a:solidFill>
                  <a:schemeClr val="tx2"/>
                </a:solidFill>
              </a:rPr>
              <a:t>2. Plan</a:t>
            </a:r>
            <a:endParaRPr lang="en-US" sz="1800" dirty="0"/>
          </a:p>
        </p:txBody>
      </p:sp>
      <p:sp>
        <p:nvSpPr>
          <p:cNvPr id="11" name="Text 7"/>
          <p:cNvSpPr txBox="1"/>
          <p:nvPr/>
        </p:nvSpPr>
        <p:spPr>
          <a:xfrm>
            <a:off x="2534869" y="3154680"/>
            <a:ext cx="1574749" cy="1463040"/>
          </a:xfrm>
          <a:prstGeom prst="rect">
            <a:avLst/>
          </a:prstGeom>
          <a:noFill/>
          <a:ln/>
        </p:spPr>
        <p:txBody>
          <a:bodyPr wrap="square" lIns="0" tIns="0" rIns="0" bIns="0" rtlCol="0" anchor="t"/>
          <a:lstStyle/>
          <a:p>
            <a:pPr algn="ctr" indent="0" marL="0">
              <a:buNone/>
            </a:pPr>
            <a:r>
              <a:rPr lang="en-US" sz="1400" dirty="0">
                <a:solidFill>
                  <a:schemeClr val="tx1"/>
                </a:solidFill>
              </a:rPr>
              <a:t>Dated tasks from sourced rules, in UK working days</a:t>
            </a:r>
            <a:endParaRPr lang="en-US" sz="1400" dirty="0"/>
          </a:p>
        </p:txBody>
      </p:sp>
      <p:sp>
        <p:nvSpPr>
          <p:cNvPr id="12" name="Draft circle"/>
          <p:cNvSpPr/>
          <p:nvPr/>
        </p:nvSpPr>
        <p:spPr>
          <a:xfrm>
            <a:off x="4714113" y="1554480"/>
            <a:ext cx="914400" cy="914400"/>
          </a:xfrm>
          <a:prstGeom prst="ellipse">
            <a:avLst/>
          </a:prstGeom>
          <a:solidFill>
            <a:schemeClr val="accent1"/>
          </a:solidFill>
          <a:ln w="12700">
            <a:solidFill>
              <a:schemeClr val="accent1"/>
            </a:solidFill>
            <a:prstDash val="solid"/>
          </a:ln>
        </p:spPr>
      </p:sp>
      <p:pic>
        <p:nvPicPr>
          <p:cNvPr id="13" name="Draft icon" descr="Draft">    </p:cNvPr>
          <p:cNvPicPr>
            <a:picLocks noChangeAspect="1"/>
          </p:cNvPicPr>
          <p:nvPr/>
        </p:nvPicPr>
        <p:blipFill>
          <a:blip r:embed="rId3"/>
          <a:stretch>
            <a:fillRect/>
          </a:stretch>
        </p:blipFill>
        <p:spPr>
          <a:xfrm>
            <a:off x="4942713" y="1783080"/>
            <a:ext cx="457200" cy="457200"/>
          </a:xfrm>
          <a:prstGeom prst="rect">
            <a:avLst/>
          </a:prstGeom>
        </p:spPr>
      </p:pic>
      <p:sp>
        <p:nvSpPr>
          <p:cNvPr id="14" name="Text 9"/>
          <p:cNvSpPr txBox="1"/>
          <p:nvPr/>
        </p:nvSpPr>
        <p:spPr>
          <a:xfrm>
            <a:off x="4338218" y="2697480"/>
            <a:ext cx="1666189" cy="411480"/>
          </a:xfrm>
          <a:prstGeom prst="rect">
            <a:avLst/>
          </a:prstGeom>
          <a:noFill/>
          <a:ln/>
        </p:spPr>
        <p:txBody>
          <a:bodyPr wrap="square" lIns="0" tIns="0" rIns="0" bIns="0" rtlCol="0" anchor="t"/>
          <a:lstStyle/>
          <a:p>
            <a:pPr algn="ctr" indent="0" marL="0">
              <a:buNone/>
            </a:pPr>
            <a:r>
              <a:rPr lang="en-US" sz="1800" b="1" dirty="0">
                <a:solidFill>
                  <a:schemeClr val="tx2"/>
                </a:solidFill>
              </a:rPr>
              <a:t>3. Draft</a:t>
            </a:r>
            <a:endParaRPr lang="en-US" sz="1800" dirty="0"/>
          </a:p>
        </p:txBody>
      </p:sp>
      <p:sp>
        <p:nvSpPr>
          <p:cNvPr id="15" name="Text 10"/>
          <p:cNvSpPr txBox="1"/>
          <p:nvPr/>
        </p:nvSpPr>
        <p:spPr>
          <a:xfrm>
            <a:off x="4383938" y="3154680"/>
            <a:ext cx="1574749" cy="1463040"/>
          </a:xfrm>
          <a:prstGeom prst="rect">
            <a:avLst/>
          </a:prstGeom>
          <a:noFill/>
          <a:ln/>
        </p:spPr>
        <p:txBody>
          <a:bodyPr wrap="square" lIns="0" tIns="0" rIns="0" bIns="0" rtlCol="0" anchor="t"/>
          <a:lstStyle/>
          <a:p>
            <a:pPr algn="ctr" indent="0" marL="0">
              <a:buNone/>
            </a:pPr>
            <a:r>
              <a:rPr lang="en-US" sz="1400" dirty="0">
                <a:solidFill>
                  <a:schemeClr val="tx1"/>
                </a:solidFill>
              </a:rPr>
              <a:t>A ready-to-send letter or form for every organisation</a:t>
            </a:r>
            <a:endParaRPr lang="en-US" sz="1400" dirty="0"/>
          </a:p>
        </p:txBody>
      </p:sp>
      <p:sp>
        <p:nvSpPr>
          <p:cNvPr id="16" name="Approve circle"/>
          <p:cNvSpPr/>
          <p:nvPr/>
        </p:nvSpPr>
        <p:spPr>
          <a:xfrm>
            <a:off x="6563182" y="1554480"/>
            <a:ext cx="914400" cy="914400"/>
          </a:xfrm>
          <a:prstGeom prst="ellipse">
            <a:avLst/>
          </a:prstGeom>
          <a:solidFill>
            <a:schemeClr val="accent2"/>
          </a:solidFill>
          <a:ln w="12700">
            <a:solidFill>
              <a:schemeClr val="accent2"/>
            </a:solidFill>
            <a:prstDash val="solid"/>
          </a:ln>
        </p:spPr>
      </p:sp>
      <p:pic>
        <p:nvPicPr>
          <p:cNvPr id="17" name="Approve icon" descr="Approve">    </p:cNvPr>
          <p:cNvPicPr>
            <a:picLocks noChangeAspect="1"/>
          </p:cNvPicPr>
          <p:nvPr/>
        </p:nvPicPr>
        <p:blipFill>
          <a:blip r:embed="rId4"/>
          <a:stretch>
            <a:fillRect/>
          </a:stretch>
        </p:blipFill>
        <p:spPr>
          <a:xfrm>
            <a:off x="6791782" y="1783080"/>
            <a:ext cx="457200" cy="457200"/>
          </a:xfrm>
          <a:prstGeom prst="rect">
            <a:avLst/>
          </a:prstGeom>
        </p:spPr>
      </p:pic>
      <p:sp>
        <p:nvSpPr>
          <p:cNvPr id="18" name="Text 12"/>
          <p:cNvSpPr txBox="1"/>
          <p:nvPr/>
        </p:nvSpPr>
        <p:spPr>
          <a:xfrm>
            <a:off x="6187288" y="2697480"/>
            <a:ext cx="1666189" cy="411480"/>
          </a:xfrm>
          <a:prstGeom prst="rect">
            <a:avLst/>
          </a:prstGeom>
          <a:noFill/>
          <a:ln/>
        </p:spPr>
        <p:txBody>
          <a:bodyPr wrap="square" lIns="0" tIns="0" rIns="0" bIns="0" rtlCol="0" anchor="t"/>
          <a:lstStyle/>
          <a:p>
            <a:pPr algn="ctr" indent="0" marL="0">
              <a:buNone/>
            </a:pPr>
            <a:r>
              <a:rPr lang="en-US" sz="1800" b="1" dirty="0">
                <a:solidFill>
                  <a:schemeClr val="tx2"/>
                </a:solidFill>
              </a:rPr>
              <a:t>4. Approve</a:t>
            </a:r>
            <a:endParaRPr lang="en-US" sz="1800" dirty="0"/>
          </a:p>
        </p:txBody>
      </p:sp>
      <p:sp>
        <p:nvSpPr>
          <p:cNvPr id="19" name="Text 13"/>
          <p:cNvSpPr txBox="1"/>
          <p:nvPr/>
        </p:nvSpPr>
        <p:spPr>
          <a:xfrm>
            <a:off x="6233008" y="3154680"/>
            <a:ext cx="1574749" cy="1463040"/>
          </a:xfrm>
          <a:prstGeom prst="rect">
            <a:avLst/>
          </a:prstGeom>
          <a:noFill/>
          <a:ln/>
        </p:spPr>
        <p:txBody>
          <a:bodyPr wrap="square" lIns="0" tIns="0" rIns="0" bIns="0" rtlCol="0" anchor="t"/>
          <a:lstStyle/>
          <a:p>
            <a:pPr algn="ctr" indent="0" marL="0">
              <a:buNone/>
            </a:pPr>
            <a:r>
              <a:rPr lang="en-US" sz="1400" dirty="0">
                <a:solidFill>
                  <a:schemeClr val="tx1"/>
                </a:solidFill>
              </a:rPr>
              <a:t>Approve all, or approve, change or skip each one</a:t>
            </a:r>
            <a:endParaRPr lang="en-US" sz="1400" dirty="0"/>
          </a:p>
        </p:txBody>
      </p:sp>
      <p:sp>
        <p:nvSpPr>
          <p:cNvPr id="20" name="Track circle"/>
          <p:cNvSpPr/>
          <p:nvPr/>
        </p:nvSpPr>
        <p:spPr>
          <a:xfrm>
            <a:off x="8412251" y="1554480"/>
            <a:ext cx="914400" cy="914400"/>
          </a:xfrm>
          <a:prstGeom prst="ellipse">
            <a:avLst/>
          </a:prstGeom>
          <a:solidFill>
            <a:schemeClr val="accent1"/>
          </a:solidFill>
          <a:ln w="12700">
            <a:solidFill>
              <a:schemeClr val="accent1"/>
            </a:solidFill>
            <a:prstDash val="solid"/>
          </a:ln>
        </p:spPr>
      </p:sp>
      <p:pic>
        <p:nvPicPr>
          <p:cNvPr id="21" name="Track icon" descr="Track">    </p:cNvPr>
          <p:cNvPicPr>
            <a:picLocks noChangeAspect="1"/>
          </p:cNvPicPr>
          <p:nvPr/>
        </p:nvPicPr>
        <p:blipFill>
          <a:blip r:embed="rId5"/>
          <a:stretch>
            <a:fillRect/>
          </a:stretch>
        </p:blipFill>
        <p:spPr>
          <a:xfrm>
            <a:off x="8640851" y="1783080"/>
            <a:ext cx="457200" cy="457200"/>
          </a:xfrm>
          <a:prstGeom prst="rect">
            <a:avLst/>
          </a:prstGeom>
        </p:spPr>
      </p:pic>
      <p:sp>
        <p:nvSpPr>
          <p:cNvPr id="22" name="Text 15"/>
          <p:cNvSpPr txBox="1"/>
          <p:nvPr/>
        </p:nvSpPr>
        <p:spPr>
          <a:xfrm>
            <a:off x="8036357" y="2697480"/>
            <a:ext cx="1666189" cy="411480"/>
          </a:xfrm>
          <a:prstGeom prst="rect">
            <a:avLst/>
          </a:prstGeom>
          <a:noFill/>
          <a:ln/>
        </p:spPr>
        <p:txBody>
          <a:bodyPr wrap="square" lIns="0" tIns="0" rIns="0" bIns="0" rtlCol="0" anchor="t"/>
          <a:lstStyle/>
          <a:p>
            <a:pPr algn="ctr" indent="0" marL="0">
              <a:buNone/>
            </a:pPr>
            <a:r>
              <a:rPr lang="en-US" sz="1800" b="1" dirty="0">
                <a:solidFill>
                  <a:schemeClr val="tx2"/>
                </a:solidFill>
              </a:rPr>
              <a:t>5. Track</a:t>
            </a:r>
            <a:endParaRPr lang="en-US" sz="1800" dirty="0"/>
          </a:p>
        </p:txBody>
      </p:sp>
      <p:sp>
        <p:nvSpPr>
          <p:cNvPr id="23" name="Text 16"/>
          <p:cNvSpPr txBox="1"/>
          <p:nvPr/>
        </p:nvSpPr>
        <p:spPr>
          <a:xfrm>
            <a:off x="8082077" y="3154680"/>
            <a:ext cx="1574749" cy="1463040"/>
          </a:xfrm>
          <a:prstGeom prst="rect">
            <a:avLst/>
          </a:prstGeom>
          <a:noFill/>
          <a:ln/>
        </p:spPr>
        <p:txBody>
          <a:bodyPr wrap="square" lIns="0" tIns="0" rIns="0" bIns="0" rtlCol="0" anchor="t"/>
          <a:lstStyle/>
          <a:p>
            <a:pPr algn="ctr" indent="0" marL="0">
              <a:buNone/>
            </a:pPr>
            <a:r>
              <a:rPr lang="en-US" sz="1400" dirty="0">
                <a:solidFill>
                  <a:schemeClr val="tx1"/>
                </a:solidFill>
              </a:rPr>
              <a:t>Sends, replans when dates move, handles replies</a:t>
            </a:r>
            <a:endParaRPr lang="en-US" sz="1400" dirty="0"/>
          </a:p>
        </p:txBody>
      </p:sp>
      <p:sp>
        <p:nvSpPr>
          <p:cNvPr id="24" name="Local contacts circle"/>
          <p:cNvSpPr/>
          <p:nvPr/>
        </p:nvSpPr>
        <p:spPr>
          <a:xfrm>
            <a:off x="10261321" y="1554480"/>
            <a:ext cx="914400" cy="914400"/>
          </a:xfrm>
          <a:prstGeom prst="ellipse">
            <a:avLst/>
          </a:prstGeom>
          <a:solidFill>
            <a:schemeClr val="accent1"/>
          </a:solidFill>
          <a:ln w="12700">
            <a:solidFill>
              <a:schemeClr val="accent1"/>
            </a:solidFill>
            <a:prstDash val="solid"/>
          </a:ln>
        </p:spPr>
      </p:sp>
      <p:pic>
        <p:nvPicPr>
          <p:cNvPr id="25" name="Local contacts icon" descr="Local contacts">    </p:cNvPr>
          <p:cNvPicPr>
            <a:picLocks noChangeAspect="1"/>
          </p:cNvPicPr>
          <p:nvPr/>
        </p:nvPicPr>
        <p:blipFill>
          <a:blip r:embed="rId6"/>
          <a:stretch>
            <a:fillRect/>
          </a:stretch>
        </p:blipFill>
        <p:spPr>
          <a:xfrm>
            <a:off x="10489921" y="1783080"/>
            <a:ext cx="457200" cy="457200"/>
          </a:xfrm>
          <a:prstGeom prst="rect">
            <a:avLst/>
          </a:prstGeom>
        </p:spPr>
      </p:pic>
      <p:sp>
        <p:nvSpPr>
          <p:cNvPr id="26" name="Text 18"/>
          <p:cNvSpPr txBox="1"/>
          <p:nvPr/>
        </p:nvSpPr>
        <p:spPr>
          <a:xfrm>
            <a:off x="9885426" y="2697480"/>
            <a:ext cx="1666189" cy="411480"/>
          </a:xfrm>
          <a:prstGeom prst="rect">
            <a:avLst/>
          </a:prstGeom>
          <a:noFill/>
          <a:ln/>
        </p:spPr>
        <p:txBody>
          <a:bodyPr wrap="square" lIns="0" tIns="0" rIns="0" bIns="0" rtlCol="0" anchor="t"/>
          <a:lstStyle/>
          <a:p>
            <a:pPr algn="ctr" indent="0" marL="0">
              <a:buNone/>
            </a:pPr>
            <a:r>
              <a:rPr lang="en-US" sz="1800" b="1" dirty="0">
                <a:solidFill>
                  <a:schemeClr val="tx2"/>
                </a:solidFill>
              </a:rPr>
              <a:t>6. Local contacts</a:t>
            </a:r>
            <a:endParaRPr lang="en-US" sz="1800" dirty="0"/>
          </a:p>
        </p:txBody>
      </p:sp>
      <p:sp>
        <p:nvSpPr>
          <p:cNvPr id="27" name="Text 19"/>
          <p:cNvSpPr txBox="1"/>
          <p:nvPr/>
        </p:nvSpPr>
        <p:spPr>
          <a:xfrm>
            <a:off x="9931146" y="3154680"/>
            <a:ext cx="1574749" cy="1463040"/>
          </a:xfrm>
          <a:prstGeom prst="rect">
            <a:avLst/>
          </a:prstGeom>
          <a:noFill/>
          <a:ln/>
        </p:spPr>
        <p:txBody>
          <a:bodyPr wrap="square" lIns="0" tIns="0" rIns="0" bIns="0" rtlCol="0" anchor="t"/>
          <a:lstStyle/>
          <a:p>
            <a:pPr algn="ctr" indent="0" marL="0">
              <a:buNone/>
            </a:pPr>
            <a:r>
              <a:rPr lang="en-US" sz="1400" dirty="0">
                <a:solidFill>
                  <a:schemeClr val="tx1"/>
                </a:solidFill>
              </a:rPr>
              <a:t>Nearby GPs, schools and water companies</a:t>
            </a:r>
            <a:endParaRPr lang="en-US" sz="1400" dirty="0"/>
          </a:p>
        </p:txBody>
      </p:sp>
      <p:sp>
        <p:nvSpPr>
          <p:cNvPr id="28" name="principle"/>
          <p:cNvSpPr/>
          <p:nvPr/>
        </p:nvSpPr>
        <p:spPr>
          <a:xfrm>
            <a:off x="548640" y="4983480"/>
            <a:ext cx="11094415" cy="960120"/>
          </a:xfrm>
          <a:prstGeom prst="roundRect">
            <a:avLst>
              <a:gd name="adj" fmla="val 7619"/>
            </a:avLst>
          </a:prstGeom>
          <a:solidFill>
            <a:schemeClr val="bg2"/>
          </a:solidFill>
          <a:ln w="12700">
            <a:solidFill>
              <a:schemeClr val="bg2"/>
            </a:solidFill>
            <a:prstDash val="solid"/>
          </a:ln>
        </p:spPr>
      </p:sp>
      <p:sp>
        <p:nvSpPr>
          <p:cNvPr id="29" name="Text 21"/>
          <p:cNvSpPr txBox="1"/>
          <p:nvPr/>
        </p:nvSpPr>
        <p:spPr>
          <a:xfrm>
            <a:off x="868680" y="4983480"/>
            <a:ext cx="10454335" cy="960120"/>
          </a:xfrm>
          <a:prstGeom prst="rect">
            <a:avLst/>
          </a:prstGeom>
          <a:noFill/>
          <a:ln/>
        </p:spPr>
        <p:txBody>
          <a:bodyPr wrap="square" lIns="0" tIns="0" rIns="0" bIns="0" rtlCol="0" anchor="ctr"/>
          <a:lstStyle/>
          <a:p>
            <a:pPr indent="0" marL="0">
              <a:buNone/>
            </a:pPr>
            <a:r>
              <a:rPr lang="en-US" sz="1800" b="1" dirty="0">
                <a:solidFill>
                  <a:schemeClr val="accent2"/>
                </a:solidFill>
              </a:rPr>
              <a:t>Principle:  </a:t>
            </a:r>
            <a:pPr indent="0" marL="0">
              <a:buNone/>
            </a:pPr>
            <a:r>
              <a:rPr lang="en-US" sz="1800" dirty="0">
                <a:solidFill>
                  <a:schemeClr val="tx2"/>
                </a:solidFill>
              </a:rPr>
              <a:t>AI where judgement is needed. Rules and code wherever a deadline, fee or legal duty is involved.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Two ways in: bank customer or standalone</a:t>
            </a:r>
            <a:endParaRPr lang="en-US" sz="3400" dirty="0"/>
          </a:p>
        </p:txBody>
      </p:sp>
      <p:sp>
        <p:nvSpPr>
          <p:cNvPr id="3" name="way card 0"/>
          <p:cNvSpPr/>
          <p:nvPr/>
        </p:nvSpPr>
        <p:spPr>
          <a:xfrm>
            <a:off x="548640" y="1417320"/>
            <a:ext cx="539496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4" name="Bank customer circle"/>
          <p:cNvSpPr/>
          <p:nvPr/>
        </p:nvSpPr>
        <p:spPr>
          <a:xfrm>
            <a:off x="914400" y="1737360"/>
            <a:ext cx="822960" cy="822960"/>
          </a:xfrm>
          <a:prstGeom prst="ellipse">
            <a:avLst/>
          </a:prstGeom>
          <a:solidFill>
            <a:schemeClr val="accent1"/>
          </a:solidFill>
          <a:ln w="12700">
            <a:solidFill>
              <a:schemeClr val="accent1"/>
            </a:solidFill>
            <a:prstDash val="solid"/>
          </a:ln>
        </p:spPr>
      </p:sp>
      <p:pic>
        <p:nvPicPr>
          <p:cNvPr id="5" name="Bank customer icon" descr="Bank customer">    </p:cNvPr>
          <p:cNvPicPr>
            <a:picLocks noChangeAspect="1"/>
          </p:cNvPicPr>
          <p:nvPr/>
        </p:nvPicPr>
        <p:blipFill>
          <a:blip r:embed="rId1"/>
          <a:stretch>
            <a:fillRect/>
          </a:stretch>
        </p:blipFill>
        <p:spPr>
          <a:xfrm>
            <a:off x="1120140" y="1943100"/>
            <a:ext cx="411480" cy="411480"/>
          </a:xfrm>
          <a:prstGeom prst="rect">
            <a:avLst/>
          </a:prstGeom>
        </p:spPr>
      </p:pic>
      <p:sp>
        <p:nvSpPr>
          <p:cNvPr id="6" name="Text 3"/>
          <p:cNvSpPr txBox="1"/>
          <p:nvPr/>
        </p:nvSpPr>
        <p:spPr>
          <a:xfrm>
            <a:off x="1920240" y="1737360"/>
            <a:ext cx="37490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Bank customer</a:t>
            </a:r>
            <a:endParaRPr lang="en-US" sz="2400" dirty="0"/>
          </a:p>
        </p:txBody>
      </p:sp>
      <p:sp>
        <p:nvSpPr>
          <p:cNvPr id="7" name="Text 4"/>
          <p:cNvSpPr txBox="1"/>
          <p:nvPr/>
        </p:nvSpPr>
        <p:spPr>
          <a:xfrm>
            <a:off x="1920240" y="2194560"/>
            <a:ext cx="3749040" cy="411480"/>
          </a:xfrm>
          <a:prstGeom prst="rect">
            <a:avLst/>
          </a:prstGeom>
          <a:noFill/>
          <a:ln/>
        </p:spPr>
        <p:txBody>
          <a:bodyPr wrap="square" lIns="0" tIns="0" rIns="0" bIns="0" rtlCol="0" anchor="t"/>
          <a:lstStyle/>
          <a:p>
            <a:pPr indent="0" marL="0">
              <a:buNone/>
            </a:pPr>
            <a:r>
              <a:rPr lang="en-US" sz="1500" i="1" dirty="0">
                <a:solidFill>
                  <a:schemeClr val="accent1"/>
                </a:solidFill>
              </a:rPr>
              <a:t>Starts when the mortgage completion date is set</a:t>
            </a:r>
            <a:endParaRPr lang="en-US" sz="1500" dirty="0"/>
          </a:p>
        </p:txBody>
      </p:sp>
      <p:sp>
        <p:nvSpPr>
          <p:cNvPr id="8" name="Text 5"/>
          <p:cNvSpPr txBox="1"/>
          <p:nvPr/>
        </p:nvSpPr>
        <p:spPr>
          <a:xfrm>
            <a:off x="960120" y="2926080"/>
            <a:ext cx="4572000" cy="178308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Profile, 90 days of transactions and Direct Debit references from the bank</a:t>
            </a:r>
            <a:endParaRPr lang="en-US" sz="1600" dirty="0"/>
          </a:p>
          <a:p>
            <a:pPr marL="203200" indent="-203200">
              <a:spcAft>
                <a:spcPts val="600"/>
              </a:spcAft>
              <a:buSzPct val="100000"/>
              <a:buChar char="•"/>
            </a:pPr>
            <a:r>
              <a:rPr lang="en-US" sz="1600" dirty="0">
                <a:solidFill>
                  <a:schemeClr val="tx1"/>
                </a:solidFill>
              </a:rPr>
              <a:t>Account and policy numbers filled in automatically</a:t>
            </a:r>
            <a:endParaRPr lang="en-US" sz="1600" dirty="0"/>
          </a:p>
          <a:p>
            <a:pPr marL="203200" indent="-203200">
              <a:spcAft>
                <a:spcPts val="600"/>
              </a:spcAft>
              <a:buSzPct val="100000"/>
              <a:buChar char="•"/>
            </a:pPr>
            <a:r>
              <a:rPr lang="en-US" sz="1600" dirty="0">
                <a:solidFill>
                  <a:schemeClr val="tx1"/>
                </a:solidFill>
              </a:rPr>
              <a:t>The bank updates its own records directly</a:t>
            </a:r>
            <a:endParaRPr lang="en-US" sz="1600" dirty="0"/>
          </a:p>
        </p:txBody>
      </p:sp>
      <p:sp>
        <p:nvSpPr>
          <p:cNvPr id="9" name="way card 1"/>
          <p:cNvSpPr/>
          <p:nvPr/>
        </p:nvSpPr>
        <p:spPr>
          <a:xfrm>
            <a:off x="6217920" y="1417320"/>
            <a:ext cx="539496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10" name="Standalone circle"/>
          <p:cNvSpPr/>
          <p:nvPr/>
        </p:nvSpPr>
        <p:spPr>
          <a:xfrm>
            <a:off x="6583680" y="1737360"/>
            <a:ext cx="822960" cy="822960"/>
          </a:xfrm>
          <a:prstGeom prst="ellipse">
            <a:avLst/>
          </a:prstGeom>
          <a:solidFill>
            <a:schemeClr val="accent2"/>
          </a:solidFill>
          <a:ln w="12700">
            <a:solidFill>
              <a:schemeClr val="accent2"/>
            </a:solidFill>
            <a:prstDash val="solid"/>
          </a:ln>
        </p:spPr>
      </p:sp>
      <p:pic>
        <p:nvPicPr>
          <p:cNvPr id="11" name="Standalone icon" descr="Standalone">    </p:cNvPr>
          <p:cNvPicPr>
            <a:picLocks noChangeAspect="1"/>
          </p:cNvPicPr>
          <p:nvPr/>
        </p:nvPicPr>
        <p:blipFill>
          <a:blip r:embed="rId2"/>
          <a:stretch>
            <a:fillRect/>
          </a:stretch>
        </p:blipFill>
        <p:spPr>
          <a:xfrm>
            <a:off x="6789420" y="1943100"/>
            <a:ext cx="411480" cy="411480"/>
          </a:xfrm>
          <a:prstGeom prst="rect">
            <a:avLst/>
          </a:prstGeom>
        </p:spPr>
      </p:pic>
      <p:sp>
        <p:nvSpPr>
          <p:cNvPr id="12" name="Text 8"/>
          <p:cNvSpPr txBox="1"/>
          <p:nvPr/>
        </p:nvSpPr>
        <p:spPr>
          <a:xfrm>
            <a:off x="7589520" y="1737360"/>
            <a:ext cx="37490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Standalone</a:t>
            </a:r>
            <a:endParaRPr lang="en-US" sz="2400" dirty="0"/>
          </a:p>
        </p:txBody>
      </p:sp>
      <p:sp>
        <p:nvSpPr>
          <p:cNvPr id="13" name="Text 9"/>
          <p:cNvSpPr txBox="1"/>
          <p:nvPr/>
        </p:nvSpPr>
        <p:spPr>
          <a:xfrm>
            <a:off x="7589520" y="2194560"/>
            <a:ext cx="3749040" cy="411480"/>
          </a:xfrm>
          <a:prstGeom prst="rect">
            <a:avLst/>
          </a:prstGeom>
          <a:noFill/>
          <a:ln/>
        </p:spPr>
        <p:txBody>
          <a:bodyPr wrap="square" lIns="0" tIns="0" rIns="0" bIns="0" rtlCol="0" anchor="t"/>
          <a:lstStyle/>
          <a:p>
            <a:pPr indent="0" marL="0">
              <a:buNone/>
            </a:pPr>
            <a:r>
              <a:rPr lang="en-US" sz="1500" i="1" dirty="0">
                <a:solidFill>
                  <a:schemeClr val="accent1"/>
                </a:solidFill>
              </a:rPr>
              <a:t>Anyone moving, customer or not</a:t>
            </a:r>
            <a:endParaRPr lang="en-US" sz="1500" dirty="0"/>
          </a:p>
        </p:txBody>
      </p:sp>
      <p:sp>
        <p:nvSpPr>
          <p:cNvPr id="14" name="Text 10"/>
          <p:cNvSpPr txBox="1"/>
          <p:nvPr/>
        </p:nvSpPr>
        <p:spPr>
          <a:xfrm>
            <a:off x="6629400" y="2926080"/>
            <a:ext cx="4572000" cy="178308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Short chat, plus a statement upload (CSV or OFX) or a list of providers</a:t>
            </a:r>
            <a:endParaRPr lang="en-US" sz="1600" dirty="0"/>
          </a:p>
          <a:p>
            <a:pPr marL="203200" indent="-203200">
              <a:spcAft>
                <a:spcPts val="600"/>
              </a:spcAft>
              <a:buSzPct val="100000"/>
              <a:buChar char="•"/>
            </a:pPr>
            <a:r>
              <a:rPr lang="en-US" sz="1600" dirty="0">
                <a:solidFill>
                  <a:schemeClr val="tx1"/>
                </a:solidFill>
              </a:rPr>
              <a:t>Personal details from a secure form, encrypted at rest</a:t>
            </a:r>
            <a:endParaRPr lang="en-US" sz="1600" dirty="0"/>
          </a:p>
          <a:p>
            <a:pPr marL="203200" indent="-203200">
              <a:spcAft>
                <a:spcPts val="600"/>
              </a:spcAft>
              <a:buSzPct val="100000"/>
              <a:buChar char="•"/>
            </a:pPr>
            <a:r>
              <a:rPr lang="en-US" sz="1600" dirty="0">
                <a:solidFill>
                  <a:schemeClr val="tx1"/>
                </a:solidFill>
              </a:rPr>
              <a:t>Come back with a case reference and resume code; delete on request</a:t>
            </a:r>
            <a:endParaRPr lang="en-US" sz="1600" dirty="0"/>
          </a:p>
        </p:txBody>
      </p:sp>
      <p:sp>
        <p:nvSpPr>
          <p:cNvPr id="15" name="both doors"/>
          <p:cNvSpPr/>
          <p:nvPr/>
        </p:nvSpPr>
        <p:spPr>
          <a:xfrm>
            <a:off x="548640" y="5166360"/>
            <a:ext cx="11094415" cy="868680"/>
          </a:xfrm>
          <a:prstGeom prst="roundRect">
            <a:avLst>
              <a:gd name="adj" fmla="val 8421"/>
            </a:avLst>
          </a:prstGeom>
          <a:solidFill>
            <a:schemeClr val="bg2"/>
          </a:solidFill>
          <a:ln w="12700">
            <a:solidFill>
              <a:schemeClr val="bg2"/>
            </a:solidFill>
            <a:prstDash val="solid"/>
          </a:ln>
        </p:spPr>
      </p:sp>
      <p:sp>
        <p:nvSpPr>
          <p:cNvPr id="16" name="Text 12"/>
          <p:cNvSpPr txBox="1"/>
          <p:nvPr/>
        </p:nvSpPr>
        <p:spPr>
          <a:xfrm>
            <a:off x="868680" y="5166360"/>
            <a:ext cx="10454335" cy="868680"/>
          </a:xfrm>
          <a:prstGeom prst="rect">
            <a:avLst/>
          </a:prstGeom>
          <a:noFill/>
          <a:ln/>
        </p:spPr>
        <p:txBody>
          <a:bodyPr wrap="square" lIns="0" tIns="0" rIns="0" bIns="0" rtlCol="0" anchor="ctr"/>
          <a:lstStyle/>
          <a:p>
            <a:pPr indent="0" marL="0">
              <a:buNone/>
            </a:pPr>
            <a:r>
              <a:rPr lang="en-US" sz="1700" b="1" dirty="0">
                <a:solidFill>
                  <a:schemeClr val="tx2"/>
                </a:solidFill>
              </a:rPr>
              <a:t>Same agents, same rules, same approval gate </a:t>
            </a:r>
            <a:pPr indent="0" marL="0">
              <a:buNone/>
            </a:pPr>
            <a:r>
              <a:rPr lang="en-US" sz="1700" dirty="0">
                <a:solidFill>
                  <a:schemeClr val="tx1"/>
                </a:solidFill>
              </a:rPr>
              <a:t>behind both doors: only where the data comes from changes.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AI moment 1: finding who you pay, and what it implies</a:t>
            </a:r>
            <a:endParaRPr lang="en-US" sz="3400" dirty="0"/>
          </a:p>
        </p:txBody>
      </p:sp>
      <p:sp>
        <p:nvSpPr>
          <p:cNvPr id="3" name="Text 1"/>
          <p:cNvSpPr txBox="1"/>
          <p:nvPr/>
        </p:nvSpPr>
        <p:spPr>
          <a:xfrm>
            <a:off x="548640" y="1325880"/>
            <a:ext cx="4206240" cy="320040"/>
          </a:xfrm>
          <a:prstGeom prst="rect">
            <a:avLst/>
          </a:prstGeom>
          <a:noFill/>
          <a:ln/>
        </p:spPr>
        <p:txBody>
          <a:bodyPr wrap="square" lIns="0" tIns="0" rIns="0" bIns="0" rtlCol="0" anchor="t"/>
          <a:lstStyle/>
          <a:p>
            <a:pPr indent="0" marL="0">
              <a:buNone/>
            </a:pPr>
            <a:r>
              <a:rPr lang="en-US" sz="1400" b="1" dirty="0">
                <a:solidFill>
                  <a:schemeClr val="accent5"/>
                </a:solidFill>
              </a:rPr>
              <a:t>Bank transaction</a:t>
            </a:r>
            <a:endParaRPr lang="en-US" sz="1400" dirty="0"/>
          </a:p>
        </p:txBody>
      </p:sp>
      <p:sp>
        <p:nvSpPr>
          <p:cNvPr id="4" name="Text 2"/>
          <p:cNvSpPr txBox="1"/>
          <p:nvPr/>
        </p:nvSpPr>
        <p:spPr>
          <a:xfrm>
            <a:off x="5486400" y="1325880"/>
            <a:ext cx="6126480" cy="320040"/>
          </a:xfrm>
          <a:prstGeom prst="rect">
            <a:avLst/>
          </a:prstGeom>
          <a:noFill/>
          <a:ln/>
        </p:spPr>
        <p:txBody>
          <a:bodyPr wrap="square" lIns="0" tIns="0" rIns="0" bIns="0" rtlCol="0" anchor="t"/>
          <a:lstStyle/>
          <a:p>
            <a:pPr indent="0" marL="0">
              <a:buNone/>
            </a:pPr>
            <a:r>
              <a:rPr lang="en-US" sz="1400" b="1" dirty="0">
                <a:solidFill>
                  <a:schemeClr val="accent5"/>
                </a:solidFill>
              </a:rPr>
              <a:t>What the agents understood</a:t>
            </a:r>
            <a:endParaRPr lang="en-US" sz="1400" dirty="0"/>
          </a:p>
        </p:txBody>
      </p:sp>
      <p:sp>
        <p:nvSpPr>
          <p:cNvPr id="5" name="raw 0"/>
          <p:cNvSpPr/>
          <p:nvPr/>
        </p:nvSpPr>
        <p:spPr>
          <a:xfrm>
            <a:off x="548640" y="1737360"/>
            <a:ext cx="4206240" cy="566928"/>
          </a:xfrm>
          <a:prstGeom prst="roundRect">
            <a:avLst>
              <a:gd name="adj" fmla="val 12903"/>
            </a:avLst>
          </a:prstGeom>
          <a:solidFill>
            <a:schemeClr val="bg2"/>
          </a:solidFill>
          <a:ln w="12700">
            <a:solidFill>
              <a:schemeClr val="bg2"/>
            </a:solidFill>
            <a:prstDash val="solid"/>
          </a:ln>
        </p:spPr>
      </p:sp>
      <p:sp>
        <p:nvSpPr>
          <p:cNvPr id="6" name="Text 4"/>
          <p:cNvSpPr txBox="1"/>
          <p:nvPr/>
        </p:nvSpPr>
        <p:spPr>
          <a:xfrm>
            <a:off x="731520" y="1737360"/>
            <a:ext cx="3931920" cy="566928"/>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BRIGHTWATT EN DD 0034X1274</a:t>
            </a:r>
            <a:endParaRPr lang="en-US" sz="1400" dirty="0"/>
          </a:p>
        </p:txBody>
      </p:sp>
      <p:pic>
        <p:nvPicPr>
          <p:cNvPr id="7" name="arrow 0" descr="becomes">    </p:cNvPr>
          <p:cNvPicPr>
            <a:picLocks noChangeAspect="1"/>
          </p:cNvPicPr>
          <p:nvPr/>
        </p:nvPicPr>
        <p:blipFill>
          <a:blip r:embed="rId1"/>
          <a:stretch>
            <a:fillRect/>
          </a:stretch>
        </p:blipFill>
        <p:spPr>
          <a:xfrm>
            <a:off x="4956048" y="1883664"/>
            <a:ext cx="274320" cy="274320"/>
          </a:xfrm>
          <a:prstGeom prst="rect">
            <a:avLst/>
          </a:prstGeom>
        </p:spPr>
      </p:pic>
      <p:sp>
        <p:nvSpPr>
          <p:cNvPr id="8" name="found 0"/>
          <p:cNvSpPr/>
          <p:nvPr/>
        </p:nvSpPr>
        <p:spPr>
          <a:xfrm>
            <a:off x="5486400" y="1737360"/>
            <a:ext cx="6153912" cy="566928"/>
          </a:xfrm>
          <a:prstGeom prst="roundRect">
            <a:avLst>
              <a:gd name="adj" fmla="val 12903"/>
            </a:avLst>
          </a:prstGeom>
          <a:solidFill>
            <a:schemeClr val="bg2"/>
          </a:solidFill>
          <a:ln w="12700">
            <a:solidFill>
              <a:schemeClr val="bg2"/>
            </a:solidFill>
            <a:prstDash val="solid"/>
          </a:ln>
        </p:spPr>
      </p:sp>
      <p:sp>
        <p:nvSpPr>
          <p:cNvPr id="9" name="Text 6"/>
          <p:cNvSpPr txBox="1"/>
          <p:nvPr/>
        </p:nvSpPr>
        <p:spPr>
          <a:xfrm>
            <a:off x="5669280" y="1737360"/>
            <a:ext cx="5852160" cy="566928"/>
          </a:xfrm>
          <a:prstGeom prst="rect">
            <a:avLst/>
          </a:prstGeom>
          <a:noFill/>
          <a:ln/>
        </p:spPr>
        <p:txBody>
          <a:bodyPr wrap="square" lIns="0" tIns="0" rIns="0" bIns="0" rtlCol="0" anchor="ctr"/>
          <a:lstStyle/>
          <a:p>
            <a:pPr indent="0" marL="0">
              <a:buNone/>
            </a:pPr>
            <a:r>
              <a:rPr lang="en-US" sz="1500" b="1" dirty="0">
                <a:solidFill>
                  <a:schemeClr val="tx2"/>
                </a:solidFill>
              </a:rPr>
              <a:t>Brightwatt Energy</a:t>
            </a:r>
            <a:pPr indent="0" marL="0">
              <a:buNone/>
            </a:pPr>
            <a:r>
              <a:rPr lang="en-US" sz="1500" dirty="0">
                <a:solidFill>
                  <a:schemeClr val="tx1"/>
                </a:solidFill>
              </a:rPr>
              <a:t>  ·  energy supplier</a:t>
            </a:r>
            <a:endParaRPr lang="en-US" sz="1500" dirty="0"/>
          </a:p>
        </p:txBody>
      </p:sp>
      <p:sp>
        <p:nvSpPr>
          <p:cNvPr id="10" name="raw 1"/>
          <p:cNvSpPr/>
          <p:nvPr/>
        </p:nvSpPr>
        <p:spPr>
          <a:xfrm>
            <a:off x="548640" y="2450592"/>
            <a:ext cx="4206240" cy="566928"/>
          </a:xfrm>
          <a:prstGeom prst="roundRect">
            <a:avLst>
              <a:gd name="adj" fmla="val 12903"/>
            </a:avLst>
          </a:prstGeom>
          <a:solidFill>
            <a:schemeClr val="bg2"/>
          </a:solidFill>
          <a:ln w="12700">
            <a:solidFill>
              <a:schemeClr val="bg2"/>
            </a:solidFill>
            <a:prstDash val="solid"/>
          </a:ln>
        </p:spPr>
      </p:sp>
      <p:sp>
        <p:nvSpPr>
          <p:cNvPr id="11" name="Text 8"/>
          <p:cNvSpPr txBox="1"/>
          <p:nvPr/>
        </p:nvSpPr>
        <p:spPr>
          <a:xfrm>
            <a:off x="731520" y="2450592"/>
            <a:ext cx="3931920" cy="566928"/>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NVW WATER SVCS 1074205</a:t>
            </a:r>
            <a:endParaRPr lang="en-US" sz="1400" dirty="0"/>
          </a:p>
        </p:txBody>
      </p:sp>
      <p:pic>
        <p:nvPicPr>
          <p:cNvPr id="12" name="arrow 1" descr="becomes">    </p:cNvPr>
          <p:cNvPicPr>
            <a:picLocks noChangeAspect="1"/>
          </p:cNvPicPr>
          <p:nvPr/>
        </p:nvPicPr>
        <p:blipFill>
          <a:blip r:embed="rId2"/>
          <a:stretch>
            <a:fillRect/>
          </a:stretch>
        </p:blipFill>
        <p:spPr>
          <a:xfrm>
            <a:off x="4956048" y="2596896"/>
            <a:ext cx="274320" cy="274320"/>
          </a:xfrm>
          <a:prstGeom prst="rect">
            <a:avLst/>
          </a:prstGeom>
        </p:spPr>
      </p:pic>
      <p:sp>
        <p:nvSpPr>
          <p:cNvPr id="13" name="found 1"/>
          <p:cNvSpPr/>
          <p:nvPr/>
        </p:nvSpPr>
        <p:spPr>
          <a:xfrm>
            <a:off x="5486400" y="2450592"/>
            <a:ext cx="6153912" cy="566928"/>
          </a:xfrm>
          <a:prstGeom prst="roundRect">
            <a:avLst>
              <a:gd name="adj" fmla="val 12903"/>
            </a:avLst>
          </a:prstGeom>
          <a:solidFill>
            <a:schemeClr val="bg2"/>
          </a:solidFill>
          <a:ln w="12700">
            <a:solidFill>
              <a:schemeClr val="bg2"/>
            </a:solidFill>
            <a:prstDash val="solid"/>
          </a:ln>
        </p:spPr>
      </p:sp>
      <p:sp>
        <p:nvSpPr>
          <p:cNvPr id="14" name="Text 10"/>
          <p:cNvSpPr txBox="1"/>
          <p:nvPr/>
        </p:nvSpPr>
        <p:spPr>
          <a:xfrm>
            <a:off x="5669280" y="2450592"/>
            <a:ext cx="5852160" cy="566928"/>
          </a:xfrm>
          <a:prstGeom prst="rect">
            <a:avLst/>
          </a:prstGeom>
          <a:noFill/>
          <a:ln/>
        </p:spPr>
        <p:txBody>
          <a:bodyPr wrap="square" lIns="0" tIns="0" rIns="0" bIns="0" rtlCol="0" anchor="ctr"/>
          <a:lstStyle/>
          <a:p>
            <a:pPr indent="0" marL="0">
              <a:buNone/>
            </a:pPr>
            <a:r>
              <a:rPr lang="en-US" sz="1500" b="1" dirty="0">
                <a:solidFill>
                  <a:schemeClr val="tx2"/>
                </a:solidFill>
              </a:rPr>
              <a:t>NVW Water Services</a:t>
            </a:r>
            <a:pPr indent="0" marL="0">
              <a:buNone/>
            </a:pPr>
            <a:r>
              <a:rPr lang="en-US" sz="1500" dirty="0">
                <a:solidFill>
                  <a:schemeClr val="tx1"/>
                </a:solidFill>
              </a:rPr>
              <a:t>  ·  water company</a:t>
            </a:r>
            <a:endParaRPr lang="en-US" sz="1500" dirty="0"/>
          </a:p>
        </p:txBody>
      </p:sp>
      <p:sp>
        <p:nvSpPr>
          <p:cNvPr id="15" name="raw 2"/>
          <p:cNvSpPr/>
          <p:nvPr/>
        </p:nvSpPr>
        <p:spPr>
          <a:xfrm>
            <a:off x="548640" y="3163824"/>
            <a:ext cx="4206240" cy="566928"/>
          </a:xfrm>
          <a:prstGeom prst="roundRect">
            <a:avLst>
              <a:gd name="adj" fmla="val 12903"/>
            </a:avLst>
          </a:prstGeom>
          <a:solidFill>
            <a:schemeClr val="bg2"/>
          </a:solidFill>
          <a:ln w="12700">
            <a:solidFill>
              <a:schemeClr val="bg2"/>
            </a:solidFill>
            <a:prstDash val="solid"/>
          </a:ln>
        </p:spPr>
      </p:sp>
      <p:sp>
        <p:nvSpPr>
          <p:cNvPr id="16" name="Text 12"/>
          <p:cNvSpPr txBox="1"/>
          <p:nvPr/>
        </p:nvSpPr>
        <p:spPr>
          <a:xfrm>
            <a:off x="731520" y="3163824"/>
            <a:ext cx="3931920" cy="566928"/>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DVLA-VEH TAX 2274101</a:t>
            </a:r>
            <a:endParaRPr lang="en-US" sz="1400" dirty="0"/>
          </a:p>
        </p:txBody>
      </p:sp>
      <p:pic>
        <p:nvPicPr>
          <p:cNvPr id="17" name="arrow 2" descr="becomes">    </p:cNvPr>
          <p:cNvPicPr>
            <a:picLocks noChangeAspect="1"/>
          </p:cNvPicPr>
          <p:nvPr/>
        </p:nvPicPr>
        <p:blipFill>
          <a:blip r:embed="rId3"/>
          <a:stretch>
            <a:fillRect/>
          </a:stretch>
        </p:blipFill>
        <p:spPr>
          <a:xfrm>
            <a:off x="4956048" y="3310128"/>
            <a:ext cx="274320" cy="274320"/>
          </a:xfrm>
          <a:prstGeom prst="rect">
            <a:avLst/>
          </a:prstGeom>
        </p:spPr>
      </p:pic>
      <p:sp>
        <p:nvSpPr>
          <p:cNvPr id="18" name="found 2"/>
          <p:cNvSpPr/>
          <p:nvPr/>
        </p:nvSpPr>
        <p:spPr>
          <a:xfrm>
            <a:off x="5486400" y="3163824"/>
            <a:ext cx="6153912" cy="566928"/>
          </a:xfrm>
          <a:prstGeom prst="roundRect">
            <a:avLst>
              <a:gd name="adj" fmla="val 12903"/>
            </a:avLst>
          </a:prstGeom>
          <a:solidFill>
            <a:srgbClr val="FBEAE5"/>
          </a:solidFill>
          <a:ln w="12700">
            <a:solidFill>
              <a:srgbClr val="FBEAE5"/>
            </a:solidFill>
            <a:prstDash val="solid"/>
          </a:ln>
        </p:spPr>
      </p:sp>
      <p:sp>
        <p:nvSpPr>
          <p:cNvPr id="19" name="Text 14"/>
          <p:cNvSpPr txBox="1"/>
          <p:nvPr/>
        </p:nvSpPr>
        <p:spPr>
          <a:xfrm>
            <a:off x="5669280" y="3163824"/>
            <a:ext cx="5852160" cy="566928"/>
          </a:xfrm>
          <a:prstGeom prst="rect">
            <a:avLst/>
          </a:prstGeom>
          <a:noFill/>
          <a:ln/>
        </p:spPr>
        <p:txBody>
          <a:bodyPr wrap="square" lIns="0" tIns="0" rIns="0" bIns="0" rtlCol="0" anchor="ctr"/>
          <a:lstStyle/>
          <a:p>
            <a:pPr indent="0" marL="0">
              <a:buNone/>
            </a:pPr>
            <a:r>
              <a:rPr lang="en-US" sz="1500" b="1" dirty="0">
                <a:solidFill>
                  <a:schemeClr val="tx2"/>
                </a:solidFill>
              </a:rPr>
              <a:t>DVLA vehicle tax</a:t>
            </a:r>
            <a:pPr indent="0" marL="0">
              <a:buNone/>
            </a:pPr>
            <a:r>
              <a:rPr lang="en-US" sz="1500" b="1" dirty="0">
                <a:solidFill>
                  <a:schemeClr val="accent2"/>
                </a:solidFill>
              </a:rPr>
              <a:t>  ·  has a car: log book and licence</a:t>
            </a:r>
            <a:endParaRPr lang="en-US" sz="1500" dirty="0"/>
          </a:p>
        </p:txBody>
      </p:sp>
      <p:sp>
        <p:nvSpPr>
          <p:cNvPr id="20" name="raw 3"/>
          <p:cNvSpPr/>
          <p:nvPr/>
        </p:nvSpPr>
        <p:spPr>
          <a:xfrm>
            <a:off x="548640" y="3877056"/>
            <a:ext cx="4206240" cy="566928"/>
          </a:xfrm>
          <a:prstGeom prst="roundRect">
            <a:avLst>
              <a:gd name="adj" fmla="val 12903"/>
            </a:avLst>
          </a:prstGeom>
          <a:solidFill>
            <a:schemeClr val="bg2"/>
          </a:solidFill>
          <a:ln w="12700">
            <a:solidFill>
              <a:schemeClr val="bg2"/>
            </a:solidFill>
            <a:prstDash val="solid"/>
          </a:ln>
        </p:spPr>
      </p:sp>
      <p:sp>
        <p:nvSpPr>
          <p:cNvPr id="21" name="Text 16"/>
          <p:cNvSpPr txBox="1"/>
          <p:nvPr/>
        </p:nvSpPr>
        <p:spPr>
          <a:xfrm>
            <a:off x="731520" y="3877056"/>
            <a:ext cx="3931920" cy="566928"/>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PAWSURE LTD 4110415 PETPOL</a:t>
            </a:r>
            <a:endParaRPr lang="en-US" sz="1400" dirty="0"/>
          </a:p>
        </p:txBody>
      </p:sp>
      <p:pic>
        <p:nvPicPr>
          <p:cNvPr id="22" name="arrow 3" descr="becomes">    </p:cNvPr>
          <p:cNvPicPr>
            <a:picLocks noChangeAspect="1"/>
          </p:cNvPicPr>
          <p:nvPr/>
        </p:nvPicPr>
        <p:blipFill>
          <a:blip r:embed="rId4"/>
          <a:stretch>
            <a:fillRect/>
          </a:stretch>
        </p:blipFill>
        <p:spPr>
          <a:xfrm>
            <a:off x="4956048" y="4023360"/>
            <a:ext cx="274320" cy="274320"/>
          </a:xfrm>
          <a:prstGeom prst="rect">
            <a:avLst/>
          </a:prstGeom>
        </p:spPr>
      </p:pic>
      <p:sp>
        <p:nvSpPr>
          <p:cNvPr id="23" name="found 3"/>
          <p:cNvSpPr/>
          <p:nvPr/>
        </p:nvSpPr>
        <p:spPr>
          <a:xfrm>
            <a:off x="5486400" y="3877056"/>
            <a:ext cx="6153912" cy="566928"/>
          </a:xfrm>
          <a:prstGeom prst="roundRect">
            <a:avLst>
              <a:gd name="adj" fmla="val 12903"/>
            </a:avLst>
          </a:prstGeom>
          <a:solidFill>
            <a:srgbClr val="FBEAE5"/>
          </a:solidFill>
          <a:ln w="12700">
            <a:solidFill>
              <a:srgbClr val="FBEAE5"/>
            </a:solidFill>
            <a:prstDash val="solid"/>
          </a:ln>
        </p:spPr>
      </p:sp>
      <p:sp>
        <p:nvSpPr>
          <p:cNvPr id="24" name="Text 18"/>
          <p:cNvSpPr txBox="1"/>
          <p:nvPr/>
        </p:nvSpPr>
        <p:spPr>
          <a:xfrm>
            <a:off x="5669280" y="3877056"/>
            <a:ext cx="5852160" cy="566928"/>
          </a:xfrm>
          <a:prstGeom prst="rect">
            <a:avLst/>
          </a:prstGeom>
          <a:noFill/>
          <a:ln/>
        </p:spPr>
        <p:txBody>
          <a:bodyPr wrap="square" lIns="0" tIns="0" rIns="0" bIns="0" rtlCol="0" anchor="ctr"/>
          <a:lstStyle/>
          <a:p>
            <a:pPr indent="0" marL="0">
              <a:buNone/>
            </a:pPr>
            <a:r>
              <a:rPr lang="en-US" sz="1500" b="1" dirty="0">
                <a:solidFill>
                  <a:schemeClr val="tx2"/>
                </a:solidFill>
              </a:rPr>
              <a:t>Pawsure pet insurance</a:t>
            </a:r>
            <a:pPr indent="0" marL="0">
              <a:buNone/>
            </a:pPr>
            <a:r>
              <a:rPr lang="en-US" sz="1500" b="1" dirty="0">
                <a:solidFill>
                  <a:schemeClr val="accent2"/>
                </a:solidFill>
              </a:rPr>
              <a:t>  ·  has a pet: update the microchip</a:t>
            </a:r>
            <a:endParaRPr lang="en-US" sz="1500" dirty="0"/>
          </a:p>
        </p:txBody>
      </p:sp>
      <p:sp>
        <p:nvSpPr>
          <p:cNvPr id="25" name="raw 4"/>
          <p:cNvSpPr/>
          <p:nvPr/>
        </p:nvSpPr>
        <p:spPr>
          <a:xfrm>
            <a:off x="548640" y="4590288"/>
            <a:ext cx="4206240" cy="566928"/>
          </a:xfrm>
          <a:prstGeom prst="roundRect">
            <a:avLst>
              <a:gd name="adj" fmla="val 12903"/>
            </a:avLst>
          </a:prstGeom>
          <a:solidFill>
            <a:schemeClr val="bg2"/>
          </a:solidFill>
          <a:ln w="12700">
            <a:solidFill>
              <a:schemeClr val="bg2"/>
            </a:solidFill>
            <a:prstDash val="solid"/>
          </a:ln>
        </p:spPr>
      </p:sp>
      <p:sp>
        <p:nvSpPr>
          <p:cNvPr id="26" name="Text 20"/>
          <p:cNvSpPr txBox="1"/>
          <p:nvPr/>
        </p:nvSpPr>
        <p:spPr>
          <a:xfrm>
            <a:off x="731520" y="4590288"/>
            <a:ext cx="3931920" cy="566928"/>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LITTLE ACORNS NURSERY SO</a:t>
            </a:r>
            <a:endParaRPr lang="en-US" sz="1400" dirty="0"/>
          </a:p>
        </p:txBody>
      </p:sp>
      <p:pic>
        <p:nvPicPr>
          <p:cNvPr id="27" name="arrow 4" descr="becomes">    </p:cNvPr>
          <p:cNvPicPr>
            <a:picLocks noChangeAspect="1"/>
          </p:cNvPicPr>
          <p:nvPr/>
        </p:nvPicPr>
        <p:blipFill>
          <a:blip r:embed="rId5"/>
          <a:stretch>
            <a:fillRect/>
          </a:stretch>
        </p:blipFill>
        <p:spPr>
          <a:xfrm>
            <a:off x="4956048" y="4736592"/>
            <a:ext cx="274320" cy="274320"/>
          </a:xfrm>
          <a:prstGeom prst="rect">
            <a:avLst/>
          </a:prstGeom>
        </p:spPr>
      </p:pic>
      <p:sp>
        <p:nvSpPr>
          <p:cNvPr id="28" name="found 4"/>
          <p:cNvSpPr/>
          <p:nvPr/>
        </p:nvSpPr>
        <p:spPr>
          <a:xfrm>
            <a:off x="5486400" y="4590288"/>
            <a:ext cx="6153912" cy="566928"/>
          </a:xfrm>
          <a:prstGeom prst="roundRect">
            <a:avLst>
              <a:gd name="adj" fmla="val 12903"/>
            </a:avLst>
          </a:prstGeom>
          <a:solidFill>
            <a:srgbClr val="FBEAE5"/>
          </a:solidFill>
          <a:ln w="12700">
            <a:solidFill>
              <a:srgbClr val="FBEAE5"/>
            </a:solidFill>
            <a:prstDash val="solid"/>
          </a:ln>
        </p:spPr>
      </p:sp>
      <p:sp>
        <p:nvSpPr>
          <p:cNvPr id="29" name="Text 22"/>
          <p:cNvSpPr txBox="1"/>
          <p:nvPr/>
        </p:nvSpPr>
        <p:spPr>
          <a:xfrm>
            <a:off x="5669280" y="4590288"/>
            <a:ext cx="5852160" cy="566928"/>
          </a:xfrm>
          <a:prstGeom prst="rect">
            <a:avLst/>
          </a:prstGeom>
          <a:noFill/>
          <a:ln/>
        </p:spPr>
        <p:txBody>
          <a:bodyPr wrap="square" lIns="0" tIns="0" rIns="0" bIns="0" rtlCol="0" anchor="ctr"/>
          <a:lstStyle/>
          <a:p>
            <a:pPr indent="0" marL="0">
              <a:buNone/>
            </a:pPr>
            <a:r>
              <a:rPr lang="en-US" sz="1500" b="1" dirty="0">
                <a:solidFill>
                  <a:schemeClr val="tx2"/>
                </a:solidFill>
              </a:rPr>
              <a:t>Little Acorns Nursery</a:t>
            </a:r>
            <a:pPr indent="0" marL="0">
              <a:buNone/>
            </a:pPr>
            <a:r>
              <a:rPr lang="en-US" sz="1500" b="1" dirty="0">
                <a:solidFill>
                  <a:schemeClr val="accent2"/>
                </a:solidFill>
              </a:rPr>
              <a:t>  ·  young child: give notice</a:t>
            </a:r>
            <a:endParaRPr lang="en-US" sz="1500" dirty="0"/>
          </a:p>
        </p:txBody>
      </p:sp>
      <p:sp>
        <p:nvSpPr>
          <p:cNvPr id="30" name="Text 23"/>
          <p:cNvSpPr txBox="1"/>
          <p:nvPr/>
        </p:nvSpPr>
        <p:spPr>
          <a:xfrm>
            <a:off x="548640" y="5440680"/>
            <a:ext cx="11094415" cy="685800"/>
          </a:xfrm>
          <a:prstGeom prst="rect">
            <a:avLst/>
          </a:prstGeom>
          <a:noFill/>
          <a:ln/>
        </p:spPr>
        <p:txBody>
          <a:bodyPr wrap="square" lIns="0" tIns="0" rIns="0" bIns="0" rtlCol="0" anchor="t"/>
          <a:lstStyle/>
          <a:p>
            <a:pPr indent="0" marL="0">
              <a:buNone/>
            </a:pPr>
            <a:r>
              <a:rPr lang="en-US" sz="1500" b="1" dirty="0">
                <a:solidFill>
                  <a:schemeClr val="accent1"/>
                </a:solidFill>
              </a:rPr>
              <a:t>14 organisations </a:t>
            </a:r>
            <a:pPr indent="0" marL="0">
              <a:buNone/>
            </a:pPr>
            <a:r>
              <a:rPr lang="en-US" sz="1500" dirty="0">
                <a:solidFill>
                  <a:schemeClr val="tx1"/>
                </a:solidFill>
              </a:rPr>
              <a:t>found for the demo customer, including the forgotten pet insurance and a credit card. Highlighted rows are inferences a checklist cannot make. Anything below 70% confidence is asked, not assumed.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When completion slips, code replans and AI rewrites</a:t>
            </a:r>
            <a:endParaRPr lang="en-US" sz="3400" dirty="0"/>
          </a:p>
        </p:txBody>
      </p:sp>
      <p:sp>
        <p:nvSpPr>
          <p:cNvPr id="3" name="old date"/>
          <p:cNvSpPr/>
          <p:nvPr/>
        </p:nvSpPr>
        <p:spPr>
          <a:xfrm>
            <a:off x="548640" y="1417320"/>
            <a:ext cx="2148840" cy="1600200"/>
          </a:xfrm>
          <a:prstGeom prst="roundRect">
            <a:avLst>
              <a:gd name="adj" fmla="val 4571"/>
            </a:avLst>
          </a:prstGeom>
          <a:solidFill>
            <a:schemeClr val="bg2"/>
          </a:solidFill>
          <a:ln w="12700">
            <a:solidFill>
              <a:schemeClr val="bg2"/>
            </a:solidFill>
            <a:prstDash val="solid"/>
          </a:ln>
        </p:spPr>
      </p:sp>
      <p:sp>
        <p:nvSpPr>
          <p:cNvPr id="4" name="Text 2"/>
          <p:cNvSpPr txBox="1"/>
          <p:nvPr/>
        </p:nvSpPr>
        <p:spPr>
          <a:xfrm>
            <a:off x="777240" y="1554480"/>
            <a:ext cx="1737360" cy="1371600"/>
          </a:xfrm>
          <a:prstGeom prst="rect">
            <a:avLst/>
          </a:prstGeom>
          <a:noFill/>
          <a:ln/>
        </p:spPr>
        <p:txBody>
          <a:bodyPr wrap="square" lIns="0" tIns="0" rIns="0" bIns="0" rtlCol="0" anchor="t"/>
          <a:lstStyle/>
          <a:p>
            <a:pPr indent="0" marL="0">
              <a:buNone/>
            </a:pPr>
            <a:r>
              <a:rPr lang="en-US" sz="1400" dirty="0">
                <a:solidFill>
                  <a:schemeClr val="accent5"/>
                </a:solidFill>
              </a:rPr>
              <a:t>Was</a:t>
            </a:r>
            <a:endParaRPr lang="en-US" sz="1400" dirty="0"/>
          </a:p>
          <a:p>
            <a:pPr indent="0" marL="0">
              <a:buNone/>
            </a:pPr>
            <a:r>
              <a:rPr lang="en-US" sz="4000" b="1" dirty="0">
                <a:solidFill>
                  <a:schemeClr val="tx2"/>
                </a:solidFill>
                <a:latin typeface="Cambria" pitchFamily="34" charset="0"/>
                <a:ea typeface="Cambria" pitchFamily="34" charset="-122"/>
                <a:cs typeface="Cambria" pitchFamily="34" charset="-120"/>
              </a:rPr>
              <a:t>27 Nov</a:t>
            </a:r>
            <a:endParaRPr lang="en-US" sz="1400" dirty="0"/>
          </a:p>
        </p:txBody>
      </p:sp>
      <p:pic>
        <p:nvPicPr>
          <p:cNvPr id="5" name="slip arrow" descr="moved to">    </p:cNvPr>
          <p:cNvPicPr>
            <a:picLocks noChangeAspect="1"/>
          </p:cNvPicPr>
          <p:nvPr/>
        </p:nvPicPr>
        <p:blipFill>
          <a:blip r:embed="rId1"/>
          <a:stretch>
            <a:fillRect/>
          </a:stretch>
        </p:blipFill>
        <p:spPr>
          <a:xfrm>
            <a:off x="2880360" y="2011680"/>
            <a:ext cx="411480" cy="411480"/>
          </a:xfrm>
          <a:prstGeom prst="rect">
            <a:avLst/>
          </a:prstGeom>
        </p:spPr>
      </p:pic>
      <p:sp>
        <p:nvSpPr>
          <p:cNvPr id="6" name="new date"/>
          <p:cNvSpPr/>
          <p:nvPr/>
        </p:nvSpPr>
        <p:spPr>
          <a:xfrm>
            <a:off x="3474720" y="1417320"/>
            <a:ext cx="2148840" cy="1600200"/>
          </a:xfrm>
          <a:prstGeom prst="roundRect">
            <a:avLst>
              <a:gd name="adj" fmla="val 4571"/>
            </a:avLst>
          </a:prstGeom>
          <a:solidFill>
            <a:schemeClr val="accent2"/>
          </a:solidFill>
          <a:ln w="12700">
            <a:solidFill>
              <a:schemeClr val="accent2"/>
            </a:solidFill>
            <a:prstDash val="solid"/>
          </a:ln>
        </p:spPr>
      </p:sp>
      <p:sp>
        <p:nvSpPr>
          <p:cNvPr id="7" name="Text 4"/>
          <p:cNvSpPr txBox="1"/>
          <p:nvPr/>
        </p:nvSpPr>
        <p:spPr>
          <a:xfrm>
            <a:off x="3703320" y="1554480"/>
            <a:ext cx="1737360" cy="1371600"/>
          </a:xfrm>
          <a:prstGeom prst="rect">
            <a:avLst/>
          </a:prstGeom>
          <a:noFill/>
          <a:ln/>
        </p:spPr>
        <p:txBody>
          <a:bodyPr wrap="square" lIns="0" tIns="0" rIns="0" bIns="0" rtlCol="0" anchor="t"/>
          <a:lstStyle/>
          <a:p>
            <a:pPr indent="0" marL="0">
              <a:buNone/>
            </a:pPr>
            <a:r>
              <a:rPr lang="en-US" sz="1400" dirty="0">
                <a:solidFill>
                  <a:schemeClr val="bg1"/>
                </a:solidFill>
              </a:rPr>
              <a:t>Now</a:t>
            </a:r>
            <a:endParaRPr lang="en-US" sz="1400" dirty="0"/>
          </a:p>
          <a:p>
            <a:pPr indent="0" marL="0">
              <a:buNone/>
            </a:pPr>
            <a:r>
              <a:rPr lang="en-US" sz="4000" b="1" dirty="0">
                <a:solidFill>
                  <a:schemeClr val="bg1"/>
                </a:solidFill>
                <a:latin typeface="Cambria" pitchFamily="34" charset="0"/>
                <a:ea typeface="Cambria" pitchFamily="34" charset="-122"/>
                <a:cs typeface="Cambria" pitchFamily="34" charset="-120"/>
              </a:rPr>
              <a:t>11 Dec</a:t>
            </a:r>
            <a:endParaRPr lang="en-US" sz="1400" dirty="0"/>
          </a:p>
        </p:txBody>
      </p:sp>
      <p:sp>
        <p:nvSpPr>
          <p:cNvPr id="8" name="Text 5"/>
          <p:cNvSpPr txBox="1"/>
          <p:nvPr/>
        </p:nvSpPr>
        <p:spPr>
          <a:xfrm>
            <a:off x="548640" y="3337560"/>
            <a:ext cx="5120640" cy="27432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Code recomputes every date and sorts each task. Deterministic on purpose: no model works out a date.</a:t>
            </a:r>
            <a:endParaRPr lang="en-US" sz="1500" dirty="0"/>
          </a:p>
          <a:p>
            <a:pPr marL="203200" indent="-203200">
              <a:spcAft>
                <a:spcPts val="600"/>
              </a:spcAft>
              <a:buSzPct val="100000"/>
              <a:buChar char="•"/>
            </a:pPr>
            <a:r>
              <a:rPr lang="en-US" sz="1500" dirty="0">
                <a:solidFill>
                  <a:schemeClr val="tx1"/>
                </a:solidFill>
              </a:rPr>
              <a:t>The comms agent writes the correction letters, which need approval again.</a:t>
            </a:r>
            <a:endParaRPr lang="en-US" sz="1500" dirty="0"/>
          </a:p>
          <a:p>
            <a:pPr marL="203200" indent="-203200">
              <a:spcAft>
                <a:spcPts val="600"/>
              </a:spcAft>
              <a:buSzPct val="100000"/>
              <a:buChar char="•"/>
            </a:pPr>
            <a:r>
              <a:rPr lang="en-US" sz="1500" dirty="0">
                <a:solidFill>
                  <a:schemeClr val="tx1"/>
                </a:solidFill>
              </a:rPr>
              <a:t>The reply agent reads provider replies, such as "please confirm your meter serial" (scripted in the demo).</a:t>
            </a:r>
            <a:endParaRPr lang="en-US" sz="1500" dirty="0"/>
          </a:p>
        </p:txBody>
      </p:sp>
      <p:graphicFrame>
        <p:nvGraphicFramePr>
          <p:cNvPr id="9" name="Chart 0" descr=""/>
          <p:cNvGraphicFramePr/>
          <p:nvPr/>
        </p:nvGraphicFramePr>
        <p:xfrm>
          <a:off x="6172200" y="1325880"/>
          <a:ext cx="5486400" cy="4754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AI only where it adds value</a:t>
            </a:r>
            <a:endParaRPr lang="en-US" sz="3400" dirty="0"/>
          </a:p>
        </p:txBody>
      </p:sp>
      <p:sp>
        <p:nvSpPr>
          <p:cNvPr id="3" name="split 0"/>
          <p:cNvSpPr/>
          <p:nvPr/>
        </p:nvSpPr>
        <p:spPr>
          <a:xfrm>
            <a:off x="548640" y="1371600"/>
            <a:ext cx="5394960" cy="3794760"/>
          </a:xfrm>
          <a:prstGeom prst="roundRect">
            <a:avLst>
              <a:gd name="adj" fmla="val 1928"/>
            </a:avLst>
          </a:prstGeom>
          <a:solidFill>
            <a:schemeClr val="bg2"/>
          </a:solidFill>
          <a:ln w="12700">
            <a:solidFill>
              <a:schemeClr val="bg2"/>
            </a:solidFill>
            <a:prstDash val="solid"/>
          </a:ln>
        </p:spPr>
      </p:sp>
      <p:sp>
        <p:nvSpPr>
          <p:cNvPr id="4" name="Rules and code circle"/>
          <p:cNvSpPr/>
          <p:nvPr/>
        </p:nvSpPr>
        <p:spPr>
          <a:xfrm>
            <a:off x="868680" y="1600200"/>
            <a:ext cx="731520" cy="731520"/>
          </a:xfrm>
          <a:prstGeom prst="ellipse">
            <a:avLst/>
          </a:prstGeom>
          <a:solidFill>
            <a:schemeClr val="accent1"/>
          </a:solidFill>
          <a:ln w="12700">
            <a:solidFill>
              <a:schemeClr val="accent1"/>
            </a:solidFill>
            <a:prstDash val="solid"/>
          </a:ln>
        </p:spPr>
      </p:sp>
      <p:pic>
        <p:nvPicPr>
          <p:cNvPr id="5" name="Rules and code icon" descr="Rules and code">    </p:cNvPr>
          <p:cNvPicPr>
            <a:picLocks noChangeAspect="1"/>
          </p:cNvPicPr>
          <p:nvPr/>
        </p:nvPicPr>
        <p:blipFill>
          <a:blip r:embed="rId1"/>
          <a:stretch>
            <a:fillRect/>
          </a:stretch>
        </p:blipFill>
        <p:spPr>
          <a:xfrm>
            <a:off x="1051560" y="1783080"/>
            <a:ext cx="365760" cy="365760"/>
          </a:xfrm>
          <a:prstGeom prst="rect">
            <a:avLst/>
          </a:prstGeom>
        </p:spPr>
      </p:pic>
      <p:sp>
        <p:nvSpPr>
          <p:cNvPr id="6" name="Text 3"/>
          <p:cNvSpPr txBox="1"/>
          <p:nvPr/>
        </p:nvSpPr>
        <p:spPr>
          <a:xfrm>
            <a:off x="1783080" y="1600200"/>
            <a:ext cx="3931920" cy="7315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Rules and code</a:t>
            </a:r>
            <a:endParaRPr lang="en-US" sz="2400" dirty="0"/>
          </a:p>
        </p:txBody>
      </p:sp>
      <p:sp>
        <p:nvSpPr>
          <p:cNvPr id="7" name="Text 4"/>
          <p:cNvSpPr txBox="1"/>
          <p:nvPr/>
        </p:nvSpPr>
        <p:spPr>
          <a:xfrm>
            <a:off x="914400" y="2560320"/>
            <a:ext cx="4754880" cy="25146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Which obligations apply: 25 rules, each with a source</a:t>
            </a:r>
            <a:endParaRPr lang="en-US" sz="1500" dirty="0"/>
          </a:p>
          <a:p>
            <a:pPr marL="203200" indent="-203200">
              <a:spcAft>
                <a:spcPts val="600"/>
              </a:spcAft>
              <a:buSzPct val="100000"/>
              <a:buChar char="•"/>
            </a:pPr>
            <a:r>
              <a:rPr lang="en-US" sz="1500" dirty="0">
                <a:solidFill>
                  <a:schemeClr val="tx1"/>
                </a:solidFill>
              </a:rPr>
              <a:t>Deadlines in UK working days, per nation</a:t>
            </a:r>
            <a:endParaRPr lang="en-US" sz="1500" dirty="0"/>
          </a:p>
          <a:p>
            <a:pPr marL="203200" indent="-203200">
              <a:spcAft>
                <a:spcPts val="600"/>
              </a:spcAft>
              <a:buSzPct val="100000"/>
              <a:buChar char="•"/>
            </a:pPr>
            <a:r>
              <a:rPr lang="en-US" sz="1500" dirty="0">
                <a:solidFill>
                  <a:schemeClr val="tx1"/>
                </a:solidFill>
              </a:rPr>
              <a:t>Legal flags and penalties</a:t>
            </a:r>
            <a:endParaRPr lang="en-US" sz="1500" dirty="0"/>
          </a:p>
          <a:p>
            <a:pPr marL="203200" indent="-203200">
              <a:spcAft>
                <a:spcPts val="600"/>
              </a:spcAft>
              <a:buSzPct val="100000"/>
              <a:buChar char="•"/>
            </a:pPr>
            <a:r>
              <a:rPr lang="en-US" sz="1500" dirty="0">
                <a:solidFill>
                  <a:schemeClr val="tx1"/>
                </a:solidFill>
              </a:rPr>
              <a:t>The approval gate</a:t>
            </a:r>
            <a:endParaRPr lang="en-US" sz="1500" dirty="0"/>
          </a:p>
          <a:p>
            <a:pPr marL="203200" indent="-203200">
              <a:spcAft>
                <a:spcPts val="600"/>
              </a:spcAft>
              <a:buSzPct val="100000"/>
              <a:buChar char="•"/>
            </a:pPr>
            <a:r>
              <a:rPr lang="en-US" sz="1500" dirty="0">
                <a:solidFill>
                  <a:schemeClr val="tx1"/>
                </a:solidFill>
              </a:rPr>
              <a:t>What a date change means for each task</a:t>
            </a:r>
            <a:endParaRPr lang="en-US" sz="1500" dirty="0"/>
          </a:p>
          <a:p>
            <a:pPr marL="203200" indent="-203200">
              <a:spcAft>
                <a:spcPts val="600"/>
              </a:spcAft>
              <a:buSzPct val="100000"/>
              <a:buChar char="•"/>
            </a:pPr>
            <a:r>
              <a:rPr lang="en-US" sz="1500" dirty="0">
                <a:solidFill>
                  <a:schemeClr val="tx1"/>
                </a:solidFill>
              </a:rPr>
              <a:t>Audit log, encryption, statement parsing</a:t>
            </a:r>
            <a:endParaRPr lang="en-US" sz="1500" dirty="0"/>
          </a:p>
        </p:txBody>
      </p:sp>
      <p:sp>
        <p:nvSpPr>
          <p:cNvPr id="8" name="split 1"/>
          <p:cNvSpPr/>
          <p:nvPr/>
        </p:nvSpPr>
        <p:spPr>
          <a:xfrm>
            <a:off x="6217920" y="1371600"/>
            <a:ext cx="5394960" cy="3794760"/>
          </a:xfrm>
          <a:prstGeom prst="roundRect">
            <a:avLst>
              <a:gd name="adj" fmla="val 1928"/>
            </a:avLst>
          </a:prstGeom>
          <a:solidFill>
            <a:schemeClr val="bg2"/>
          </a:solidFill>
          <a:ln w="12700">
            <a:solidFill>
              <a:schemeClr val="bg2"/>
            </a:solidFill>
            <a:prstDash val="solid"/>
          </a:ln>
        </p:spPr>
      </p:sp>
      <p:sp>
        <p:nvSpPr>
          <p:cNvPr id="9" name="LLM agents circle"/>
          <p:cNvSpPr/>
          <p:nvPr/>
        </p:nvSpPr>
        <p:spPr>
          <a:xfrm>
            <a:off x="6537960" y="1600200"/>
            <a:ext cx="731520" cy="731520"/>
          </a:xfrm>
          <a:prstGeom prst="ellipse">
            <a:avLst/>
          </a:prstGeom>
          <a:solidFill>
            <a:schemeClr val="accent2"/>
          </a:solidFill>
          <a:ln w="12700">
            <a:solidFill>
              <a:schemeClr val="accent2"/>
            </a:solidFill>
            <a:prstDash val="solid"/>
          </a:ln>
        </p:spPr>
      </p:sp>
      <p:pic>
        <p:nvPicPr>
          <p:cNvPr id="10" name="LLM agents icon" descr="LLM agents">    </p:cNvPr>
          <p:cNvPicPr>
            <a:picLocks noChangeAspect="1"/>
          </p:cNvPicPr>
          <p:nvPr/>
        </p:nvPicPr>
        <p:blipFill>
          <a:blip r:embed="rId2"/>
          <a:stretch>
            <a:fillRect/>
          </a:stretch>
        </p:blipFill>
        <p:spPr>
          <a:xfrm>
            <a:off x="6720840" y="1783080"/>
            <a:ext cx="365760" cy="365760"/>
          </a:xfrm>
          <a:prstGeom prst="rect">
            <a:avLst/>
          </a:prstGeom>
        </p:spPr>
      </p:pic>
      <p:sp>
        <p:nvSpPr>
          <p:cNvPr id="11" name="Text 7"/>
          <p:cNvSpPr txBox="1"/>
          <p:nvPr/>
        </p:nvSpPr>
        <p:spPr>
          <a:xfrm>
            <a:off x="7452360" y="1600200"/>
            <a:ext cx="3931920" cy="7315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LLM agents</a:t>
            </a:r>
            <a:endParaRPr lang="en-US" sz="2400" dirty="0"/>
          </a:p>
        </p:txBody>
      </p:sp>
      <p:sp>
        <p:nvSpPr>
          <p:cNvPr id="12" name="Text 8"/>
          <p:cNvSpPr txBox="1"/>
          <p:nvPr/>
        </p:nvSpPr>
        <p:spPr>
          <a:xfrm>
            <a:off x="6583680" y="2560320"/>
            <a:ext cx="4754880" cy="25146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Messy descriptors into providers and life facts</a:t>
            </a:r>
            <a:endParaRPr lang="en-US" sz="1500" dirty="0"/>
          </a:p>
          <a:p>
            <a:pPr marL="203200" indent="-203200">
              <a:spcAft>
                <a:spcPts val="600"/>
              </a:spcAft>
              <a:buSzPct val="100000"/>
              <a:buChar char="•"/>
            </a:pPr>
            <a:r>
              <a:rPr lang="en-US" sz="1500" dirty="0">
                <a:solidFill>
                  <a:schemeClr val="tx1"/>
                </a:solidFill>
              </a:rPr>
              <a:t>Free-text answers into structured facts</a:t>
            </a:r>
            <a:endParaRPr lang="en-US" sz="1500" dirty="0"/>
          </a:p>
          <a:p>
            <a:pPr marL="203200" indent="-203200">
              <a:spcAft>
                <a:spcPts val="600"/>
              </a:spcAft>
              <a:buSzPct val="100000"/>
              <a:buChar char="•"/>
            </a:pPr>
            <a:r>
              <a:rPr lang="en-US" sz="1500" dirty="0">
                <a:solidFill>
                  <a:schemeClr val="tx1"/>
                </a:solidFill>
              </a:rPr>
              <a:t>Edge cases: letting the old home, joint owners</a:t>
            </a:r>
            <a:endParaRPr lang="en-US" sz="1500" dirty="0"/>
          </a:p>
          <a:p>
            <a:pPr marL="203200" indent="-203200">
              <a:spcAft>
                <a:spcPts val="600"/>
              </a:spcAft>
              <a:buSzPct val="100000"/>
              <a:buChar char="•"/>
            </a:pPr>
            <a:r>
              <a:rPr lang="en-US" sz="1500" dirty="0">
                <a:solidFill>
                  <a:schemeClr val="tx1"/>
                </a:solidFill>
              </a:rPr>
              <a:t>A personal draft for each organisation</a:t>
            </a:r>
            <a:endParaRPr lang="en-US" sz="1500" dirty="0"/>
          </a:p>
          <a:p>
            <a:pPr marL="203200" indent="-203200">
              <a:spcAft>
                <a:spcPts val="600"/>
              </a:spcAft>
              <a:buSzPct val="100000"/>
              <a:buChar char="•"/>
            </a:pPr>
            <a:r>
              <a:rPr lang="en-US" sz="1500" dirty="0">
                <a:solidFill>
                  <a:schemeClr val="tx1"/>
                </a:solidFill>
              </a:rPr>
              <a:t>Reading provider replies</a:t>
            </a:r>
            <a:endParaRPr lang="en-US" sz="1500" dirty="0"/>
          </a:p>
          <a:p>
            <a:pPr marL="203200" indent="-203200">
              <a:spcAft>
                <a:spcPts val="600"/>
              </a:spcAft>
              <a:buSzPct val="100000"/>
              <a:buChar char="•"/>
            </a:pPr>
            <a:r>
              <a:rPr lang="en-US" sz="1500" dirty="0">
                <a:solidFill>
                  <a:schemeClr val="tx1"/>
                </a:solidFill>
              </a:rPr>
              <a:t>Explaining the plan in plain English</a:t>
            </a:r>
            <a:endParaRPr lang="en-US" sz="1500" dirty="0"/>
          </a:p>
        </p:txBody>
      </p:sp>
      <p:sp>
        <p:nvSpPr>
          <p:cNvPr id="13" name="rule banner"/>
          <p:cNvSpPr/>
          <p:nvPr/>
        </p:nvSpPr>
        <p:spPr>
          <a:xfrm>
            <a:off x="548640" y="5394960"/>
            <a:ext cx="11094415" cy="685800"/>
          </a:xfrm>
          <a:prstGeom prst="roundRect">
            <a:avLst>
              <a:gd name="adj" fmla="val 10667"/>
            </a:avLst>
          </a:prstGeom>
          <a:solidFill>
            <a:schemeClr val="tx2"/>
          </a:solidFill>
          <a:ln w="12700">
            <a:solidFill>
              <a:schemeClr val="tx2"/>
            </a:solidFill>
            <a:prstDash val="solid"/>
          </a:ln>
        </p:spPr>
      </p:sp>
      <p:sp>
        <p:nvSpPr>
          <p:cNvPr id="14" name="Text 10"/>
          <p:cNvSpPr txBox="1"/>
          <p:nvPr/>
        </p:nvSpPr>
        <p:spPr>
          <a:xfrm>
            <a:off x="868680" y="5394960"/>
            <a:ext cx="10454335" cy="685800"/>
          </a:xfrm>
          <a:prstGeom prst="rect">
            <a:avLst/>
          </a:prstGeom>
          <a:noFill/>
          <a:ln/>
        </p:spPr>
        <p:txBody>
          <a:bodyPr wrap="square" lIns="0" tIns="0" rIns="0" bIns="0" rtlCol="0" anchor="ctr"/>
          <a:lstStyle/>
          <a:p>
            <a:pPr indent="0" marL="0">
              <a:buNone/>
            </a:pPr>
            <a:r>
              <a:rPr lang="en-US" sz="1800" b="1" dirty="0">
                <a:solidFill>
                  <a:schemeClr val="bg1"/>
                </a:solidFill>
              </a:rPr>
              <a:t>The LLM can't invent a deadline, fee or legal duty, and it can't quietly drop one either.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14 agents on Neuro SAN, 27 coded tools</a:t>
            </a:r>
            <a:endParaRPr lang="en-US" sz="3400" dirty="0"/>
          </a:p>
        </p:txBody>
      </p:sp>
      <p:sp>
        <p:nvSpPr>
          <p:cNvPr id="3" name="coordinator"/>
          <p:cNvSpPr/>
          <p:nvPr/>
        </p:nvSpPr>
        <p:spPr>
          <a:xfrm>
            <a:off x="4270248" y="1325880"/>
            <a:ext cx="3657600" cy="914400"/>
          </a:xfrm>
          <a:prstGeom prst="roundRect">
            <a:avLst>
              <a:gd name="adj" fmla="val 8000"/>
            </a:avLst>
          </a:prstGeom>
          <a:solidFill>
            <a:schemeClr val="tx2"/>
          </a:solidFill>
          <a:ln w="12700">
            <a:solidFill>
              <a:schemeClr val="tx2"/>
            </a:solidFill>
            <a:prstDash val="solid"/>
          </a:ln>
        </p:spPr>
      </p:sp>
      <p:sp>
        <p:nvSpPr>
          <p:cNvPr id="4" name="Text 2"/>
          <p:cNvSpPr txBox="1"/>
          <p:nvPr/>
        </p:nvSpPr>
        <p:spPr>
          <a:xfrm>
            <a:off x="4270248" y="1325880"/>
            <a:ext cx="3657600" cy="914400"/>
          </a:xfrm>
          <a:prstGeom prst="rect">
            <a:avLst/>
          </a:prstGeom>
          <a:noFill/>
          <a:ln/>
        </p:spPr>
        <p:txBody>
          <a:bodyPr wrap="square" lIns="0" tIns="0" rIns="0" bIns="0" rtlCol="0" anchor="ctr"/>
          <a:lstStyle/>
          <a:p>
            <a:pPr algn="ctr" indent="0" marL="0">
              <a:buNone/>
            </a:pPr>
            <a:r>
              <a:rPr lang="en-US" sz="2000" b="1" dirty="0">
                <a:solidFill>
                  <a:schemeClr val="bg1"/>
                </a:solidFill>
              </a:rPr>
              <a:t>move_coordinator</a:t>
            </a:r>
            <a:endParaRPr lang="en-US" sz="1400" dirty="0"/>
          </a:p>
          <a:p>
            <a:pPr algn="ctr" indent="0" marL="0">
              <a:buNone/>
            </a:pPr>
            <a:r>
              <a:rPr lang="en-US" sz="1400" dirty="0">
                <a:solidFill>
                  <a:schemeClr val="bg1"/>
                </a:solidFill>
              </a:rPr>
              <a:t>the only agent the customer talks to</a:t>
            </a:r>
            <a:endParaRPr lang="en-US" sz="1400" dirty="0"/>
          </a:p>
        </p:txBody>
      </p:sp>
      <p:sp>
        <p:nvSpPr>
          <p:cNvPr id="5" name="bus"/>
          <p:cNvSpPr/>
          <p:nvPr/>
        </p:nvSpPr>
        <p:spPr>
          <a:xfrm>
            <a:off x="1851660" y="2606040"/>
            <a:ext cx="8488375" cy="0"/>
          </a:xfrm>
          <a:prstGeom prst="line">
            <a:avLst/>
          </a:prstGeom>
          <a:noFill/>
          <a:ln w="19050">
            <a:solidFill>
              <a:srgbClr val="8AB0A8"/>
            </a:solidFill>
            <a:prstDash val="solid"/>
          </a:ln>
        </p:spPr>
      </p:sp>
      <p:sp>
        <p:nvSpPr>
          <p:cNvPr id="6" name="trunk"/>
          <p:cNvSpPr/>
          <p:nvPr/>
        </p:nvSpPr>
        <p:spPr>
          <a:xfrm>
            <a:off x="6095848" y="2240280"/>
            <a:ext cx="0" cy="365760"/>
          </a:xfrm>
          <a:prstGeom prst="line">
            <a:avLst/>
          </a:prstGeom>
          <a:noFill/>
          <a:ln w="19050">
            <a:solidFill>
              <a:srgbClr val="8AB0A8"/>
            </a:solidFill>
            <a:prstDash val="solid"/>
          </a:ln>
        </p:spPr>
      </p:sp>
      <p:sp>
        <p:nvSpPr>
          <p:cNvPr id="7" name="drop 0"/>
          <p:cNvSpPr/>
          <p:nvPr/>
        </p:nvSpPr>
        <p:spPr>
          <a:xfrm>
            <a:off x="1851660" y="2606040"/>
            <a:ext cx="0" cy="320040"/>
          </a:xfrm>
          <a:prstGeom prst="line">
            <a:avLst/>
          </a:prstGeom>
          <a:noFill/>
          <a:ln w="19050">
            <a:solidFill>
              <a:srgbClr val="8AB0A8"/>
            </a:solidFill>
            <a:prstDash val="solid"/>
          </a:ln>
        </p:spPr>
      </p:sp>
      <p:sp>
        <p:nvSpPr>
          <p:cNvPr id="8" name="group 0"/>
          <p:cNvSpPr/>
          <p:nvPr/>
        </p:nvSpPr>
        <p:spPr>
          <a:xfrm>
            <a:off x="548640" y="2926080"/>
            <a:ext cx="2606040" cy="1691640"/>
          </a:xfrm>
          <a:prstGeom prst="roundRect">
            <a:avLst>
              <a:gd name="adj" fmla="val 4324"/>
            </a:avLst>
          </a:prstGeom>
          <a:solidFill>
            <a:schemeClr val="bg2"/>
          </a:solidFill>
          <a:ln w="12700">
            <a:solidFill>
              <a:schemeClr val="bg2"/>
            </a:solidFill>
            <a:prstDash val="solid"/>
          </a:ln>
        </p:spPr>
      </p:sp>
      <p:sp>
        <p:nvSpPr>
          <p:cNvPr id="9" name="Text 7"/>
          <p:cNvSpPr txBox="1"/>
          <p:nvPr/>
        </p:nvSpPr>
        <p:spPr>
          <a:xfrm>
            <a:off x="731520" y="3035808"/>
            <a:ext cx="2240280" cy="365760"/>
          </a:xfrm>
          <a:prstGeom prst="rect">
            <a:avLst/>
          </a:prstGeom>
          <a:noFill/>
          <a:ln/>
        </p:spPr>
        <p:txBody>
          <a:bodyPr wrap="square" lIns="0" tIns="0" rIns="0" bIns="0" rtlCol="0" anchor="t"/>
          <a:lstStyle/>
          <a:p>
            <a:pPr indent="0" marL="0">
              <a:buNone/>
            </a:pPr>
            <a:r>
              <a:rPr lang="en-US" sz="1600" b="1" dirty="0">
                <a:solidFill>
                  <a:schemeClr val="tx2"/>
                </a:solidFill>
              </a:rPr>
              <a:t>Intake and discovery</a:t>
            </a:r>
            <a:endParaRPr lang="en-US" sz="1600" dirty="0"/>
          </a:p>
        </p:txBody>
      </p:sp>
      <p:sp>
        <p:nvSpPr>
          <p:cNvPr id="10" name="Text 8"/>
          <p:cNvSpPr txBox="1"/>
          <p:nvPr/>
        </p:nvSpPr>
        <p:spPr>
          <a:xfrm>
            <a:off x="731520" y="3429000"/>
            <a:ext cx="2240280" cy="731520"/>
          </a:xfrm>
          <a:prstGeom prst="rect">
            <a:avLst/>
          </a:prstGeom>
          <a:noFill/>
          <a:ln/>
        </p:spPr>
        <p:txBody>
          <a:bodyPr wrap="square" lIns="0" tIns="0" rIns="0" bIns="0" rtlCol="0" anchor="t"/>
          <a:lstStyle/>
          <a:p>
            <a:pPr indent="0" marL="0">
              <a:buNone/>
            </a:pPr>
            <a:r>
              <a:rPr lang="en-US" sz="1400" dirty="0">
                <a:solidFill>
                  <a:schemeClr val="tx1"/>
                </a:solidFill>
              </a:rPr>
              <a:t>intake · profile · discovery</a:t>
            </a:r>
            <a:endParaRPr lang="en-US" sz="1400" dirty="0"/>
          </a:p>
        </p:txBody>
      </p:sp>
      <p:sp>
        <p:nvSpPr>
          <p:cNvPr id="11" name="Text 9"/>
          <p:cNvSpPr txBox="1"/>
          <p:nvPr/>
        </p:nvSpPr>
        <p:spPr>
          <a:xfrm>
            <a:off x="731520" y="4206240"/>
            <a:ext cx="2240280" cy="320040"/>
          </a:xfrm>
          <a:prstGeom prst="rect">
            <a:avLst/>
          </a:prstGeom>
          <a:noFill/>
          <a:ln/>
        </p:spPr>
        <p:txBody>
          <a:bodyPr wrap="square" lIns="0" tIns="0" rIns="0" bIns="0" rtlCol="0" anchor="t"/>
          <a:lstStyle/>
          <a:p>
            <a:pPr indent="0" marL="0">
              <a:buNone/>
            </a:pPr>
            <a:r>
              <a:rPr lang="en-US" sz="1200" i="1" dirty="0">
                <a:solidFill>
                  <a:schemeClr val="accent1"/>
                </a:solidFill>
              </a:rPr>
              <a:t>called in order</a:t>
            </a:r>
            <a:endParaRPr lang="en-US" sz="1200" dirty="0"/>
          </a:p>
        </p:txBody>
      </p:sp>
      <p:sp>
        <p:nvSpPr>
          <p:cNvPr id="12" name="drop 1"/>
          <p:cNvSpPr/>
          <p:nvPr/>
        </p:nvSpPr>
        <p:spPr>
          <a:xfrm>
            <a:off x="4681118" y="2606040"/>
            <a:ext cx="0" cy="320040"/>
          </a:xfrm>
          <a:prstGeom prst="line">
            <a:avLst/>
          </a:prstGeom>
          <a:noFill/>
          <a:ln w="19050">
            <a:solidFill>
              <a:srgbClr val="8AB0A8"/>
            </a:solidFill>
            <a:prstDash val="solid"/>
          </a:ln>
        </p:spPr>
      </p:sp>
      <p:sp>
        <p:nvSpPr>
          <p:cNvPr id="13" name="group 1"/>
          <p:cNvSpPr/>
          <p:nvPr/>
        </p:nvSpPr>
        <p:spPr>
          <a:xfrm>
            <a:off x="3378098" y="2926080"/>
            <a:ext cx="2606040" cy="1691640"/>
          </a:xfrm>
          <a:prstGeom prst="roundRect">
            <a:avLst>
              <a:gd name="adj" fmla="val 4324"/>
            </a:avLst>
          </a:prstGeom>
          <a:solidFill>
            <a:schemeClr val="bg2"/>
          </a:solidFill>
          <a:ln w="12700">
            <a:solidFill>
              <a:schemeClr val="bg2"/>
            </a:solidFill>
            <a:prstDash val="solid"/>
          </a:ln>
        </p:spPr>
      </p:sp>
      <p:sp>
        <p:nvSpPr>
          <p:cNvPr id="14" name="Text 12"/>
          <p:cNvSpPr txBox="1"/>
          <p:nvPr/>
        </p:nvSpPr>
        <p:spPr>
          <a:xfrm>
            <a:off x="3560978" y="3035808"/>
            <a:ext cx="2240280" cy="365760"/>
          </a:xfrm>
          <a:prstGeom prst="rect">
            <a:avLst/>
          </a:prstGeom>
          <a:noFill/>
          <a:ln/>
        </p:spPr>
        <p:txBody>
          <a:bodyPr wrap="square" lIns="0" tIns="0" rIns="0" bIns="0" rtlCol="0" anchor="t"/>
          <a:lstStyle/>
          <a:p>
            <a:pPr indent="0" marL="0">
              <a:buNone/>
            </a:pPr>
            <a:r>
              <a:rPr lang="en-US" sz="1600" b="1" dirty="0">
                <a:solidFill>
                  <a:schemeClr val="tx2"/>
                </a:solidFill>
              </a:rPr>
              <a:t>Planning</a:t>
            </a:r>
            <a:endParaRPr lang="en-US" sz="1600" dirty="0"/>
          </a:p>
        </p:txBody>
      </p:sp>
      <p:sp>
        <p:nvSpPr>
          <p:cNvPr id="15" name="Text 13"/>
          <p:cNvSpPr txBox="1"/>
          <p:nvPr/>
        </p:nvSpPr>
        <p:spPr>
          <a:xfrm>
            <a:off x="3560978" y="3429000"/>
            <a:ext cx="2240280" cy="731520"/>
          </a:xfrm>
          <a:prstGeom prst="rect">
            <a:avLst/>
          </a:prstGeom>
          <a:noFill/>
          <a:ln/>
        </p:spPr>
        <p:txBody>
          <a:bodyPr wrap="square" lIns="0" tIns="0" rIns="0" bIns="0" rtlCol="0" anchor="t"/>
          <a:lstStyle/>
          <a:p>
            <a:pPr indent="0" marL="0">
              <a:buNone/>
            </a:pPr>
            <a:r>
              <a:rPr lang="en-US" sz="1400" dirty="0">
                <a:solidFill>
                  <a:schemeClr val="tx1"/>
                </a:solidFill>
              </a:rPr>
              <a:t>obligations · timeline · local services</a:t>
            </a:r>
            <a:endParaRPr lang="en-US" sz="1400" dirty="0"/>
          </a:p>
        </p:txBody>
      </p:sp>
      <p:sp>
        <p:nvSpPr>
          <p:cNvPr id="16" name="Text 14"/>
          <p:cNvSpPr txBox="1"/>
          <p:nvPr/>
        </p:nvSpPr>
        <p:spPr>
          <a:xfrm>
            <a:off x="3560978" y="4206240"/>
            <a:ext cx="2240280" cy="320040"/>
          </a:xfrm>
          <a:prstGeom prst="rect">
            <a:avLst/>
          </a:prstGeom>
          <a:noFill/>
          <a:ln/>
        </p:spPr>
        <p:txBody>
          <a:bodyPr wrap="square" lIns="0" tIns="0" rIns="0" bIns="0" rtlCol="0" anchor="t"/>
          <a:lstStyle/>
          <a:p>
            <a:pPr indent="0" marL="0">
              <a:buNone/>
            </a:pPr>
            <a:r>
              <a:rPr lang="en-US" sz="1200" i="1" dirty="0">
                <a:solidFill>
                  <a:schemeClr val="accent1"/>
                </a:solidFill>
              </a:rPr>
              <a:t>called in order</a:t>
            </a:r>
            <a:endParaRPr lang="en-US" sz="1200" dirty="0"/>
          </a:p>
        </p:txBody>
      </p:sp>
      <p:sp>
        <p:nvSpPr>
          <p:cNvPr id="17" name="drop 2"/>
          <p:cNvSpPr/>
          <p:nvPr/>
        </p:nvSpPr>
        <p:spPr>
          <a:xfrm>
            <a:off x="7510577" y="2606040"/>
            <a:ext cx="0" cy="320040"/>
          </a:xfrm>
          <a:prstGeom prst="line">
            <a:avLst/>
          </a:prstGeom>
          <a:noFill/>
          <a:ln w="19050">
            <a:solidFill>
              <a:srgbClr val="8AB0A8"/>
            </a:solidFill>
            <a:prstDash val="solid"/>
          </a:ln>
        </p:spPr>
      </p:sp>
      <p:sp>
        <p:nvSpPr>
          <p:cNvPr id="18" name="group 2"/>
          <p:cNvSpPr/>
          <p:nvPr/>
        </p:nvSpPr>
        <p:spPr>
          <a:xfrm>
            <a:off x="6207557" y="2926080"/>
            <a:ext cx="2606040" cy="1691640"/>
          </a:xfrm>
          <a:prstGeom prst="roundRect">
            <a:avLst>
              <a:gd name="adj" fmla="val 4324"/>
            </a:avLst>
          </a:prstGeom>
          <a:solidFill>
            <a:srgbClr val="FBEAE5"/>
          </a:solidFill>
          <a:ln w="12700">
            <a:solidFill>
              <a:srgbClr val="FBEAE5"/>
            </a:solidFill>
            <a:prstDash val="solid"/>
          </a:ln>
        </p:spPr>
      </p:sp>
      <p:sp>
        <p:nvSpPr>
          <p:cNvPr id="19" name="Text 17"/>
          <p:cNvSpPr txBox="1"/>
          <p:nvPr/>
        </p:nvSpPr>
        <p:spPr>
          <a:xfrm>
            <a:off x="6390437" y="3035808"/>
            <a:ext cx="2240280" cy="365760"/>
          </a:xfrm>
          <a:prstGeom prst="rect">
            <a:avLst/>
          </a:prstGeom>
          <a:noFill/>
          <a:ln/>
        </p:spPr>
        <p:txBody>
          <a:bodyPr wrap="square" lIns="0" tIns="0" rIns="0" bIns="0" rtlCol="0" anchor="t"/>
          <a:lstStyle/>
          <a:p>
            <a:pPr indent="0" marL="0">
              <a:buNone/>
            </a:pPr>
            <a:r>
              <a:rPr lang="en-US" sz="1600" b="1" dirty="0">
                <a:solidFill>
                  <a:schemeClr val="accent2"/>
                </a:solidFill>
              </a:rPr>
              <a:t>AAOSA specialists</a:t>
            </a:r>
            <a:endParaRPr lang="en-US" sz="1600" dirty="0"/>
          </a:p>
        </p:txBody>
      </p:sp>
      <p:sp>
        <p:nvSpPr>
          <p:cNvPr id="20" name="Text 18"/>
          <p:cNvSpPr txBox="1"/>
          <p:nvPr/>
        </p:nvSpPr>
        <p:spPr>
          <a:xfrm>
            <a:off x="6390437" y="3429000"/>
            <a:ext cx="2240280" cy="731520"/>
          </a:xfrm>
          <a:prstGeom prst="rect">
            <a:avLst/>
          </a:prstGeom>
          <a:noFill/>
          <a:ln/>
        </p:spPr>
        <p:txBody>
          <a:bodyPr wrap="square" lIns="0" tIns="0" rIns="0" bIns="0" rtlCol="0" anchor="t"/>
          <a:lstStyle/>
          <a:p>
            <a:pPr indent="0" marL="0">
              <a:buNone/>
            </a:pPr>
            <a:r>
              <a:rPr lang="en-US" sz="1400" dirty="0">
                <a:solidFill>
                  <a:schemeClr val="tx1"/>
                </a:solidFill>
              </a:rPr>
              <a:t>government · home &amp; utilities · financial · health &amp; family</a:t>
            </a:r>
            <a:endParaRPr lang="en-US" sz="1400" dirty="0"/>
          </a:p>
        </p:txBody>
      </p:sp>
      <p:sp>
        <p:nvSpPr>
          <p:cNvPr id="21" name="Text 19"/>
          <p:cNvSpPr txBox="1"/>
          <p:nvPr/>
        </p:nvSpPr>
        <p:spPr>
          <a:xfrm>
            <a:off x="6390437" y="4206240"/>
            <a:ext cx="2240280" cy="320040"/>
          </a:xfrm>
          <a:prstGeom prst="rect">
            <a:avLst/>
          </a:prstGeom>
          <a:noFill/>
          <a:ln/>
        </p:spPr>
        <p:txBody>
          <a:bodyPr wrap="square" lIns="0" tIns="0" rIns="0" bIns="0" rtlCol="0" anchor="t"/>
          <a:lstStyle/>
          <a:p>
            <a:pPr indent="0" marL="0">
              <a:buNone/>
            </a:pPr>
            <a:r>
              <a:rPr lang="en-US" sz="1200" i="1" dirty="0">
                <a:solidFill>
                  <a:schemeClr val="accent1"/>
                </a:solidFill>
              </a:rPr>
              <a:t>each decides if a task is theirs</a:t>
            </a:r>
            <a:endParaRPr lang="en-US" sz="1200" dirty="0"/>
          </a:p>
        </p:txBody>
      </p:sp>
      <p:sp>
        <p:nvSpPr>
          <p:cNvPr id="22" name="drop 3"/>
          <p:cNvSpPr/>
          <p:nvPr/>
        </p:nvSpPr>
        <p:spPr>
          <a:xfrm>
            <a:off x="10340035" y="2606040"/>
            <a:ext cx="0" cy="320040"/>
          </a:xfrm>
          <a:prstGeom prst="line">
            <a:avLst/>
          </a:prstGeom>
          <a:noFill/>
          <a:ln w="19050">
            <a:solidFill>
              <a:srgbClr val="8AB0A8"/>
            </a:solidFill>
            <a:prstDash val="solid"/>
          </a:ln>
        </p:spPr>
      </p:sp>
      <p:sp>
        <p:nvSpPr>
          <p:cNvPr id="23" name="group 3"/>
          <p:cNvSpPr/>
          <p:nvPr/>
        </p:nvSpPr>
        <p:spPr>
          <a:xfrm>
            <a:off x="9037015" y="2926080"/>
            <a:ext cx="2606040" cy="1691640"/>
          </a:xfrm>
          <a:prstGeom prst="roundRect">
            <a:avLst>
              <a:gd name="adj" fmla="val 4324"/>
            </a:avLst>
          </a:prstGeom>
          <a:solidFill>
            <a:schemeClr val="bg2"/>
          </a:solidFill>
          <a:ln w="12700">
            <a:solidFill>
              <a:schemeClr val="bg2"/>
            </a:solidFill>
            <a:prstDash val="solid"/>
          </a:ln>
        </p:spPr>
      </p:sp>
      <p:sp>
        <p:nvSpPr>
          <p:cNvPr id="24" name="Text 22"/>
          <p:cNvSpPr txBox="1"/>
          <p:nvPr/>
        </p:nvSpPr>
        <p:spPr>
          <a:xfrm>
            <a:off x="9219895" y="3035808"/>
            <a:ext cx="2240280" cy="365760"/>
          </a:xfrm>
          <a:prstGeom prst="rect">
            <a:avLst/>
          </a:prstGeom>
          <a:noFill/>
          <a:ln/>
        </p:spPr>
        <p:txBody>
          <a:bodyPr wrap="square" lIns="0" tIns="0" rIns="0" bIns="0" rtlCol="0" anchor="t"/>
          <a:lstStyle/>
          <a:p>
            <a:pPr indent="0" marL="0">
              <a:buNone/>
            </a:pPr>
            <a:r>
              <a:rPr lang="en-US" sz="1600" b="1" dirty="0">
                <a:solidFill>
                  <a:schemeClr val="tx2"/>
                </a:solidFill>
              </a:rPr>
              <a:t>Delivery</a:t>
            </a:r>
            <a:endParaRPr lang="en-US" sz="1600" dirty="0"/>
          </a:p>
        </p:txBody>
      </p:sp>
      <p:sp>
        <p:nvSpPr>
          <p:cNvPr id="25" name="Text 23"/>
          <p:cNvSpPr txBox="1"/>
          <p:nvPr/>
        </p:nvSpPr>
        <p:spPr>
          <a:xfrm>
            <a:off x="9219895" y="3429000"/>
            <a:ext cx="2240280" cy="731520"/>
          </a:xfrm>
          <a:prstGeom prst="rect">
            <a:avLst/>
          </a:prstGeom>
          <a:noFill/>
          <a:ln/>
        </p:spPr>
        <p:txBody>
          <a:bodyPr wrap="square" lIns="0" tIns="0" rIns="0" bIns="0" rtlCol="0" anchor="t"/>
          <a:lstStyle/>
          <a:p>
            <a:pPr indent="0" marL="0">
              <a:buNone/>
            </a:pPr>
            <a:r>
              <a:rPr lang="en-US" sz="1400" dirty="0">
                <a:solidFill>
                  <a:schemeClr val="tx1"/>
                </a:solidFill>
              </a:rPr>
              <a:t>comms · tracker · reply agent</a:t>
            </a:r>
            <a:endParaRPr lang="en-US" sz="1400" dirty="0"/>
          </a:p>
        </p:txBody>
      </p:sp>
      <p:sp>
        <p:nvSpPr>
          <p:cNvPr id="26" name="Text 24"/>
          <p:cNvSpPr txBox="1"/>
          <p:nvPr/>
        </p:nvSpPr>
        <p:spPr>
          <a:xfrm>
            <a:off x="9219895" y="4206240"/>
            <a:ext cx="2240280" cy="320040"/>
          </a:xfrm>
          <a:prstGeom prst="rect">
            <a:avLst/>
          </a:prstGeom>
          <a:noFill/>
          <a:ln/>
        </p:spPr>
        <p:txBody>
          <a:bodyPr wrap="square" lIns="0" tIns="0" rIns="0" bIns="0" rtlCol="0" anchor="t"/>
          <a:lstStyle/>
          <a:p>
            <a:pPr indent="0" marL="0">
              <a:buNone/>
            </a:pPr>
            <a:r>
              <a:rPr lang="en-US" sz="1200" i="1" dirty="0">
                <a:solidFill>
                  <a:schemeClr val="accent1"/>
                </a:solidFill>
              </a:rPr>
              <a:t>drafts, approval codes, send, replan</a:t>
            </a:r>
            <a:endParaRPr lang="en-US" sz="1200" dirty="0"/>
          </a:p>
        </p:txBody>
      </p:sp>
      <p:sp>
        <p:nvSpPr>
          <p:cNvPr id="27" name="state"/>
          <p:cNvSpPr/>
          <p:nvPr/>
        </p:nvSpPr>
        <p:spPr>
          <a:xfrm>
            <a:off x="548640" y="4937760"/>
            <a:ext cx="11094415" cy="109728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28" name="Text 26"/>
          <p:cNvSpPr txBox="1"/>
          <p:nvPr/>
        </p:nvSpPr>
        <p:spPr>
          <a:xfrm>
            <a:off x="822960" y="4937760"/>
            <a:ext cx="10545775" cy="1097280"/>
          </a:xfrm>
          <a:prstGeom prst="rect">
            <a:avLst/>
          </a:prstGeom>
          <a:noFill/>
          <a:ln/>
        </p:spPr>
        <p:txBody>
          <a:bodyPr wrap="square" lIns="0" tIns="0" rIns="0" bIns="0" rtlCol="0" anchor="ctr"/>
          <a:lstStyle/>
          <a:p>
            <a:pPr indent="0" marL="0">
              <a:buNone/>
            </a:pPr>
            <a:r>
              <a:rPr lang="en-US" sz="1500" b="1" dirty="0">
                <a:solidFill>
                  <a:schemeClr val="tx2"/>
                </a:solidFill>
              </a:rPr>
              <a:t>State lives on the server. </a:t>
            </a:r>
            <a:pPr indent="0" marL="0">
              <a:buNone/>
            </a:pPr>
            <a:r>
              <a:rPr lang="en-US" sz="1500" dirty="0">
                <a:solidFill>
                  <a:schemeClr val="tx1"/>
                </a:solidFill>
              </a:rPr>
              <a:t>sly_data carries only a signed session token; every coded tool reloads the case from an encrypted SQLite store, checks who owns it, and saves it back. The LLM sees redacted views and {{placeholders}}.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Trust is built into the code, not the prompt</a:t>
            </a:r>
            <a:endParaRPr lang="en-US" sz="3400" dirty="0"/>
          </a:p>
        </p:txBody>
      </p:sp>
      <p:sp>
        <p:nvSpPr>
          <p:cNvPr id="3" name="trust 0"/>
          <p:cNvSpPr/>
          <p:nvPr/>
        </p:nvSpPr>
        <p:spPr>
          <a:xfrm>
            <a:off x="548640" y="1508760"/>
            <a:ext cx="34747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4" name="The server holds the state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The server holds the state icon" descr="The server holds the state">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00200" y="1691640"/>
            <a:ext cx="2240280" cy="685800"/>
          </a:xfrm>
          <a:prstGeom prst="rect">
            <a:avLst/>
          </a:prstGeom>
          <a:noFill/>
          <a:ln/>
        </p:spPr>
        <p:txBody>
          <a:bodyPr wrap="square" lIns="0" tIns="0" rIns="0" bIns="0" rtlCol="0" anchor="ctr"/>
          <a:lstStyle/>
          <a:p>
            <a:pPr indent="0" marL="0">
              <a:buNone/>
            </a:pPr>
            <a:r>
              <a:rPr lang="en-US" sz="1600" b="1" dirty="0">
                <a:solidFill>
                  <a:schemeClr val="tx2"/>
                </a:solidFill>
              </a:rPr>
              <a:t>The server holds the state</a:t>
            </a:r>
            <a:endParaRPr lang="en-US" sz="1600" dirty="0"/>
          </a:p>
        </p:txBody>
      </p:sp>
      <p:sp>
        <p:nvSpPr>
          <p:cNvPr id="7" name="Text 4"/>
          <p:cNvSpPr txBox="1"/>
          <p:nvPr/>
        </p:nvSpPr>
        <p:spPr>
          <a:xfrm>
            <a:off x="822960" y="2560320"/>
            <a:ext cx="2971800" cy="685800"/>
          </a:xfrm>
          <a:prstGeom prst="rect">
            <a:avLst/>
          </a:prstGeom>
          <a:noFill/>
          <a:ln/>
        </p:spPr>
        <p:txBody>
          <a:bodyPr wrap="square" lIns="0" tIns="0" rIns="0" bIns="0" rtlCol="0" anchor="t"/>
          <a:lstStyle/>
          <a:p>
            <a:pPr indent="0" marL="0">
              <a:buNone/>
            </a:pPr>
            <a:r>
              <a:rPr lang="en-US" sz="1400" dirty="0">
                <a:solidFill>
                  <a:schemeClr val="tx1"/>
                </a:solidFill>
              </a:rPr>
              <a:t>The client holds only a signed session; any state it sends is discarded</a:t>
            </a:r>
            <a:endParaRPr lang="en-US" sz="1400" dirty="0"/>
          </a:p>
        </p:txBody>
      </p:sp>
      <p:sp>
        <p:nvSpPr>
          <p:cNvPr id="8" name="trust 1"/>
          <p:cNvSpPr/>
          <p:nvPr/>
        </p:nvSpPr>
        <p:spPr>
          <a:xfrm>
            <a:off x="4325112" y="1508760"/>
            <a:ext cx="34747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9" name="You open only your own case circle"/>
          <p:cNvSpPr/>
          <p:nvPr/>
        </p:nvSpPr>
        <p:spPr>
          <a:xfrm>
            <a:off x="4599432" y="1691640"/>
            <a:ext cx="640080" cy="640080"/>
          </a:xfrm>
          <a:prstGeom prst="ellipse">
            <a:avLst/>
          </a:prstGeom>
          <a:solidFill>
            <a:schemeClr val="accent1"/>
          </a:solidFill>
          <a:ln w="12700">
            <a:solidFill>
              <a:schemeClr val="accent1"/>
            </a:solidFill>
            <a:prstDash val="solid"/>
          </a:ln>
        </p:spPr>
      </p:sp>
      <p:pic>
        <p:nvPicPr>
          <p:cNvPr id="10" name="You open only your own case icon" descr="You open only your own case">    </p:cNvPr>
          <p:cNvPicPr>
            <a:picLocks noChangeAspect="1"/>
          </p:cNvPicPr>
          <p:nvPr/>
        </p:nvPicPr>
        <p:blipFill>
          <a:blip r:embed="rId2"/>
          <a:stretch>
            <a:fillRect/>
          </a:stretch>
        </p:blipFill>
        <p:spPr>
          <a:xfrm>
            <a:off x="4759452" y="1851660"/>
            <a:ext cx="320040" cy="320040"/>
          </a:xfrm>
          <a:prstGeom prst="rect">
            <a:avLst/>
          </a:prstGeom>
        </p:spPr>
      </p:pic>
      <p:sp>
        <p:nvSpPr>
          <p:cNvPr id="11" name="Text 7"/>
          <p:cNvSpPr txBox="1"/>
          <p:nvPr/>
        </p:nvSpPr>
        <p:spPr>
          <a:xfrm>
            <a:off x="5376672" y="1691640"/>
            <a:ext cx="2240280" cy="685800"/>
          </a:xfrm>
          <a:prstGeom prst="rect">
            <a:avLst/>
          </a:prstGeom>
          <a:noFill/>
          <a:ln/>
        </p:spPr>
        <p:txBody>
          <a:bodyPr wrap="square" lIns="0" tIns="0" rIns="0" bIns="0" rtlCol="0" anchor="ctr"/>
          <a:lstStyle/>
          <a:p>
            <a:pPr indent="0" marL="0">
              <a:buNone/>
            </a:pPr>
            <a:r>
              <a:rPr lang="en-US" sz="1600" b="1" dirty="0">
                <a:solidFill>
                  <a:schemeClr val="tx2"/>
                </a:solidFill>
              </a:rPr>
              <a:t>You open only your own case</a:t>
            </a:r>
            <a:endParaRPr lang="en-US" sz="1600" dirty="0"/>
          </a:p>
        </p:txBody>
      </p:sp>
      <p:sp>
        <p:nvSpPr>
          <p:cNvPr id="12" name="Text 8"/>
          <p:cNvSpPr txBox="1"/>
          <p:nvPr/>
        </p:nvSpPr>
        <p:spPr>
          <a:xfrm>
            <a:off x="4599432" y="2560320"/>
            <a:ext cx="2971800" cy="685800"/>
          </a:xfrm>
          <a:prstGeom prst="rect">
            <a:avLst/>
          </a:prstGeom>
          <a:noFill/>
          <a:ln/>
        </p:spPr>
        <p:txBody>
          <a:bodyPr wrap="square" lIns="0" tIns="0" rIns="0" bIns="0" rtlCol="0" anchor="t"/>
          <a:lstStyle/>
          <a:p>
            <a:pPr indent="0" marL="0">
              <a:buNone/>
            </a:pPr>
            <a:r>
              <a:rPr lang="en-US" sz="1400" dirty="0">
                <a:solidFill>
                  <a:schemeClr val="tx1"/>
                </a:solidFill>
              </a:rPr>
              <a:t>Signed sessions, ownership checks, unguessable case IDs</a:t>
            </a:r>
            <a:endParaRPr lang="en-US" sz="1400" dirty="0"/>
          </a:p>
        </p:txBody>
      </p:sp>
      <p:sp>
        <p:nvSpPr>
          <p:cNvPr id="13" name="trust 2"/>
          <p:cNvSpPr/>
          <p:nvPr/>
        </p:nvSpPr>
        <p:spPr>
          <a:xfrm>
            <a:off x="8101584" y="1508760"/>
            <a:ext cx="34747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14" name="Names and numbers stay out of the LLM circle"/>
          <p:cNvSpPr/>
          <p:nvPr/>
        </p:nvSpPr>
        <p:spPr>
          <a:xfrm>
            <a:off x="8375904" y="1691640"/>
            <a:ext cx="640080" cy="640080"/>
          </a:xfrm>
          <a:prstGeom prst="ellipse">
            <a:avLst/>
          </a:prstGeom>
          <a:solidFill>
            <a:schemeClr val="accent1"/>
          </a:solidFill>
          <a:ln w="12700">
            <a:solidFill>
              <a:schemeClr val="accent1"/>
            </a:solidFill>
            <a:prstDash val="solid"/>
          </a:ln>
        </p:spPr>
      </p:sp>
      <p:pic>
        <p:nvPicPr>
          <p:cNvPr id="15" name="Names and numbers stay out of the LLM icon" descr="Names and numbers stay out of the LLM">    </p:cNvPr>
          <p:cNvPicPr>
            <a:picLocks noChangeAspect="1"/>
          </p:cNvPicPr>
          <p:nvPr/>
        </p:nvPicPr>
        <p:blipFill>
          <a:blip r:embed="rId3"/>
          <a:stretch>
            <a:fillRect/>
          </a:stretch>
        </p:blipFill>
        <p:spPr>
          <a:xfrm>
            <a:off x="8535924" y="1851660"/>
            <a:ext cx="320040" cy="320040"/>
          </a:xfrm>
          <a:prstGeom prst="rect">
            <a:avLst/>
          </a:prstGeom>
        </p:spPr>
      </p:pic>
      <p:sp>
        <p:nvSpPr>
          <p:cNvPr id="16" name="Text 11"/>
          <p:cNvSpPr txBox="1"/>
          <p:nvPr/>
        </p:nvSpPr>
        <p:spPr>
          <a:xfrm>
            <a:off x="9153144" y="1691640"/>
            <a:ext cx="2240280" cy="685800"/>
          </a:xfrm>
          <a:prstGeom prst="rect">
            <a:avLst/>
          </a:prstGeom>
          <a:noFill/>
          <a:ln/>
        </p:spPr>
        <p:txBody>
          <a:bodyPr wrap="square" lIns="0" tIns="0" rIns="0" bIns="0" rtlCol="0" anchor="ctr"/>
          <a:lstStyle/>
          <a:p>
            <a:pPr indent="0" marL="0">
              <a:buNone/>
            </a:pPr>
            <a:r>
              <a:rPr lang="en-US" sz="1600" b="1" dirty="0">
                <a:solidFill>
                  <a:schemeClr val="tx2"/>
                </a:solidFill>
              </a:rPr>
              <a:t>Names and numbers stay out of the LLM</a:t>
            </a:r>
            <a:endParaRPr lang="en-US" sz="1600" dirty="0"/>
          </a:p>
        </p:txBody>
      </p:sp>
      <p:sp>
        <p:nvSpPr>
          <p:cNvPr id="17" name="Text 12"/>
          <p:cNvSpPr txBox="1"/>
          <p:nvPr/>
        </p:nvSpPr>
        <p:spPr>
          <a:xfrm>
            <a:off x="8375904" y="2560320"/>
            <a:ext cx="2971800" cy="685800"/>
          </a:xfrm>
          <a:prstGeom prst="rect">
            <a:avLst/>
          </a:prstGeom>
          <a:noFill/>
          <a:ln/>
        </p:spPr>
        <p:txBody>
          <a:bodyPr wrap="square" lIns="0" tIns="0" rIns="0" bIns="0" rtlCol="0" anchor="t"/>
          <a:lstStyle/>
          <a:p>
            <a:pPr indent="0" marL="0">
              <a:buNone/>
            </a:pPr>
            <a:r>
              <a:rPr lang="en-US" sz="1400" dirty="0">
                <a:solidFill>
                  <a:schemeClr val="tx1"/>
                </a:solidFill>
              </a:rPr>
              <a:t>Drafts use {{placeholders}} that code fills in at send time</a:t>
            </a:r>
            <a:endParaRPr lang="en-US" sz="1400" dirty="0"/>
          </a:p>
        </p:txBody>
      </p:sp>
      <p:sp>
        <p:nvSpPr>
          <p:cNvPr id="18" name="trust 3"/>
          <p:cNvSpPr/>
          <p:nvPr/>
        </p:nvSpPr>
        <p:spPr>
          <a:xfrm>
            <a:off x="548640" y="3886200"/>
            <a:ext cx="34747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19" name="Encrypted at rest circle"/>
          <p:cNvSpPr/>
          <p:nvPr/>
        </p:nvSpPr>
        <p:spPr>
          <a:xfrm>
            <a:off x="822960" y="4069080"/>
            <a:ext cx="640080" cy="640080"/>
          </a:xfrm>
          <a:prstGeom prst="ellipse">
            <a:avLst/>
          </a:prstGeom>
          <a:solidFill>
            <a:schemeClr val="accent1"/>
          </a:solidFill>
          <a:ln w="12700">
            <a:solidFill>
              <a:schemeClr val="accent1"/>
            </a:solidFill>
            <a:prstDash val="solid"/>
          </a:ln>
        </p:spPr>
      </p:sp>
      <p:pic>
        <p:nvPicPr>
          <p:cNvPr id="20" name="Encrypted at rest icon" descr="Encrypted at rest">    </p:cNvPr>
          <p:cNvPicPr>
            <a:picLocks noChangeAspect="1"/>
          </p:cNvPicPr>
          <p:nvPr/>
        </p:nvPicPr>
        <p:blipFill>
          <a:blip r:embed="rId4"/>
          <a:stretch>
            <a:fillRect/>
          </a:stretch>
        </p:blipFill>
        <p:spPr>
          <a:xfrm>
            <a:off x="982980" y="4229100"/>
            <a:ext cx="320040" cy="320040"/>
          </a:xfrm>
          <a:prstGeom prst="rect">
            <a:avLst/>
          </a:prstGeom>
        </p:spPr>
      </p:pic>
      <p:sp>
        <p:nvSpPr>
          <p:cNvPr id="21" name="Text 15"/>
          <p:cNvSpPr txBox="1"/>
          <p:nvPr/>
        </p:nvSpPr>
        <p:spPr>
          <a:xfrm>
            <a:off x="1600200" y="4069080"/>
            <a:ext cx="2240280" cy="685800"/>
          </a:xfrm>
          <a:prstGeom prst="rect">
            <a:avLst/>
          </a:prstGeom>
          <a:noFill/>
          <a:ln/>
        </p:spPr>
        <p:txBody>
          <a:bodyPr wrap="square" lIns="0" tIns="0" rIns="0" bIns="0" rtlCol="0" anchor="ctr"/>
          <a:lstStyle/>
          <a:p>
            <a:pPr indent="0" marL="0">
              <a:buNone/>
            </a:pPr>
            <a:r>
              <a:rPr lang="en-US" sz="1600" b="1" dirty="0">
                <a:solidFill>
                  <a:schemeClr val="tx2"/>
                </a:solidFill>
              </a:rPr>
              <a:t>Encrypted at rest</a:t>
            </a:r>
            <a:endParaRPr lang="en-US" sz="1600" dirty="0"/>
          </a:p>
        </p:txBody>
      </p:sp>
      <p:sp>
        <p:nvSpPr>
          <p:cNvPr id="22" name="Text 16"/>
          <p:cNvSpPr txBox="1"/>
          <p:nvPr/>
        </p:nvSpPr>
        <p:spPr>
          <a:xfrm>
            <a:off x="822960" y="4937760"/>
            <a:ext cx="2971800" cy="685800"/>
          </a:xfrm>
          <a:prstGeom prst="rect">
            <a:avLst/>
          </a:prstGeom>
          <a:noFill/>
          <a:ln/>
        </p:spPr>
        <p:txBody>
          <a:bodyPr wrap="square" lIns="0" tIns="0" rIns="0" bIns="0" rtlCol="0" anchor="t"/>
          <a:lstStyle/>
          <a:p>
            <a:pPr indent="0" marL="0">
              <a:buNone/>
            </a:pPr>
            <a:r>
              <a:rPr lang="en-US" sz="1400" dirty="0">
                <a:solidFill>
                  <a:schemeClr val="tx1"/>
                </a:solidFill>
              </a:rPr>
              <a:t>Details, statements and plans encrypted; keys kept apart</a:t>
            </a:r>
            <a:endParaRPr lang="en-US" sz="1400" dirty="0"/>
          </a:p>
        </p:txBody>
      </p:sp>
      <p:sp>
        <p:nvSpPr>
          <p:cNvPr id="23" name="trust 4"/>
          <p:cNvSpPr/>
          <p:nvPr/>
        </p:nvSpPr>
        <p:spPr>
          <a:xfrm>
            <a:off x="4325112" y="3886200"/>
            <a:ext cx="34747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24" name="Statements kept out of the chat circle"/>
          <p:cNvSpPr/>
          <p:nvPr/>
        </p:nvSpPr>
        <p:spPr>
          <a:xfrm>
            <a:off x="4599432" y="4069080"/>
            <a:ext cx="640080" cy="640080"/>
          </a:xfrm>
          <a:prstGeom prst="ellipse">
            <a:avLst/>
          </a:prstGeom>
          <a:solidFill>
            <a:schemeClr val="accent1"/>
          </a:solidFill>
          <a:ln w="12700">
            <a:solidFill>
              <a:schemeClr val="accent1"/>
            </a:solidFill>
            <a:prstDash val="solid"/>
          </a:ln>
        </p:spPr>
      </p:sp>
      <p:pic>
        <p:nvPicPr>
          <p:cNvPr id="25" name="Statements kept out of the chat icon" descr="Statements kept out of the chat">    </p:cNvPr>
          <p:cNvPicPr>
            <a:picLocks noChangeAspect="1"/>
          </p:cNvPicPr>
          <p:nvPr/>
        </p:nvPicPr>
        <p:blipFill>
          <a:blip r:embed="rId5"/>
          <a:stretch>
            <a:fillRect/>
          </a:stretch>
        </p:blipFill>
        <p:spPr>
          <a:xfrm>
            <a:off x="4759452" y="4229100"/>
            <a:ext cx="320040" cy="320040"/>
          </a:xfrm>
          <a:prstGeom prst="rect">
            <a:avLst/>
          </a:prstGeom>
        </p:spPr>
      </p:pic>
      <p:sp>
        <p:nvSpPr>
          <p:cNvPr id="26" name="Text 19"/>
          <p:cNvSpPr txBox="1"/>
          <p:nvPr/>
        </p:nvSpPr>
        <p:spPr>
          <a:xfrm>
            <a:off x="5376672" y="4069080"/>
            <a:ext cx="2240280" cy="685800"/>
          </a:xfrm>
          <a:prstGeom prst="rect">
            <a:avLst/>
          </a:prstGeom>
          <a:noFill/>
          <a:ln/>
        </p:spPr>
        <p:txBody>
          <a:bodyPr wrap="square" lIns="0" tIns="0" rIns="0" bIns="0" rtlCol="0" anchor="ctr"/>
          <a:lstStyle/>
          <a:p>
            <a:pPr indent="0" marL="0">
              <a:buNone/>
            </a:pPr>
            <a:r>
              <a:rPr lang="en-US" sz="1600" b="1" dirty="0">
                <a:solidFill>
                  <a:schemeClr val="tx2"/>
                </a:solidFill>
              </a:rPr>
              <a:t>Statements kept out of the chat</a:t>
            </a:r>
            <a:endParaRPr lang="en-US" sz="1600" dirty="0"/>
          </a:p>
        </p:txBody>
      </p:sp>
      <p:sp>
        <p:nvSpPr>
          <p:cNvPr id="27" name="Text 20"/>
          <p:cNvSpPr txBox="1"/>
          <p:nvPr/>
        </p:nvSpPr>
        <p:spPr>
          <a:xfrm>
            <a:off x="4599432" y="4937760"/>
            <a:ext cx="2971800" cy="685800"/>
          </a:xfrm>
          <a:prstGeom prst="rect">
            <a:avLst/>
          </a:prstGeom>
          <a:noFill/>
          <a:ln/>
        </p:spPr>
        <p:txBody>
          <a:bodyPr wrap="square" lIns="0" tIns="0" rIns="0" bIns="0" rtlCol="0" anchor="t"/>
          <a:lstStyle/>
          <a:p>
            <a:pPr indent="0" marL="0">
              <a:buNone/>
            </a:pPr>
            <a:r>
              <a:rPr lang="en-US" sz="1400" dirty="0">
                <a:solidFill>
                  <a:schemeClr val="tx1"/>
                </a:solidFill>
              </a:rPr>
              <a:t>Uploaded to your own folder, read once, then deleted</a:t>
            </a:r>
            <a:endParaRPr lang="en-US" sz="1400" dirty="0"/>
          </a:p>
        </p:txBody>
      </p:sp>
      <p:sp>
        <p:nvSpPr>
          <p:cNvPr id="28" name="trust 5"/>
          <p:cNvSpPr/>
          <p:nvPr/>
        </p:nvSpPr>
        <p:spPr>
          <a:xfrm>
            <a:off x="8101584" y="3886200"/>
            <a:ext cx="34747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29" name="Consent the LLM cannot fake circle"/>
          <p:cNvSpPr/>
          <p:nvPr/>
        </p:nvSpPr>
        <p:spPr>
          <a:xfrm>
            <a:off x="8375904" y="4069080"/>
            <a:ext cx="640080" cy="640080"/>
          </a:xfrm>
          <a:prstGeom prst="ellipse">
            <a:avLst/>
          </a:prstGeom>
          <a:solidFill>
            <a:schemeClr val="accent1"/>
          </a:solidFill>
          <a:ln w="12700">
            <a:solidFill>
              <a:schemeClr val="accent1"/>
            </a:solidFill>
            <a:prstDash val="solid"/>
          </a:ln>
        </p:spPr>
      </p:sp>
      <p:pic>
        <p:nvPicPr>
          <p:cNvPr id="30" name="Consent the LLM cannot fake icon" descr="Consent the LLM cannot fake">    </p:cNvPr>
          <p:cNvPicPr>
            <a:picLocks noChangeAspect="1"/>
          </p:cNvPicPr>
          <p:nvPr/>
        </p:nvPicPr>
        <p:blipFill>
          <a:blip r:embed="rId6"/>
          <a:stretch>
            <a:fillRect/>
          </a:stretch>
        </p:blipFill>
        <p:spPr>
          <a:xfrm>
            <a:off x="8535924" y="4229100"/>
            <a:ext cx="320040" cy="320040"/>
          </a:xfrm>
          <a:prstGeom prst="rect">
            <a:avLst/>
          </a:prstGeom>
        </p:spPr>
      </p:pic>
      <p:sp>
        <p:nvSpPr>
          <p:cNvPr id="31" name="Text 23"/>
          <p:cNvSpPr txBox="1"/>
          <p:nvPr/>
        </p:nvSpPr>
        <p:spPr>
          <a:xfrm>
            <a:off x="9153144" y="4069080"/>
            <a:ext cx="2240280" cy="685800"/>
          </a:xfrm>
          <a:prstGeom prst="rect">
            <a:avLst/>
          </a:prstGeom>
          <a:noFill/>
          <a:ln/>
        </p:spPr>
        <p:txBody>
          <a:bodyPr wrap="square" lIns="0" tIns="0" rIns="0" bIns="0" rtlCol="0" anchor="ctr"/>
          <a:lstStyle/>
          <a:p>
            <a:pPr indent="0" marL="0">
              <a:buNone/>
            </a:pPr>
            <a:r>
              <a:rPr lang="en-US" sz="1600" b="1" dirty="0">
                <a:solidFill>
                  <a:schemeClr val="tx2"/>
                </a:solidFill>
              </a:rPr>
              <a:t>Consent the LLM cannot fake</a:t>
            </a:r>
            <a:endParaRPr lang="en-US" sz="1600" dirty="0"/>
          </a:p>
        </p:txBody>
      </p:sp>
      <p:sp>
        <p:nvSpPr>
          <p:cNvPr id="32" name="Text 24"/>
          <p:cNvSpPr txBox="1"/>
          <p:nvPr/>
        </p:nvSpPr>
        <p:spPr>
          <a:xfrm>
            <a:off x="8375904" y="4937760"/>
            <a:ext cx="2971800" cy="685800"/>
          </a:xfrm>
          <a:prstGeom prst="rect">
            <a:avLst/>
          </a:prstGeom>
          <a:noFill/>
          <a:ln/>
        </p:spPr>
        <p:txBody>
          <a:bodyPr wrap="square" lIns="0" tIns="0" rIns="0" bIns="0" rtlCol="0" anchor="t"/>
          <a:lstStyle/>
          <a:p>
            <a:pPr indent="0" marL="0">
              <a:buNone/>
            </a:pPr>
            <a:r>
              <a:rPr lang="en-US" sz="1400" dirty="0">
                <a:solidFill>
                  <a:schemeClr val="tx1"/>
                </a:solidFill>
              </a:rPr>
              <a:t>Approve in your signed-in app, or type a one-time code yourself</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Red-teamed, then hardened</a:t>
            </a:r>
            <a:endParaRPr lang="en-US" sz="3400" dirty="0"/>
          </a:p>
        </p:txBody>
      </p:sp>
      <p:sp>
        <p:nvSpPr>
          <p:cNvPr id="3" name="finding 0"/>
          <p:cNvSpPr/>
          <p:nvPr/>
        </p:nvSpPr>
        <p:spPr>
          <a:xfrm>
            <a:off x="548640" y="1371600"/>
            <a:ext cx="5394960" cy="3154680"/>
          </a:xfrm>
          <a:prstGeom prst="roundRect">
            <a:avLst>
              <a:gd name="adj" fmla="val 2319"/>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4" name="Found 0 circle"/>
          <p:cNvSpPr/>
          <p:nvPr/>
        </p:nvSpPr>
        <p:spPr>
          <a:xfrm>
            <a:off x="868680" y="1645920"/>
            <a:ext cx="640080" cy="640080"/>
          </a:xfrm>
          <a:prstGeom prst="ellipse">
            <a:avLst/>
          </a:prstGeom>
          <a:solidFill>
            <a:schemeClr val="accent6"/>
          </a:solidFill>
          <a:ln w="12700">
            <a:solidFill>
              <a:schemeClr val="accent6"/>
            </a:solidFill>
            <a:prstDash val="solid"/>
          </a:ln>
        </p:spPr>
      </p:sp>
      <p:pic>
        <p:nvPicPr>
          <p:cNvPr id="5" name="Found 0 icon" descr="Found 0">    </p:cNvPr>
          <p:cNvPicPr>
            <a:picLocks noChangeAspect="1"/>
          </p:cNvPicPr>
          <p:nvPr/>
        </p:nvPicPr>
        <p:blipFill>
          <a:blip r:embed="rId1"/>
          <a:stretch>
            <a:fillRect/>
          </a:stretch>
        </p:blipFill>
        <p:spPr>
          <a:xfrm>
            <a:off x="1028700" y="1805940"/>
            <a:ext cx="320040" cy="320040"/>
          </a:xfrm>
          <a:prstGeom prst="rect">
            <a:avLst/>
          </a:prstGeom>
        </p:spPr>
      </p:pic>
      <p:sp>
        <p:nvSpPr>
          <p:cNvPr id="6" name="Text 3"/>
          <p:cNvSpPr txBox="1"/>
          <p:nvPr/>
        </p:nvSpPr>
        <p:spPr>
          <a:xfrm>
            <a:off x="1691640" y="1645920"/>
            <a:ext cx="4023360" cy="6400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An approval code could be sprayed</a:t>
            </a:r>
            <a:endParaRPr lang="en-US" sz="1900" dirty="0"/>
          </a:p>
        </p:txBody>
      </p:sp>
      <p:sp>
        <p:nvSpPr>
          <p:cNvPr id="7" name="Text 4"/>
          <p:cNvSpPr txBox="1"/>
          <p:nvPr/>
        </p:nvSpPr>
        <p:spPr>
          <a:xfrm>
            <a:off x="914400" y="2468880"/>
            <a:ext cx="4663440" cy="777240"/>
          </a:xfrm>
          <a:prstGeom prst="rect">
            <a:avLst/>
          </a:prstGeom>
          <a:noFill/>
          <a:ln/>
        </p:spPr>
        <p:txBody>
          <a:bodyPr wrap="square" lIns="0" tIns="0" rIns="0" bIns="0" rtlCol="0" anchor="t"/>
          <a:lstStyle/>
          <a:p>
            <a:pPr indent="0" marL="0">
              <a:buNone/>
            </a:pPr>
            <a:r>
              <a:rPr lang="en-US" sz="1500" b="1" dirty="0">
                <a:solidFill>
                  <a:schemeClr val="accent6"/>
                </a:solidFill>
              </a:rPr>
              <a:t>Found  </a:t>
            </a:r>
            <a:pPr indent="0" marL="0">
              <a:buNone/>
            </a:pPr>
            <a:r>
              <a:rPr lang="en-US" sz="1500" dirty="0">
                <a:solidFill>
                  <a:schemeClr val="tx1"/>
                </a:solidFill>
              </a:rPr>
              <a:t>One pasted message listing every 6-digit number could confirm a code issued in the same turn, unseen.</a:t>
            </a:r>
            <a:endParaRPr lang="en-US" sz="1500" dirty="0"/>
          </a:p>
        </p:txBody>
      </p:sp>
      <p:sp>
        <p:nvSpPr>
          <p:cNvPr id="8" name="Text 5"/>
          <p:cNvSpPr txBox="1"/>
          <p:nvPr/>
        </p:nvSpPr>
        <p:spPr>
          <a:xfrm>
            <a:off x="914400" y="3337560"/>
            <a:ext cx="4663440" cy="1051560"/>
          </a:xfrm>
          <a:prstGeom prst="rect">
            <a:avLst/>
          </a:prstGeom>
          <a:noFill/>
          <a:ln/>
        </p:spPr>
        <p:txBody>
          <a:bodyPr wrap="square" lIns="0" tIns="0" rIns="0" bIns="0" rtlCol="0" anchor="t"/>
          <a:lstStyle/>
          <a:p>
            <a:pPr indent="0" marL="0">
              <a:buNone/>
            </a:pPr>
            <a:r>
              <a:rPr lang="en-US" sz="1500" b="1" dirty="0">
                <a:solidFill>
                  <a:schemeClr val="accent1"/>
                </a:solidFill>
              </a:rPr>
              <a:t>Fixed  </a:t>
            </a:r>
            <a:pPr indent="0" marL="0">
              <a:buNone/>
            </a:pPr>
            <a:r>
              <a:rPr lang="en-US" sz="1500" dirty="0">
                <a:solidFill>
                  <a:schemeClr val="tx1"/>
                </a:solidFill>
              </a:rPr>
              <a:t>Exactly one code per message, and a turn's message keeps its first timestamp. Two tests replay the attack.</a:t>
            </a:r>
            <a:endParaRPr lang="en-US" sz="1500" dirty="0"/>
          </a:p>
        </p:txBody>
      </p:sp>
      <p:sp>
        <p:nvSpPr>
          <p:cNvPr id="9" name="finding 1"/>
          <p:cNvSpPr/>
          <p:nvPr/>
        </p:nvSpPr>
        <p:spPr>
          <a:xfrm>
            <a:off x="6217920" y="1371600"/>
            <a:ext cx="5394960" cy="3154680"/>
          </a:xfrm>
          <a:prstGeom prst="roundRect">
            <a:avLst>
              <a:gd name="adj" fmla="val 2319"/>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10" name="Found 1 circle"/>
          <p:cNvSpPr/>
          <p:nvPr/>
        </p:nvSpPr>
        <p:spPr>
          <a:xfrm>
            <a:off x="6537960" y="1645920"/>
            <a:ext cx="640080" cy="640080"/>
          </a:xfrm>
          <a:prstGeom prst="ellipse">
            <a:avLst/>
          </a:prstGeom>
          <a:solidFill>
            <a:schemeClr val="accent6"/>
          </a:solidFill>
          <a:ln w="12700">
            <a:solidFill>
              <a:schemeClr val="accent6"/>
            </a:solidFill>
            <a:prstDash val="solid"/>
          </a:ln>
        </p:spPr>
      </p:sp>
      <p:pic>
        <p:nvPicPr>
          <p:cNvPr id="11" name="Found 1 icon" descr="Found 1">    </p:cNvPr>
          <p:cNvPicPr>
            <a:picLocks noChangeAspect="1"/>
          </p:cNvPicPr>
          <p:nvPr/>
        </p:nvPicPr>
        <p:blipFill>
          <a:blip r:embed="rId2"/>
          <a:stretch>
            <a:fillRect/>
          </a:stretch>
        </p:blipFill>
        <p:spPr>
          <a:xfrm>
            <a:off x="6697980" y="1805940"/>
            <a:ext cx="320040" cy="320040"/>
          </a:xfrm>
          <a:prstGeom prst="rect">
            <a:avLst/>
          </a:prstGeom>
        </p:spPr>
      </p:pic>
      <p:sp>
        <p:nvSpPr>
          <p:cNvPr id="12" name="Text 8"/>
          <p:cNvSpPr txBox="1"/>
          <p:nvPr/>
        </p:nvSpPr>
        <p:spPr>
          <a:xfrm>
            <a:off x="7360920" y="1645920"/>
            <a:ext cx="4023360" cy="6400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A legal duty could vanish silently</a:t>
            </a:r>
            <a:endParaRPr lang="en-US" sz="1900" dirty="0"/>
          </a:p>
        </p:txBody>
      </p:sp>
      <p:sp>
        <p:nvSpPr>
          <p:cNvPr id="13" name="Text 9"/>
          <p:cNvSpPr txBox="1"/>
          <p:nvPr/>
        </p:nvSpPr>
        <p:spPr>
          <a:xfrm>
            <a:off x="6583680" y="2468880"/>
            <a:ext cx="4663440" cy="777240"/>
          </a:xfrm>
          <a:prstGeom prst="rect">
            <a:avLst/>
          </a:prstGeom>
          <a:noFill/>
          <a:ln/>
        </p:spPr>
        <p:txBody>
          <a:bodyPr wrap="square" lIns="0" tIns="0" rIns="0" bIns="0" rtlCol="0" anchor="t"/>
          <a:lstStyle/>
          <a:p>
            <a:pPr indent="0" marL="0">
              <a:buNone/>
            </a:pPr>
            <a:r>
              <a:rPr lang="en-US" sz="1500" b="1" dirty="0">
                <a:solidFill>
                  <a:schemeClr val="accent6"/>
                </a:solidFill>
              </a:rPr>
              <a:t>Found  </a:t>
            </a:r>
            <a:pPr indent="0" marL="0">
              <a:buNone/>
            </a:pPr>
            <a:r>
              <a:rPr lang="en-US" sz="1500" dirty="0">
                <a:solidFill>
                  <a:schemeClr val="tx1"/>
                </a:solidFill>
              </a:rPr>
              <a:t>The model could pass "no licence" and the DVLA rule disappeared without a word.</a:t>
            </a:r>
            <a:endParaRPr lang="en-US" sz="1500" dirty="0"/>
          </a:p>
        </p:txBody>
      </p:sp>
      <p:sp>
        <p:nvSpPr>
          <p:cNvPr id="14" name="Text 10"/>
          <p:cNvSpPr txBox="1"/>
          <p:nvPr/>
        </p:nvSpPr>
        <p:spPr>
          <a:xfrm>
            <a:off x="6583680" y="3337560"/>
            <a:ext cx="4663440" cy="1051560"/>
          </a:xfrm>
          <a:prstGeom prst="rect">
            <a:avLst/>
          </a:prstGeom>
          <a:noFill/>
          <a:ln/>
        </p:spPr>
        <p:txBody>
          <a:bodyPr wrap="square" lIns="0" tIns="0" rIns="0" bIns="0" rtlCol="0" anchor="t"/>
          <a:lstStyle/>
          <a:p>
            <a:pPr indent="0" marL="0">
              <a:buNone/>
            </a:pPr>
            <a:r>
              <a:rPr lang="en-US" sz="1500" b="1" dirty="0">
                <a:solidFill>
                  <a:schemeClr val="accent1"/>
                </a:solidFill>
              </a:rPr>
              <a:t>Fixed  </a:t>
            </a:r>
            <a:pPr indent="0" marL="0">
              <a:buNone/>
            </a:pPr>
            <a:r>
              <a:rPr lang="en-US" sz="1500" dirty="0">
                <a:solidFill>
                  <a:schemeClr val="tx1"/>
                </a:solidFill>
              </a:rPr>
              <a:t>A false fact the payments or start form contradict becomes a question; every excluded legal duty is shown with its reason. Three tests.</a:t>
            </a:r>
            <a:endParaRPr lang="en-US" sz="1500" dirty="0"/>
          </a:p>
        </p:txBody>
      </p:sp>
      <p:sp>
        <p:nvSpPr>
          <p:cNvPr id="15" name="known limits"/>
          <p:cNvSpPr/>
          <p:nvPr/>
        </p:nvSpPr>
        <p:spPr>
          <a:xfrm>
            <a:off x="548640" y="4846320"/>
            <a:ext cx="11094415" cy="777240"/>
          </a:xfrm>
          <a:prstGeom prst="roundRect">
            <a:avLst>
              <a:gd name="adj" fmla="val 9412"/>
            </a:avLst>
          </a:prstGeom>
          <a:solidFill>
            <a:schemeClr val="bg2"/>
          </a:solidFill>
          <a:ln w="12700">
            <a:solidFill>
              <a:schemeClr val="bg2"/>
            </a:solidFill>
            <a:prstDash val="solid"/>
          </a:ln>
        </p:spPr>
      </p:sp>
      <p:sp>
        <p:nvSpPr>
          <p:cNvPr id="16" name="Text 12"/>
          <p:cNvSpPr txBox="1"/>
          <p:nvPr/>
        </p:nvSpPr>
        <p:spPr>
          <a:xfrm>
            <a:off x="822960" y="4846320"/>
            <a:ext cx="10545775" cy="777240"/>
          </a:xfrm>
          <a:prstGeom prst="rect">
            <a:avLst/>
          </a:prstGeom>
          <a:noFill/>
          <a:ln/>
        </p:spPr>
        <p:txBody>
          <a:bodyPr wrap="square" lIns="0" tIns="0" rIns="0" bIns="0" rtlCol="0" anchor="ctr"/>
          <a:lstStyle/>
          <a:p>
            <a:pPr indent="0" marL="0">
              <a:buNone/>
            </a:pPr>
            <a:r>
              <a:rPr lang="en-US" sz="1500" b="1" dirty="0">
                <a:solidFill>
                  <a:schemeClr val="tx2"/>
                </a:solidFill>
              </a:rPr>
              <a:t>Known limits, on the roadmap:  </a:t>
            </a:r>
            <a:pPr indent="0" marL="0">
              <a:buNone/>
            </a:pPr>
            <a:r>
              <a:rPr lang="en-US" sz="1500" dirty="0">
                <a:solidFill>
                  <a:schemeClr val="tx1"/>
                </a:solidFill>
              </a:rPr>
              <a:t>the server logs the session token with each request; postcodes reach the model for council lookups.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app always shows the next step</a:t>
            </a:r>
            <a:endParaRPr lang="en-US" sz="3400" dirty="0"/>
          </a:p>
        </p:txBody>
      </p:sp>
      <p:sp>
        <p:nvSpPr>
          <p:cNvPr id="3" name="stage Started"/>
          <p:cNvSpPr/>
          <p:nvPr/>
        </p:nvSpPr>
        <p:spPr>
          <a:xfrm>
            <a:off x="548640" y="1371600"/>
            <a:ext cx="1467351" cy="502920"/>
          </a:xfrm>
          <a:prstGeom prst="roundRect">
            <a:avLst>
              <a:gd name="adj" fmla="val 49091"/>
            </a:avLst>
          </a:prstGeom>
          <a:solidFill>
            <a:schemeClr val="accent1"/>
          </a:solidFill>
          <a:ln w="12700">
            <a:solidFill>
              <a:schemeClr val="accent1"/>
            </a:solidFill>
            <a:prstDash val="solid"/>
          </a:ln>
        </p:spPr>
      </p:sp>
      <p:sp>
        <p:nvSpPr>
          <p:cNvPr id="4" name="Text 2"/>
          <p:cNvSpPr txBox="1"/>
          <p:nvPr/>
        </p:nvSpPr>
        <p:spPr>
          <a:xfrm>
            <a:off x="548640" y="1371600"/>
            <a:ext cx="1467351" cy="502920"/>
          </a:xfrm>
          <a:prstGeom prst="rect">
            <a:avLst/>
          </a:prstGeom>
          <a:noFill/>
          <a:ln/>
        </p:spPr>
        <p:txBody>
          <a:bodyPr wrap="square" lIns="0" tIns="0" rIns="0" bIns="0" rtlCol="0" anchor="ctr"/>
          <a:lstStyle/>
          <a:p>
            <a:pPr algn="ctr" indent="0" marL="0">
              <a:buNone/>
            </a:pPr>
            <a:r>
              <a:rPr lang="en-US" sz="1400" dirty="0">
                <a:solidFill>
                  <a:schemeClr val="bg1"/>
                </a:solidFill>
              </a:rPr>
              <a:t>Started</a:t>
            </a:r>
            <a:endParaRPr lang="en-US" sz="1400" dirty="0"/>
          </a:p>
        </p:txBody>
      </p:sp>
      <p:sp>
        <p:nvSpPr>
          <p:cNvPr id="5" name="stage Plan ready"/>
          <p:cNvSpPr/>
          <p:nvPr/>
        </p:nvSpPr>
        <p:spPr>
          <a:xfrm>
            <a:off x="2153151" y="1371600"/>
            <a:ext cx="1467351"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2153151" y="1371600"/>
            <a:ext cx="1467351" cy="502920"/>
          </a:xfrm>
          <a:prstGeom prst="rect">
            <a:avLst/>
          </a:prstGeom>
          <a:noFill/>
          <a:ln/>
        </p:spPr>
        <p:txBody>
          <a:bodyPr wrap="square" lIns="0" tIns="0" rIns="0" bIns="0" rtlCol="0" anchor="ctr"/>
          <a:lstStyle/>
          <a:p>
            <a:pPr algn="ctr" indent="0" marL="0">
              <a:buNone/>
            </a:pPr>
            <a:r>
              <a:rPr lang="en-US" sz="1400" dirty="0">
                <a:solidFill>
                  <a:schemeClr val="bg1"/>
                </a:solidFill>
              </a:rPr>
              <a:t>Plan ready</a:t>
            </a:r>
            <a:endParaRPr lang="en-US" sz="1400" dirty="0"/>
          </a:p>
        </p:txBody>
      </p:sp>
      <p:sp>
        <p:nvSpPr>
          <p:cNvPr id="7" name="stage Drafts ready"/>
          <p:cNvSpPr/>
          <p:nvPr/>
        </p:nvSpPr>
        <p:spPr>
          <a:xfrm>
            <a:off x="3757661" y="1371600"/>
            <a:ext cx="1467351" cy="502920"/>
          </a:xfrm>
          <a:prstGeom prst="roundRect">
            <a:avLst>
              <a:gd name="adj" fmla="val 49091"/>
            </a:avLst>
          </a:prstGeom>
          <a:solidFill>
            <a:schemeClr val="accent2"/>
          </a:solidFill>
          <a:ln w="12700">
            <a:solidFill>
              <a:schemeClr val="accent2"/>
            </a:solidFill>
            <a:prstDash val="solid"/>
          </a:ln>
        </p:spPr>
      </p:sp>
      <p:sp>
        <p:nvSpPr>
          <p:cNvPr id="8" name="Text 6"/>
          <p:cNvSpPr txBox="1"/>
          <p:nvPr/>
        </p:nvSpPr>
        <p:spPr>
          <a:xfrm>
            <a:off x="3757661" y="1371600"/>
            <a:ext cx="1467351" cy="502920"/>
          </a:xfrm>
          <a:prstGeom prst="rect">
            <a:avLst/>
          </a:prstGeom>
          <a:noFill/>
          <a:ln/>
        </p:spPr>
        <p:txBody>
          <a:bodyPr wrap="square" lIns="0" tIns="0" rIns="0" bIns="0" rtlCol="0" anchor="ctr"/>
          <a:lstStyle/>
          <a:p>
            <a:pPr algn="ctr" indent="0" marL="0">
              <a:buNone/>
            </a:pPr>
            <a:r>
              <a:rPr lang="en-US" sz="1400" b="1" dirty="0">
                <a:solidFill>
                  <a:schemeClr val="bg1"/>
                </a:solidFill>
              </a:rPr>
              <a:t>Drafts ready</a:t>
            </a:r>
            <a:endParaRPr lang="en-US" sz="1400" dirty="0"/>
          </a:p>
        </p:txBody>
      </p:sp>
      <p:sp>
        <p:nvSpPr>
          <p:cNvPr id="9" name="stage Approved"/>
          <p:cNvSpPr/>
          <p:nvPr/>
        </p:nvSpPr>
        <p:spPr>
          <a:xfrm>
            <a:off x="5362172" y="1371600"/>
            <a:ext cx="1467351" cy="502920"/>
          </a:xfrm>
          <a:prstGeom prst="roundRect">
            <a:avLst>
              <a:gd name="adj" fmla="val 49091"/>
            </a:avLst>
          </a:prstGeom>
          <a:solidFill>
            <a:schemeClr val="bg2"/>
          </a:solidFill>
          <a:ln w="12700">
            <a:solidFill>
              <a:schemeClr val="bg2"/>
            </a:solidFill>
            <a:prstDash val="solid"/>
          </a:ln>
        </p:spPr>
      </p:sp>
      <p:sp>
        <p:nvSpPr>
          <p:cNvPr id="10" name="Text 8"/>
          <p:cNvSpPr txBox="1"/>
          <p:nvPr/>
        </p:nvSpPr>
        <p:spPr>
          <a:xfrm>
            <a:off x="5362172" y="1371600"/>
            <a:ext cx="1467351" cy="502920"/>
          </a:xfrm>
          <a:prstGeom prst="rect">
            <a:avLst/>
          </a:prstGeom>
          <a:noFill/>
          <a:ln/>
        </p:spPr>
        <p:txBody>
          <a:bodyPr wrap="square" lIns="0" tIns="0" rIns="0" bIns="0" rtlCol="0" anchor="ctr"/>
          <a:lstStyle/>
          <a:p>
            <a:pPr algn="ctr" indent="0" marL="0">
              <a:buNone/>
            </a:pPr>
            <a:r>
              <a:rPr lang="en-US" sz="1400" dirty="0">
                <a:solidFill>
                  <a:schemeClr val="tx1"/>
                </a:solidFill>
              </a:rPr>
              <a:t>Approved</a:t>
            </a:r>
            <a:endParaRPr lang="en-US" sz="1400" dirty="0"/>
          </a:p>
        </p:txBody>
      </p:sp>
      <p:sp>
        <p:nvSpPr>
          <p:cNvPr id="11" name="stage Sent"/>
          <p:cNvSpPr/>
          <p:nvPr/>
        </p:nvSpPr>
        <p:spPr>
          <a:xfrm>
            <a:off x="6966683" y="1371600"/>
            <a:ext cx="1467351" cy="502920"/>
          </a:xfrm>
          <a:prstGeom prst="roundRect">
            <a:avLst>
              <a:gd name="adj" fmla="val 49091"/>
            </a:avLst>
          </a:prstGeom>
          <a:solidFill>
            <a:schemeClr val="bg2"/>
          </a:solidFill>
          <a:ln w="12700">
            <a:solidFill>
              <a:schemeClr val="bg2"/>
            </a:solidFill>
            <a:prstDash val="solid"/>
          </a:ln>
        </p:spPr>
      </p:sp>
      <p:sp>
        <p:nvSpPr>
          <p:cNvPr id="12" name="Text 10"/>
          <p:cNvSpPr txBox="1"/>
          <p:nvPr/>
        </p:nvSpPr>
        <p:spPr>
          <a:xfrm>
            <a:off x="6966683" y="1371600"/>
            <a:ext cx="1467351" cy="502920"/>
          </a:xfrm>
          <a:prstGeom prst="rect">
            <a:avLst/>
          </a:prstGeom>
          <a:noFill/>
          <a:ln/>
        </p:spPr>
        <p:txBody>
          <a:bodyPr wrap="square" lIns="0" tIns="0" rIns="0" bIns="0" rtlCol="0" anchor="ctr"/>
          <a:lstStyle/>
          <a:p>
            <a:pPr algn="ctr" indent="0" marL="0">
              <a:buNone/>
            </a:pPr>
            <a:r>
              <a:rPr lang="en-US" sz="1400" dirty="0">
                <a:solidFill>
                  <a:schemeClr val="tx1"/>
                </a:solidFill>
              </a:rPr>
              <a:t>Sent</a:t>
            </a:r>
            <a:endParaRPr lang="en-US" sz="1400" dirty="0"/>
          </a:p>
        </p:txBody>
      </p:sp>
      <p:sp>
        <p:nvSpPr>
          <p:cNvPr id="13" name="stage Follow-up"/>
          <p:cNvSpPr/>
          <p:nvPr/>
        </p:nvSpPr>
        <p:spPr>
          <a:xfrm>
            <a:off x="8571194" y="1371600"/>
            <a:ext cx="1467351" cy="502920"/>
          </a:xfrm>
          <a:prstGeom prst="roundRect">
            <a:avLst>
              <a:gd name="adj" fmla="val 49091"/>
            </a:avLst>
          </a:prstGeom>
          <a:solidFill>
            <a:schemeClr val="bg2"/>
          </a:solidFill>
          <a:ln w="12700">
            <a:solidFill>
              <a:schemeClr val="bg2"/>
            </a:solidFill>
            <a:prstDash val="solid"/>
          </a:ln>
        </p:spPr>
      </p:sp>
      <p:sp>
        <p:nvSpPr>
          <p:cNvPr id="14" name="Text 12"/>
          <p:cNvSpPr txBox="1"/>
          <p:nvPr/>
        </p:nvSpPr>
        <p:spPr>
          <a:xfrm>
            <a:off x="8571194" y="1371600"/>
            <a:ext cx="1467351" cy="502920"/>
          </a:xfrm>
          <a:prstGeom prst="rect">
            <a:avLst/>
          </a:prstGeom>
          <a:noFill/>
          <a:ln/>
        </p:spPr>
        <p:txBody>
          <a:bodyPr wrap="square" lIns="0" tIns="0" rIns="0" bIns="0" rtlCol="0" anchor="ctr"/>
          <a:lstStyle/>
          <a:p>
            <a:pPr algn="ctr" indent="0" marL="0">
              <a:buNone/>
            </a:pPr>
            <a:r>
              <a:rPr lang="en-US" sz="1400" dirty="0">
                <a:solidFill>
                  <a:schemeClr val="tx1"/>
                </a:solidFill>
              </a:rPr>
              <a:t>Follow-up</a:t>
            </a:r>
            <a:endParaRPr lang="en-US" sz="1400" dirty="0"/>
          </a:p>
        </p:txBody>
      </p:sp>
      <p:sp>
        <p:nvSpPr>
          <p:cNvPr id="15" name="stage Done"/>
          <p:cNvSpPr/>
          <p:nvPr/>
        </p:nvSpPr>
        <p:spPr>
          <a:xfrm>
            <a:off x="10175704" y="1371600"/>
            <a:ext cx="1467351" cy="502920"/>
          </a:xfrm>
          <a:prstGeom prst="roundRect">
            <a:avLst>
              <a:gd name="adj" fmla="val 49091"/>
            </a:avLst>
          </a:prstGeom>
          <a:solidFill>
            <a:schemeClr val="bg2"/>
          </a:solidFill>
          <a:ln w="12700">
            <a:solidFill>
              <a:schemeClr val="bg2"/>
            </a:solidFill>
            <a:prstDash val="solid"/>
          </a:ln>
        </p:spPr>
      </p:sp>
      <p:sp>
        <p:nvSpPr>
          <p:cNvPr id="16" name="Text 14"/>
          <p:cNvSpPr txBox="1"/>
          <p:nvPr/>
        </p:nvSpPr>
        <p:spPr>
          <a:xfrm>
            <a:off x="10175704" y="1371600"/>
            <a:ext cx="1467351" cy="502920"/>
          </a:xfrm>
          <a:prstGeom prst="rect">
            <a:avLst/>
          </a:prstGeom>
          <a:noFill/>
          <a:ln/>
        </p:spPr>
        <p:txBody>
          <a:bodyPr wrap="square" lIns="0" tIns="0" rIns="0" bIns="0" rtlCol="0" anchor="ctr"/>
          <a:lstStyle/>
          <a:p>
            <a:pPr algn="ctr" indent="0" marL="0">
              <a:buNone/>
            </a:pPr>
            <a:r>
              <a:rPr lang="en-US" sz="1400" dirty="0">
                <a:solidFill>
                  <a:schemeClr val="tx1"/>
                </a:solidFill>
              </a:rPr>
              <a:t>Done</a:t>
            </a:r>
            <a:endParaRPr lang="en-US" sz="1400" dirty="0"/>
          </a:p>
        </p:txBody>
      </p:sp>
      <p:sp>
        <p:nvSpPr>
          <p:cNvPr id="17" name="app 0"/>
          <p:cNvSpPr/>
          <p:nvPr/>
        </p:nvSpPr>
        <p:spPr>
          <a:xfrm>
            <a:off x="548640" y="2240280"/>
            <a:ext cx="5394960" cy="3108960"/>
          </a:xfrm>
          <a:prstGeom prst="roundRect">
            <a:avLst>
              <a:gd name="adj" fmla="val 2353"/>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18" name="Sent for you circle"/>
          <p:cNvSpPr/>
          <p:nvPr/>
        </p:nvSpPr>
        <p:spPr>
          <a:xfrm>
            <a:off x="868680" y="2468880"/>
            <a:ext cx="685800" cy="685800"/>
          </a:xfrm>
          <a:prstGeom prst="ellipse">
            <a:avLst/>
          </a:prstGeom>
          <a:solidFill>
            <a:schemeClr val="accent1"/>
          </a:solidFill>
          <a:ln w="12700">
            <a:solidFill>
              <a:schemeClr val="accent1"/>
            </a:solidFill>
            <a:prstDash val="solid"/>
          </a:ln>
        </p:spPr>
      </p:sp>
      <p:pic>
        <p:nvPicPr>
          <p:cNvPr id="19" name="Sent for you icon" descr="Sent for you">    </p:cNvPr>
          <p:cNvPicPr>
            <a:picLocks noChangeAspect="1"/>
          </p:cNvPicPr>
          <p:nvPr/>
        </p:nvPicPr>
        <p:blipFill>
          <a:blip r:embed="rId1"/>
          <a:stretch>
            <a:fillRect/>
          </a:stretch>
        </p:blipFill>
        <p:spPr>
          <a:xfrm>
            <a:off x="1040130" y="2640330"/>
            <a:ext cx="342900" cy="342900"/>
          </a:xfrm>
          <a:prstGeom prst="rect">
            <a:avLst/>
          </a:prstGeom>
        </p:spPr>
      </p:pic>
      <p:sp>
        <p:nvSpPr>
          <p:cNvPr id="20" name="Text 17"/>
          <p:cNvSpPr txBox="1"/>
          <p:nvPr/>
        </p:nvSpPr>
        <p:spPr>
          <a:xfrm>
            <a:off x="1737360" y="2468880"/>
            <a:ext cx="402336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Sent for you</a:t>
            </a:r>
            <a:endParaRPr lang="en-US" sz="2200" dirty="0"/>
          </a:p>
        </p:txBody>
      </p:sp>
      <p:sp>
        <p:nvSpPr>
          <p:cNvPr id="21" name="Text 18"/>
          <p:cNvSpPr txBox="1"/>
          <p:nvPr/>
        </p:nvSpPr>
        <p:spPr>
          <a:xfrm>
            <a:off x="914400" y="3337560"/>
            <a:ext cx="4754880" cy="20574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Complete emails with every reference known</a:t>
            </a:r>
            <a:endParaRPr lang="en-US" sz="1500" dirty="0"/>
          </a:p>
          <a:p>
            <a:pPr marL="203200" indent="-203200">
              <a:spcAft>
                <a:spcPts val="600"/>
              </a:spcAft>
              <a:buSzPct val="100000"/>
              <a:buChar char="•"/>
            </a:pPr>
            <a:r>
              <a:rPr lang="en-US" sz="1500" dirty="0">
                <a:solidFill>
                  <a:schemeClr val="tx1"/>
                </a:solidFill>
              </a:rPr>
              <a:t>Account, policy and licence numbers filled in from Direct Debits</a:t>
            </a:r>
            <a:endParaRPr lang="en-US" sz="1500" dirty="0"/>
          </a:p>
          <a:p>
            <a:pPr marL="203200" indent="-203200">
              <a:spcAft>
                <a:spcPts val="600"/>
              </a:spcAft>
              <a:buSzPct val="100000"/>
              <a:buChar char="•"/>
            </a:pPr>
            <a:r>
              <a:rPr lang="en-US" sz="1500" dirty="0">
                <a:solidFill>
                  <a:schemeClr val="tx1"/>
                </a:solidFill>
              </a:rPr>
              <a:t>Delivered to the organisation; replies come back here</a:t>
            </a:r>
            <a:endParaRPr lang="en-US" sz="1500" dirty="0"/>
          </a:p>
          <a:p>
            <a:pPr marL="203200" indent="-203200">
              <a:spcAft>
                <a:spcPts val="600"/>
              </a:spcAft>
              <a:buSzPct val="100000"/>
              <a:buChar char="•"/>
            </a:pPr>
            <a:r>
              <a:rPr lang="en-US" sz="1500" dirty="0">
                <a:solidFill>
                  <a:schemeClr val="tx1"/>
                </a:solidFill>
              </a:rPr>
              <a:t>The bank updates its own records</a:t>
            </a:r>
            <a:endParaRPr lang="en-US" sz="1500" dirty="0"/>
          </a:p>
        </p:txBody>
      </p:sp>
      <p:sp>
        <p:nvSpPr>
          <p:cNvPr id="22" name="app 1"/>
          <p:cNvSpPr/>
          <p:nvPr/>
        </p:nvSpPr>
        <p:spPr>
          <a:xfrm>
            <a:off x="6217920" y="2240280"/>
            <a:ext cx="5394960" cy="3108960"/>
          </a:xfrm>
          <a:prstGeom prst="roundRect">
            <a:avLst>
              <a:gd name="adj" fmla="val 2353"/>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23" name="Ready for you to send circle"/>
          <p:cNvSpPr/>
          <p:nvPr/>
        </p:nvSpPr>
        <p:spPr>
          <a:xfrm>
            <a:off x="6537960" y="2468880"/>
            <a:ext cx="685800" cy="685800"/>
          </a:xfrm>
          <a:prstGeom prst="ellipse">
            <a:avLst/>
          </a:prstGeom>
          <a:solidFill>
            <a:schemeClr val="accent2"/>
          </a:solidFill>
          <a:ln w="12700">
            <a:solidFill>
              <a:schemeClr val="accent2"/>
            </a:solidFill>
            <a:prstDash val="solid"/>
          </a:ln>
        </p:spPr>
      </p:sp>
      <p:pic>
        <p:nvPicPr>
          <p:cNvPr id="24" name="Ready for you to send icon" descr="Ready for you to send">    </p:cNvPr>
          <p:cNvPicPr>
            <a:picLocks noChangeAspect="1"/>
          </p:cNvPicPr>
          <p:nvPr/>
        </p:nvPicPr>
        <p:blipFill>
          <a:blip r:embed="rId2"/>
          <a:stretch>
            <a:fillRect/>
          </a:stretch>
        </p:blipFill>
        <p:spPr>
          <a:xfrm>
            <a:off x="6709410" y="2640330"/>
            <a:ext cx="342900" cy="342900"/>
          </a:xfrm>
          <a:prstGeom prst="rect">
            <a:avLst/>
          </a:prstGeom>
        </p:spPr>
      </p:pic>
      <p:sp>
        <p:nvSpPr>
          <p:cNvPr id="25" name="Text 21"/>
          <p:cNvSpPr txBox="1"/>
          <p:nvPr/>
        </p:nvSpPr>
        <p:spPr>
          <a:xfrm>
            <a:off x="7406640" y="2468880"/>
            <a:ext cx="402336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Ready for you to send</a:t>
            </a:r>
            <a:endParaRPr lang="en-US" sz="2200" dirty="0"/>
          </a:p>
        </p:txBody>
      </p:sp>
      <p:sp>
        <p:nvSpPr>
          <p:cNvPr id="26" name="Text 22"/>
          <p:cNvSpPr txBox="1"/>
          <p:nvPr/>
        </p:nvSpPr>
        <p:spPr>
          <a:xfrm>
            <a:off x="6583680" y="3337560"/>
            <a:ext cx="4754880" cy="20574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Forms, calls, or details only you have</a:t>
            </a:r>
            <a:endParaRPr lang="en-US" sz="1500" dirty="0"/>
          </a:p>
          <a:p>
            <a:pPr marL="203200" indent="-203200">
              <a:spcAft>
                <a:spcPts val="600"/>
              </a:spcAft>
              <a:buSzPct val="100000"/>
              <a:buChar char="•"/>
            </a:pPr>
            <a:r>
              <a:rPr lang="en-US" sz="1500" dirty="0">
                <a:solidFill>
                  <a:schemeClr val="tx1"/>
                </a:solidFill>
              </a:rPr>
              <a:t>Tap the letter: filled in with your details as you open it</a:t>
            </a:r>
            <a:endParaRPr lang="en-US" sz="1500" dirty="0"/>
          </a:p>
          <a:p>
            <a:pPr marL="203200" indent="-203200">
              <a:spcAft>
                <a:spcPts val="600"/>
              </a:spcAft>
              <a:buSzPct val="100000"/>
              <a:buChar char="•"/>
            </a:pPr>
            <a:r>
              <a:rPr lang="en-US" sz="1500" dirty="0">
                <a:solidFill>
                  <a:schemeClr val="tx1"/>
                </a:solidFill>
              </a:rPr>
              <a:t>What to add, then Copy text and Open the organisation's page</a:t>
            </a:r>
            <a:endParaRPr lang="en-US" sz="1500" dirty="0"/>
          </a:p>
          <a:p>
            <a:pPr marL="203200" indent="-203200">
              <a:spcAft>
                <a:spcPts val="600"/>
              </a:spcAft>
              <a:buSzPct val="100000"/>
              <a:buChar char="•"/>
            </a:pPr>
            <a:r>
              <a:rPr lang="en-US" sz="1500" dirty="0">
                <a:solidFill>
                  <a:schemeClr val="tx1"/>
                </a:solidFill>
              </a:rPr>
              <a:t>Tap "I've sent it" and the plan shows it as sent</a:t>
            </a:r>
            <a:endParaRPr lang="en-US" sz="1500" dirty="0"/>
          </a:p>
        </p:txBody>
      </p:sp>
      <p:sp>
        <p:nvSpPr>
          <p:cNvPr id="27" name="Text 23"/>
          <p:cNvSpPr txBox="1"/>
          <p:nvPr/>
        </p:nvSpPr>
        <p:spPr>
          <a:xfrm>
            <a:off x="548640" y="5669280"/>
            <a:ext cx="11094415" cy="457200"/>
          </a:xfrm>
          <a:prstGeom prst="rect">
            <a:avLst/>
          </a:prstGeom>
          <a:noFill/>
          <a:ln/>
        </p:spPr>
        <p:txBody>
          <a:bodyPr wrap="square" lIns="0" tIns="0" rIns="0" bIns="0" rtlCol="0" anchor="t"/>
          <a:lstStyle/>
          <a:p>
            <a:pPr indent="0" marL="0">
              <a:buNone/>
            </a:pPr>
            <a:r>
              <a:rPr lang="en-US" sz="1500" b="1" dirty="0">
                <a:solidFill>
                  <a:schemeClr val="accent2"/>
                </a:solidFill>
              </a:rPr>
              <a:t>Approve all </a:t>
            </a:r>
            <a:pPr indent="0" marL="0">
              <a:buNone/>
            </a:pPr>
            <a:r>
              <a:rPr lang="en-US" sz="1500" dirty="0">
                <a:solidFill>
                  <a:schemeClr val="tx1"/>
                </a:solidFill>
              </a:rPr>
              <a:t>covers routine letters only. Legal duties are approved one by one, and a reworded letter needs approving again.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Works across all four UK nations</a:t>
            </a:r>
            <a:endParaRPr lang="en-US" sz="3400" dirty="0"/>
          </a:p>
        </p:txBody>
      </p:sp>
      <p:sp>
        <p:nvSpPr>
          <p:cNvPr id="3" name="nation 0"/>
          <p:cNvSpPr/>
          <p:nvPr/>
        </p:nvSpPr>
        <p:spPr>
          <a:xfrm>
            <a:off x="548640" y="1371600"/>
            <a:ext cx="5394960" cy="1645920"/>
          </a:xfrm>
          <a:prstGeom prst="roundRect">
            <a:avLst>
              <a:gd name="adj" fmla="val 4444"/>
            </a:avLst>
          </a:prstGeom>
          <a:solidFill>
            <a:schemeClr val="bg2"/>
          </a:solidFill>
          <a:ln w="12700">
            <a:solidFill>
              <a:schemeClr val="bg2"/>
            </a:solidFill>
            <a:prstDash val="solid"/>
          </a:ln>
        </p:spPr>
      </p:sp>
      <p:sp>
        <p:nvSpPr>
          <p:cNvPr id="4" name="England circle"/>
          <p:cNvSpPr/>
          <p:nvPr/>
        </p:nvSpPr>
        <p:spPr>
          <a:xfrm>
            <a:off x="822960" y="1828800"/>
            <a:ext cx="731520" cy="731520"/>
          </a:xfrm>
          <a:prstGeom prst="ellipse">
            <a:avLst/>
          </a:prstGeom>
          <a:solidFill>
            <a:schemeClr val="accent1"/>
          </a:solidFill>
          <a:ln w="12700">
            <a:solidFill>
              <a:schemeClr val="accent1"/>
            </a:solidFill>
            <a:prstDash val="solid"/>
          </a:ln>
        </p:spPr>
      </p:sp>
      <p:pic>
        <p:nvPicPr>
          <p:cNvPr id="5" name="England icon" descr="England">    </p:cNvPr>
          <p:cNvPicPr>
            <a:picLocks noChangeAspect="1"/>
          </p:cNvPicPr>
          <p:nvPr/>
        </p:nvPicPr>
        <p:blipFill>
          <a:blip r:embed="rId1"/>
          <a:stretch>
            <a:fillRect/>
          </a:stretch>
        </p:blipFill>
        <p:spPr>
          <a:xfrm>
            <a:off x="1005840" y="2011680"/>
            <a:ext cx="365760" cy="365760"/>
          </a:xfrm>
          <a:prstGeom prst="rect">
            <a:avLst/>
          </a:prstGeom>
        </p:spPr>
      </p:pic>
      <p:sp>
        <p:nvSpPr>
          <p:cNvPr id="6" name="Text 3"/>
          <p:cNvSpPr txBox="1"/>
          <p:nvPr/>
        </p:nvSpPr>
        <p:spPr>
          <a:xfrm>
            <a:off x="1783080" y="1600200"/>
            <a:ext cx="3931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England</a:t>
            </a:r>
            <a:endParaRPr lang="en-US" sz="2000" dirty="0"/>
          </a:p>
        </p:txBody>
      </p:sp>
      <p:sp>
        <p:nvSpPr>
          <p:cNvPr id="7" name="Text 4"/>
          <p:cNvSpPr txBox="1"/>
          <p:nvPr/>
        </p:nvSpPr>
        <p:spPr>
          <a:xfrm>
            <a:off x="1783080" y="2057400"/>
            <a:ext cx="3931920" cy="868680"/>
          </a:xfrm>
          <a:prstGeom prst="rect">
            <a:avLst/>
          </a:prstGeom>
          <a:noFill/>
          <a:ln/>
        </p:spPr>
        <p:txBody>
          <a:bodyPr wrap="square" lIns="0" tIns="0" rIns="0" bIns="0" rtlCol="0" anchor="t"/>
          <a:lstStyle/>
          <a:p>
            <a:pPr indent="0" marL="0">
              <a:buNone/>
            </a:pPr>
            <a:r>
              <a:rPr lang="en-US" sz="1500" dirty="0">
                <a:solidFill>
                  <a:schemeClr val="tx1"/>
                </a:solidFill>
              </a:rPr>
              <a:t>Council tax, a water company for the old and new home, NHS GP and school search</a:t>
            </a:r>
            <a:endParaRPr lang="en-US" sz="1500" dirty="0"/>
          </a:p>
        </p:txBody>
      </p:sp>
      <p:sp>
        <p:nvSpPr>
          <p:cNvPr id="8" name="nation 1"/>
          <p:cNvSpPr/>
          <p:nvPr/>
        </p:nvSpPr>
        <p:spPr>
          <a:xfrm>
            <a:off x="6217920" y="1371600"/>
            <a:ext cx="5394960" cy="1645920"/>
          </a:xfrm>
          <a:prstGeom prst="roundRect">
            <a:avLst>
              <a:gd name="adj" fmla="val 4444"/>
            </a:avLst>
          </a:prstGeom>
          <a:solidFill>
            <a:schemeClr val="bg2"/>
          </a:solidFill>
          <a:ln w="12700">
            <a:solidFill>
              <a:schemeClr val="bg2"/>
            </a:solidFill>
            <a:prstDash val="solid"/>
          </a:ln>
        </p:spPr>
      </p:sp>
      <p:sp>
        <p:nvSpPr>
          <p:cNvPr id="9" name="Wales circle"/>
          <p:cNvSpPr/>
          <p:nvPr/>
        </p:nvSpPr>
        <p:spPr>
          <a:xfrm>
            <a:off x="6492240" y="1828800"/>
            <a:ext cx="731520" cy="731520"/>
          </a:xfrm>
          <a:prstGeom prst="ellipse">
            <a:avLst/>
          </a:prstGeom>
          <a:solidFill>
            <a:schemeClr val="accent1"/>
          </a:solidFill>
          <a:ln w="12700">
            <a:solidFill>
              <a:schemeClr val="accent1"/>
            </a:solidFill>
            <a:prstDash val="solid"/>
          </a:ln>
        </p:spPr>
      </p:sp>
      <p:pic>
        <p:nvPicPr>
          <p:cNvPr id="10" name="Wales icon" descr="Wales">    </p:cNvPr>
          <p:cNvPicPr>
            <a:picLocks noChangeAspect="1"/>
          </p:cNvPicPr>
          <p:nvPr/>
        </p:nvPicPr>
        <p:blipFill>
          <a:blip r:embed="rId2"/>
          <a:stretch>
            <a:fillRect/>
          </a:stretch>
        </p:blipFill>
        <p:spPr>
          <a:xfrm>
            <a:off x="6675120" y="2011680"/>
            <a:ext cx="365760" cy="365760"/>
          </a:xfrm>
          <a:prstGeom prst="rect">
            <a:avLst/>
          </a:prstGeom>
        </p:spPr>
      </p:pic>
      <p:sp>
        <p:nvSpPr>
          <p:cNvPr id="11" name="Text 7"/>
          <p:cNvSpPr txBox="1"/>
          <p:nvPr/>
        </p:nvSpPr>
        <p:spPr>
          <a:xfrm>
            <a:off x="7452360" y="1600200"/>
            <a:ext cx="3931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Wales</a:t>
            </a:r>
            <a:endParaRPr lang="en-US" sz="2000" dirty="0"/>
          </a:p>
        </p:txBody>
      </p:sp>
      <p:sp>
        <p:nvSpPr>
          <p:cNvPr id="12" name="Text 8"/>
          <p:cNvSpPr txBox="1"/>
          <p:nvPr/>
        </p:nvSpPr>
        <p:spPr>
          <a:xfrm>
            <a:off x="7452360" y="2057400"/>
            <a:ext cx="3931920" cy="868680"/>
          </a:xfrm>
          <a:prstGeom prst="rect">
            <a:avLst/>
          </a:prstGeom>
          <a:noFill/>
          <a:ln/>
        </p:spPr>
        <p:txBody>
          <a:bodyPr wrap="square" lIns="0" tIns="0" rIns="0" bIns="0" rtlCol="0" anchor="t"/>
          <a:lstStyle/>
          <a:p>
            <a:pPr indent="0" marL="0">
              <a:buNone/>
            </a:pPr>
            <a:r>
              <a:rPr lang="en-US" sz="1500" dirty="0">
                <a:solidFill>
                  <a:schemeClr val="tx1"/>
                </a:solidFill>
              </a:rPr>
              <a:t>Close the Welsh water account; Welsh GP and school finders signposted</a:t>
            </a:r>
            <a:endParaRPr lang="en-US" sz="1500" dirty="0"/>
          </a:p>
        </p:txBody>
      </p:sp>
      <p:sp>
        <p:nvSpPr>
          <p:cNvPr id="13" name="nation 2"/>
          <p:cNvSpPr/>
          <p:nvPr/>
        </p:nvSpPr>
        <p:spPr>
          <a:xfrm>
            <a:off x="548640" y="3246120"/>
            <a:ext cx="5394960" cy="1645920"/>
          </a:xfrm>
          <a:prstGeom prst="roundRect">
            <a:avLst>
              <a:gd name="adj" fmla="val 4444"/>
            </a:avLst>
          </a:prstGeom>
          <a:solidFill>
            <a:schemeClr val="bg2"/>
          </a:solidFill>
          <a:ln w="12700">
            <a:solidFill>
              <a:schemeClr val="bg2"/>
            </a:solidFill>
            <a:prstDash val="solid"/>
          </a:ln>
        </p:spPr>
      </p:sp>
      <p:sp>
        <p:nvSpPr>
          <p:cNvPr id="14" name="Scotland circle"/>
          <p:cNvSpPr/>
          <p:nvPr/>
        </p:nvSpPr>
        <p:spPr>
          <a:xfrm>
            <a:off x="822960" y="3703320"/>
            <a:ext cx="731520" cy="731520"/>
          </a:xfrm>
          <a:prstGeom prst="ellipse">
            <a:avLst/>
          </a:prstGeom>
          <a:solidFill>
            <a:schemeClr val="accent1"/>
          </a:solidFill>
          <a:ln w="12700">
            <a:solidFill>
              <a:schemeClr val="accent1"/>
            </a:solidFill>
            <a:prstDash val="solid"/>
          </a:ln>
        </p:spPr>
      </p:sp>
      <p:pic>
        <p:nvPicPr>
          <p:cNvPr id="15" name="Scotland icon" descr="Scotland">    </p:cNvPr>
          <p:cNvPicPr>
            <a:picLocks noChangeAspect="1"/>
          </p:cNvPicPr>
          <p:nvPr/>
        </p:nvPicPr>
        <p:blipFill>
          <a:blip r:embed="rId3"/>
          <a:stretch>
            <a:fillRect/>
          </a:stretch>
        </p:blipFill>
        <p:spPr>
          <a:xfrm>
            <a:off x="1005840" y="3886200"/>
            <a:ext cx="365760" cy="365760"/>
          </a:xfrm>
          <a:prstGeom prst="rect">
            <a:avLst/>
          </a:prstGeom>
        </p:spPr>
      </p:pic>
      <p:sp>
        <p:nvSpPr>
          <p:cNvPr id="16" name="Text 11"/>
          <p:cNvSpPr txBox="1"/>
          <p:nvPr/>
        </p:nvSpPr>
        <p:spPr>
          <a:xfrm>
            <a:off x="1783080" y="3474720"/>
            <a:ext cx="3931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Scotland</a:t>
            </a:r>
            <a:endParaRPr lang="en-US" sz="2000" dirty="0"/>
          </a:p>
        </p:txBody>
      </p:sp>
      <p:sp>
        <p:nvSpPr>
          <p:cNvPr id="17" name="Text 12"/>
          <p:cNvSpPr txBox="1"/>
          <p:nvPr/>
        </p:nvSpPr>
        <p:spPr>
          <a:xfrm>
            <a:off x="1783080" y="3931920"/>
            <a:ext cx="3931920" cy="868680"/>
          </a:xfrm>
          <a:prstGeom prst="rect">
            <a:avLst/>
          </a:prstGeom>
          <a:noFill/>
          <a:ln/>
        </p:spPr>
        <p:txBody>
          <a:bodyPr wrap="square" lIns="0" tIns="0" rIns="0" bIns="0" rtlCol="0" anchor="t"/>
          <a:lstStyle/>
          <a:p>
            <a:pPr indent="0" marL="0">
              <a:buNone/>
            </a:pPr>
            <a:r>
              <a:rPr lang="en-US" sz="1500" dirty="0">
                <a:solidFill>
                  <a:schemeClr val="tx1"/>
                </a:solidFill>
              </a:rPr>
              <a:t>Water billed with council tax, Scottish bank holidays, Scottish GP finder</a:t>
            </a:r>
            <a:endParaRPr lang="en-US" sz="1500" dirty="0"/>
          </a:p>
        </p:txBody>
      </p:sp>
      <p:sp>
        <p:nvSpPr>
          <p:cNvPr id="18" name="nation 3"/>
          <p:cNvSpPr/>
          <p:nvPr/>
        </p:nvSpPr>
        <p:spPr>
          <a:xfrm>
            <a:off x="6217920" y="3246120"/>
            <a:ext cx="5394960" cy="1645920"/>
          </a:xfrm>
          <a:prstGeom prst="roundRect">
            <a:avLst>
              <a:gd name="adj" fmla="val 4444"/>
            </a:avLst>
          </a:prstGeom>
          <a:solidFill>
            <a:schemeClr val="bg2"/>
          </a:solidFill>
          <a:ln w="12700">
            <a:solidFill>
              <a:schemeClr val="bg2"/>
            </a:solidFill>
            <a:prstDash val="solid"/>
          </a:ln>
        </p:spPr>
      </p:sp>
      <p:sp>
        <p:nvSpPr>
          <p:cNvPr id="19" name="Northern Ireland circle"/>
          <p:cNvSpPr/>
          <p:nvPr/>
        </p:nvSpPr>
        <p:spPr>
          <a:xfrm>
            <a:off x="6492240" y="3703320"/>
            <a:ext cx="731520" cy="731520"/>
          </a:xfrm>
          <a:prstGeom prst="ellipse">
            <a:avLst/>
          </a:prstGeom>
          <a:solidFill>
            <a:schemeClr val="accent1"/>
          </a:solidFill>
          <a:ln w="12700">
            <a:solidFill>
              <a:schemeClr val="accent1"/>
            </a:solidFill>
            <a:prstDash val="solid"/>
          </a:ln>
        </p:spPr>
      </p:sp>
      <p:pic>
        <p:nvPicPr>
          <p:cNvPr id="20" name="Northern Ireland icon" descr="Northern Ireland">    </p:cNvPr>
          <p:cNvPicPr>
            <a:picLocks noChangeAspect="1"/>
          </p:cNvPicPr>
          <p:nvPr/>
        </p:nvPicPr>
        <p:blipFill>
          <a:blip r:embed="rId4"/>
          <a:stretch>
            <a:fillRect/>
          </a:stretch>
        </p:blipFill>
        <p:spPr>
          <a:xfrm>
            <a:off x="6675120" y="3886200"/>
            <a:ext cx="365760" cy="365760"/>
          </a:xfrm>
          <a:prstGeom prst="rect">
            <a:avLst/>
          </a:prstGeom>
        </p:spPr>
      </p:pic>
      <p:sp>
        <p:nvSpPr>
          <p:cNvPr id="21" name="Text 15"/>
          <p:cNvSpPr txBox="1"/>
          <p:nvPr/>
        </p:nvSpPr>
        <p:spPr>
          <a:xfrm>
            <a:off x="7452360" y="3474720"/>
            <a:ext cx="3931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Northern Ireland</a:t>
            </a:r>
            <a:endParaRPr lang="en-US" sz="2000" dirty="0"/>
          </a:p>
        </p:txBody>
      </p:sp>
      <p:sp>
        <p:nvSpPr>
          <p:cNvPr id="22" name="Text 16"/>
          <p:cNvSpPr txBox="1"/>
          <p:nvPr/>
        </p:nvSpPr>
        <p:spPr>
          <a:xfrm>
            <a:off x="7452360" y="3931920"/>
            <a:ext cx="3931920" cy="868680"/>
          </a:xfrm>
          <a:prstGeom prst="rect">
            <a:avLst/>
          </a:prstGeom>
          <a:noFill/>
          <a:ln/>
        </p:spPr>
        <p:txBody>
          <a:bodyPr wrap="square" lIns="0" tIns="0" rIns="0" bIns="0" rtlCol="0" anchor="t"/>
          <a:lstStyle/>
          <a:p>
            <a:pPr indent="0" marL="0">
              <a:buNone/>
            </a:pPr>
            <a:r>
              <a:rPr lang="en-US" sz="1500" dirty="0">
                <a:solidFill>
                  <a:schemeClr val="tx1"/>
                </a:solidFill>
              </a:rPr>
              <a:t>Domestic rates through Land &amp; Property Services; NI licence route via DVLA</a:t>
            </a:r>
            <a:endParaRPr lang="en-US" sz="1500" dirty="0"/>
          </a:p>
        </p:txBody>
      </p:sp>
      <p:sp>
        <p:nvSpPr>
          <p:cNvPr id="23" name="Text 17"/>
          <p:cNvSpPr txBox="1"/>
          <p:nvPr/>
        </p:nvSpPr>
        <p:spPr>
          <a:xfrm>
            <a:off x="548640" y="5257800"/>
            <a:ext cx="11094415" cy="731520"/>
          </a:xfrm>
          <a:prstGeom prst="rect">
            <a:avLst/>
          </a:prstGeom>
          <a:noFill/>
          <a:ln/>
        </p:spPr>
        <p:txBody>
          <a:bodyPr wrap="square" lIns="0" tIns="0" rIns="0" bIns="0" rtlCol="0" anchor="t"/>
          <a:lstStyle/>
          <a:p>
            <a:pPr indent="0" marL="0">
              <a:buNone/>
            </a:pPr>
            <a:r>
              <a:rPr lang="en-US" sz="1500" b="1" dirty="0">
                <a:solidFill>
                  <a:schemeClr val="tx2"/>
                </a:solidFill>
              </a:rPr>
              <a:t>Tested routes:  </a:t>
            </a:r>
            <a:pPr indent="0" marL="0">
              <a:buNone/>
            </a:pPr>
            <a:r>
              <a:rPr lang="en-US" sz="1500" dirty="0">
                <a:solidFill>
                  <a:schemeClr val="tx1"/>
                </a:solidFill>
              </a:rPr>
              <a:t>Leeds → Harrogate, Halifax → Chelmsford, Glasgow → Darlington, Cardiff → Edinburgh, Belfast → Leeds, and a standalone Bristol → Nottingham move.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Who to contact near the new home</a:t>
            </a:r>
            <a:endParaRPr lang="en-US" sz="3400" dirty="0"/>
          </a:p>
        </p:txBody>
      </p:sp>
      <p:sp>
        <p:nvSpPr>
          <p:cNvPr id="3" name="local 0"/>
          <p:cNvSpPr/>
          <p:nvPr/>
        </p:nvSpPr>
        <p:spPr>
          <a:xfrm>
            <a:off x="548640" y="1371600"/>
            <a:ext cx="347472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4" name="GP practices circle"/>
          <p:cNvSpPr/>
          <p:nvPr/>
        </p:nvSpPr>
        <p:spPr>
          <a:xfrm>
            <a:off x="822960" y="1645920"/>
            <a:ext cx="731520" cy="731520"/>
          </a:xfrm>
          <a:prstGeom prst="ellipse">
            <a:avLst/>
          </a:prstGeom>
          <a:solidFill>
            <a:schemeClr val="accent1"/>
          </a:solidFill>
          <a:ln w="12700">
            <a:solidFill>
              <a:schemeClr val="accent1"/>
            </a:solidFill>
            <a:prstDash val="solid"/>
          </a:ln>
        </p:spPr>
      </p:sp>
      <p:pic>
        <p:nvPicPr>
          <p:cNvPr id="5" name="GP practices icon" descr="GP practices">    </p:cNvPr>
          <p:cNvPicPr>
            <a:picLocks noChangeAspect="1"/>
          </p:cNvPicPr>
          <p:nvPr/>
        </p:nvPicPr>
        <p:blipFill>
          <a:blip r:embed="rId1"/>
          <a:stretch>
            <a:fillRect/>
          </a:stretch>
        </p:blipFill>
        <p:spPr>
          <a:xfrm>
            <a:off x="1005840" y="1828800"/>
            <a:ext cx="365760" cy="365760"/>
          </a:xfrm>
          <a:prstGeom prst="rect">
            <a:avLst/>
          </a:prstGeom>
        </p:spPr>
      </p:pic>
      <p:sp>
        <p:nvSpPr>
          <p:cNvPr id="6" name="Text 3"/>
          <p:cNvSpPr txBox="1"/>
          <p:nvPr/>
        </p:nvSpPr>
        <p:spPr>
          <a:xfrm>
            <a:off x="1691640" y="1645920"/>
            <a:ext cx="219456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GP practices</a:t>
            </a:r>
            <a:endParaRPr lang="en-US" sz="2200" dirty="0"/>
          </a:p>
        </p:txBody>
      </p:sp>
      <p:sp>
        <p:nvSpPr>
          <p:cNvPr id="7" name="Text 4"/>
          <p:cNvSpPr txBox="1"/>
          <p:nvPr/>
        </p:nvSpPr>
        <p:spPr>
          <a:xfrm>
            <a:off x="822960" y="2560320"/>
            <a:ext cx="2971800" cy="548640"/>
          </a:xfrm>
          <a:prstGeom prst="rect">
            <a:avLst/>
          </a:prstGeom>
          <a:noFill/>
          <a:ln/>
        </p:spPr>
        <p:txBody>
          <a:bodyPr wrap="square" lIns="0" tIns="0" rIns="0" bIns="0" rtlCol="0" anchor="t"/>
          <a:lstStyle/>
          <a:p>
            <a:pPr indent="0" marL="0">
              <a:buNone/>
            </a:pPr>
            <a:r>
              <a:rPr lang="en-US" sz="1300" i="1" dirty="0">
                <a:solidFill>
                  <a:schemeClr val="accent1"/>
                </a:solidFill>
              </a:rPr>
              <a:t>NHS Organisation Data Service, live</a:t>
            </a:r>
            <a:endParaRPr lang="en-US" sz="1300" dirty="0"/>
          </a:p>
        </p:txBody>
      </p:sp>
      <p:sp>
        <p:nvSpPr>
          <p:cNvPr id="8" name="Text 5"/>
          <p:cNvSpPr txBox="1"/>
          <p:nvPr/>
        </p:nvSpPr>
        <p:spPr>
          <a:xfrm>
            <a:off x="822960" y="3200400"/>
            <a:ext cx="301752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Burton Croft Surgery · 0.2 km</a:t>
            </a:r>
            <a:endParaRPr lang="en-US" sz="1500" dirty="0"/>
          </a:p>
          <a:p>
            <a:pPr marL="203200" indent="-203200">
              <a:spcAft>
                <a:spcPts val="600"/>
              </a:spcAft>
              <a:buSzPct val="100000"/>
              <a:buChar char="•"/>
            </a:pPr>
            <a:r>
              <a:rPr lang="en-US" sz="1500" dirty="0">
                <a:solidFill>
                  <a:schemeClr val="tx1"/>
                </a:solidFill>
              </a:rPr>
              <a:t>Laurel Bank Surgery · 0.6 km</a:t>
            </a:r>
            <a:endParaRPr lang="en-US" sz="1500" dirty="0"/>
          </a:p>
          <a:p>
            <a:pPr marL="203200" indent="-203200">
              <a:spcAft>
                <a:spcPts val="600"/>
              </a:spcAft>
              <a:buSzPct val="100000"/>
              <a:buChar char="•"/>
            </a:pPr>
            <a:r>
              <a:rPr lang="en-US" sz="1500" dirty="0">
                <a:solidFill>
                  <a:schemeClr val="tx1"/>
                </a:solidFill>
              </a:rPr>
              <a:t>Meanwood Health Centre · 1.3 km</a:t>
            </a:r>
            <a:endParaRPr lang="en-US" sz="1500" dirty="0"/>
          </a:p>
        </p:txBody>
      </p:sp>
      <p:sp>
        <p:nvSpPr>
          <p:cNvPr id="9" name="local 1"/>
          <p:cNvSpPr/>
          <p:nvPr/>
        </p:nvSpPr>
        <p:spPr>
          <a:xfrm>
            <a:off x="4325112" y="1371600"/>
            <a:ext cx="347472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10" name="Schools circle"/>
          <p:cNvSpPr/>
          <p:nvPr/>
        </p:nvSpPr>
        <p:spPr>
          <a:xfrm>
            <a:off x="4599432" y="1645920"/>
            <a:ext cx="731520" cy="731520"/>
          </a:xfrm>
          <a:prstGeom prst="ellipse">
            <a:avLst/>
          </a:prstGeom>
          <a:solidFill>
            <a:schemeClr val="accent1"/>
          </a:solidFill>
          <a:ln w="12700">
            <a:solidFill>
              <a:schemeClr val="accent1"/>
            </a:solidFill>
            <a:prstDash val="solid"/>
          </a:ln>
        </p:spPr>
      </p:sp>
      <p:pic>
        <p:nvPicPr>
          <p:cNvPr id="11" name="Schools icon" descr="Schools">    </p:cNvPr>
          <p:cNvPicPr>
            <a:picLocks noChangeAspect="1"/>
          </p:cNvPicPr>
          <p:nvPr/>
        </p:nvPicPr>
        <p:blipFill>
          <a:blip r:embed="rId2"/>
          <a:stretch>
            <a:fillRect/>
          </a:stretch>
        </p:blipFill>
        <p:spPr>
          <a:xfrm>
            <a:off x="4782312" y="1828800"/>
            <a:ext cx="365760" cy="365760"/>
          </a:xfrm>
          <a:prstGeom prst="rect">
            <a:avLst/>
          </a:prstGeom>
        </p:spPr>
      </p:pic>
      <p:sp>
        <p:nvSpPr>
          <p:cNvPr id="12" name="Text 8"/>
          <p:cNvSpPr txBox="1"/>
          <p:nvPr/>
        </p:nvSpPr>
        <p:spPr>
          <a:xfrm>
            <a:off x="5468112" y="1645920"/>
            <a:ext cx="219456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Schools</a:t>
            </a:r>
            <a:endParaRPr lang="en-US" sz="2200" dirty="0"/>
          </a:p>
        </p:txBody>
      </p:sp>
      <p:sp>
        <p:nvSpPr>
          <p:cNvPr id="13" name="Text 9"/>
          <p:cNvSpPr txBox="1"/>
          <p:nvPr/>
        </p:nvSpPr>
        <p:spPr>
          <a:xfrm>
            <a:off x="4599432" y="2560320"/>
            <a:ext cx="2971800" cy="548640"/>
          </a:xfrm>
          <a:prstGeom prst="rect">
            <a:avLst/>
          </a:prstGeom>
          <a:noFill/>
          <a:ln/>
        </p:spPr>
        <p:txBody>
          <a:bodyPr wrap="square" lIns="0" tIns="0" rIns="0" bIns="0" rtlCol="0" anchor="t"/>
          <a:lstStyle/>
          <a:p>
            <a:pPr indent="0" marL="0">
              <a:buNone/>
            </a:pPr>
            <a:r>
              <a:rPr lang="en-US" sz="1300" i="1" dirty="0">
                <a:solidFill>
                  <a:schemeClr val="accent1"/>
                </a:solidFill>
              </a:rPr>
              <a:t>Department for Education, 26,483 schools</a:t>
            </a:r>
            <a:endParaRPr lang="en-US" sz="1300" dirty="0"/>
          </a:p>
        </p:txBody>
      </p:sp>
      <p:sp>
        <p:nvSpPr>
          <p:cNvPr id="14" name="Text 10"/>
          <p:cNvSpPr txBox="1"/>
          <p:nvPr/>
        </p:nvSpPr>
        <p:spPr>
          <a:xfrm>
            <a:off x="4599432" y="3200400"/>
            <a:ext cx="301752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Nearest schools for each child's age</a:t>
            </a:r>
            <a:endParaRPr lang="en-US" sz="1500" dirty="0"/>
          </a:p>
          <a:p>
            <a:pPr marL="203200" indent="-203200">
              <a:spcAft>
                <a:spcPts val="600"/>
              </a:spcAft>
              <a:buSzPct val="100000"/>
              <a:buChar char="•"/>
            </a:pPr>
            <a:r>
              <a:rPr lang="en-US" sz="1500" dirty="0">
                <a:solidFill>
                  <a:schemeClr val="tx1"/>
                </a:solidFill>
              </a:rPr>
              <a:t>Phone, website and distance</a:t>
            </a:r>
            <a:endParaRPr lang="en-US" sz="1500" dirty="0"/>
          </a:p>
          <a:p>
            <a:pPr marL="203200" indent="-203200">
              <a:spcAft>
                <a:spcPts val="600"/>
              </a:spcAft>
              <a:buSzPct val="100000"/>
              <a:buChar char="•"/>
            </a:pPr>
            <a:r>
              <a:rPr lang="en-US" sz="1500" dirty="0">
                <a:solidFill>
                  <a:schemeClr val="tx1"/>
                </a:solidFill>
              </a:rPr>
              <a:t>Council admissions and childcare links</a:t>
            </a:r>
            <a:endParaRPr lang="en-US" sz="1500" dirty="0"/>
          </a:p>
        </p:txBody>
      </p:sp>
      <p:sp>
        <p:nvSpPr>
          <p:cNvPr id="15" name="local 2"/>
          <p:cNvSpPr/>
          <p:nvPr/>
        </p:nvSpPr>
        <p:spPr>
          <a:xfrm>
            <a:off x="8101584" y="1371600"/>
            <a:ext cx="347472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1B2B2E">
                <a:alpha val="12000"/>
              </a:srgbClr>
            </a:outerShdw>
          </a:effectLst>
        </p:spPr>
      </p:sp>
      <p:sp>
        <p:nvSpPr>
          <p:cNvPr id="16" name="Water circle"/>
          <p:cNvSpPr/>
          <p:nvPr/>
        </p:nvSpPr>
        <p:spPr>
          <a:xfrm>
            <a:off x="8375904" y="1645920"/>
            <a:ext cx="731520" cy="731520"/>
          </a:xfrm>
          <a:prstGeom prst="ellipse">
            <a:avLst/>
          </a:prstGeom>
          <a:solidFill>
            <a:schemeClr val="accent1"/>
          </a:solidFill>
          <a:ln w="12700">
            <a:solidFill>
              <a:schemeClr val="accent1"/>
            </a:solidFill>
            <a:prstDash val="solid"/>
          </a:ln>
        </p:spPr>
      </p:sp>
      <p:pic>
        <p:nvPicPr>
          <p:cNvPr id="17" name="Water icon" descr="Water">    </p:cNvPr>
          <p:cNvPicPr>
            <a:picLocks noChangeAspect="1"/>
          </p:cNvPicPr>
          <p:nvPr/>
        </p:nvPicPr>
        <p:blipFill>
          <a:blip r:embed="rId3"/>
          <a:stretch>
            <a:fillRect/>
          </a:stretch>
        </p:blipFill>
        <p:spPr>
          <a:xfrm>
            <a:off x="8558784" y="1828800"/>
            <a:ext cx="365760" cy="365760"/>
          </a:xfrm>
          <a:prstGeom prst="rect">
            <a:avLst/>
          </a:prstGeom>
        </p:spPr>
      </p:pic>
      <p:sp>
        <p:nvSpPr>
          <p:cNvPr id="18" name="Text 13"/>
          <p:cNvSpPr txBox="1"/>
          <p:nvPr/>
        </p:nvSpPr>
        <p:spPr>
          <a:xfrm>
            <a:off x="9244584" y="1645920"/>
            <a:ext cx="219456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Water</a:t>
            </a:r>
            <a:endParaRPr lang="en-US" sz="2200" dirty="0"/>
          </a:p>
        </p:txBody>
      </p:sp>
      <p:sp>
        <p:nvSpPr>
          <p:cNvPr id="19" name="Text 14"/>
          <p:cNvSpPr txBox="1"/>
          <p:nvPr/>
        </p:nvSpPr>
        <p:spPr>
          <a:xfrm>
            <a:off x="8375904" y="2560320"/>
            <a:ext cx="2971800" cy="548640"/>
          </a:xfrm>
          <a:prstGeom prst="rect">
            <a:avLst/>
          </a:prstGeom>
          <a:noFill/>
          <a:ln/>
        </p:spPr>
        <p:txBody>
          <a:bodyPr wrap="square" lIns="0" tIns="0" rIns="0" bIns="0" rtlCol="0" anchor="t"/>
          <a:lstStyle/>
          <a:p>
            <a:pPr indent="0" marL="0">
              <a:buNone/>
            </a:pPr>
            <a:r>
              <a:rPr lang="en-US" sz="1300" i="1" dirty="0">
                <a:solidFill>
                  <a:schemeClr val="accent1"/>
                </a:solidFill>
              </a:rPr>
              <a:t>Ofwat's official area maps, live</a:t>
            </a:r>
            <a:endParaRPr lang="en-US" sz="1300" dirty="0"/>
          </a:p>
        </p:txBody>
      </p:sp>
      <p:sp>
        <p:nvSpPr>
          <p:cNvPr id="20" name="Text 15"/>
          <p:cNvSpPr txBox="1"/>
          <p:nvPr/>
        </p:nvSpPr>
        <p:spPr>
          <a:xfrm>
            <a:off x="8375904" y="3200400"/>
            <a:ext cx="301752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Yorkshire Water, confirmed</a:t>
            </a:r>
            <a:endParaRPr lang="en-US" sz="1500" dirty="0"/>
          </a:p>
          <a:p>
            <a:pPr marL="203200" indent="-203200">
              <a:spcAft>
                <a:spcPts val="600"/>
              </a:spcAft>
              <a:buSzPct val="100000"/>
              <a:buChar char="•"/>
            </a:pPr>
            <a:r>
              <a:rPr lang="en-US" sz="1500" dirty="0">
                <a:solidFill>
                  <a:schemeClr val="tx1"/>
                </a:solidFill>
              </a:rPr>
              <a:t>Water and sewerage named separately</a:t>
            </a:r>
            <a:endParaRPr lang="en-US" sz="1500" dirty="0"/>
          </a:p>
          <a:p>
            <a:pPr marL="203200" indent="-203200">
              <a:spcAft>
                <a:spcPts val="600"/>
              </a:spcAft>
              <a:buSzPct val="100000"/>
              <a:buChar char="•"/>
            </a:pPr>
            <a:r>
              <a:rPr lang="en-US" sz="1500" dirty="0">
                <a:solidFill>
                  <a:schemeClr val="tx1"/>
                </a:solidFill>
              </a:rPr>
              <a:t>Scotland and NI: no account needed</a:t>
            </a:r>
            <a:endParaRPr lang="en-US" sz="1500" dirty="0"/>
          </a:p>
        </p:txBody>
      </p:sp>
      <p:sp>
        <p:nvSpPr>
          <p:cNvPr id="21" name="Text 16"/>
          <p:cNvSpPr txBox="1"/>
          <p:nvPr/>
        </p:nvSpPr>
        <p:spPr>
          <a:xfrm>
            <a:off x="548640" y="5120640"/>
            <a:ext cx="11094415" cy="548640"/>
          </a:xfrm>
          <a:prstGeom prst="rect">
            <a:avLst/>
          </a:prstGeom>
          <a:noFill/>
          <a:ln/>
        </p:spPr>
        <p:txBody>
          <a:bodyPr wrap="square" lIns="0" tIns="0" rIns="0" bIns="0" rtlCol="0" anchor="t"/>
          <a:lstStyle/>
          <a:p>
            <a:pPr indent="0" marL="0">
              <a:buNone/>
            </a:pPr>
            <a:r>
              <a:rPr lang="en-US" sz="1500" dirty="0">
                <a:solidFill>
                  <a:schemeClr val="tx2"/>
                </a:solidFill>
              </a:rPr>
              <a:t>Live example: Belfast → Leeds LS6 3BQ. Distance is not catchment: the list says how to check practice areas and school admissions.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Evaluated against ground truth, not just tested</a:t>
            </a:r>
            <a:endParaRPr lang="en-US" sz="3400" dirty="0"/>
          </a:p>
        </p:txBody>
      </p:sp>
      <p:sp>
        <p:nvSpPr>
          <p:cNvPr id="3" name="evidence 0"/>
          <p:cNvSpPr/>
          <p:nvPr/>
        </p:nvSpPr>
        <p:spPr>
          <a:xfrm>
            <a:off x="548640" y="1417320"/>
            <a:ext cx="2036003" cy="2514600"/>
          </a:xfrm>
          <a:prstGeom prst="roundRect">
            <a:avLst>
              <a:gd name="adj" fmla="val 3593"/>
            </a:avLst>
          </a:prstGeom>
          <a:solidFill>
            <a:schemeClr val="bg2"/>
          </a:solidFill>
          <a:ln w="12700">
            <a:solidFill>
              <a:schemeClr val="bg2"/>
            </a:solidFill>
            <a:prstDash val="solid"/>
          </a:ln>
        </p:spPr>
      </p:sp>
      <p:sp>
        <p:nvSpPr>
          <p:cNvPr id="4" name="Text 2"/>
          <p:cNvSpPr txBox="1"/>
          <p:nvPr/>
        </p:nvSpPr>
        <p:spPr>
          <a:xfrm>
            <a:off x="731520" y="1600200"/>
            <a:ext cx="1670243"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157</a:t>
            </a:r>
            <a:endParaRPr lang="en-US" sz="4000" dirty="0"/>
          </a:p>
        </p:txBody>
      </p:sp>
      <p:sp>
        <p:nvSpPr>
          <p:cNvPr id="5" name="Text 3"/>
          <p:cNvSpPr txBox="1"/>
          <p:nvPr/>
        </p:nvSpPr>
        <p:spPr>
          <a:xfrm>
            <a:off x="731520" y="2606040"/>
            <a:ext cx="1670243" cy="1188720"/>
          </a:xfrm>
          <a:prstGeom prst="rect">
            <a:avLst/>
          </a:prstGeom>
          <a:noFill/>
          <a:ln/>
        </p:spPr>
        <p:txBody>
          <a:bodyPr wrap="square" lIns="0" tIns="0" rIns="0" bIns="0" rtlCol="0" anchor="t"/>
          <a:lstStyle/>
          <a:p>
            <a:pPr indent="0" marL="0">
              <a:buNone/>
            </a:pPr>
            <a:r>
              <a:rPr lang="en-US" sz="1500" dirty="0">
                <a:solidFill>
                  <a:schemeClr val="tx1"/>
                </a:solidFill>
              </a:rPr>
              <a:t>unit tests, all passing</a:t>
            </a:r>
            <a:endParaRPr lang="en-US" sz="1500" dirty="0"/>
          </a:p>
        </p:txBody>
      </p:sp>
      <p:sp>
        <p:nvSpPr>
          <p:cNvPr id="6" name="evidence 1"/>
          <p:cNvSpPr/>
          <p:nvPr/>
        </p:nvSpPr>
        <p:spPr>
          <a:xfrm>
            <a:off x="2813243" y="1417320"/>
            <a:ext cx="2036003" cy="2514600"/>
          </a:xfrm>
          <a:prstGeom prst="roundRect">
            <a:avLst>
              <a:gd name="adj" fmla="val 3593"/>
            </a:avLst>
          </a:prstGeom>
          <a:solidFill>
            <a:schemeClr val="bg2"/>
          </a:solidFill>
          <a:ln w="12700">
            <a:solidFill>
              <a:schemeClr val="bg2"/>
            </a:solidFill>
            <a:prstDash val="solid"/>
          </a:ln>
        </p:spPr>
      </p:sp>
      <p:sp>
        <p:nvSpPr>
          <p:cNvPr id="7" name="Text 5"/>
          <p:cNvSpPr txBox="1"/>
          <p:nvPr/>
        </p:nvSpPr>
        <p:spPr>
          <a:xfrm>
            <a:off x="2996123" y="1600200"/>
            <a:ext cx="1670243"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94%</a:t>
            </a:r>
            <a:endParaRPr lang="en-US" sz="4000" dirty="0"/>
          </a:p>
        </p:txBody>
      </p:sp>
      <p:sp>
        <p:nvSpPr>
          <p:cNvPr id="8" name="Text 6"/>
          <p:cNvSpPr txBox="1"/>
          <p:nvPr/>
        </p:nvSpPr>
        <p:spPr>
          <a:xfrm>
            <a:off x="2996123" y="2606040"/>
            <a:ext cx="1670243" cy="1188720"/>
          </a:xfrm>
          <a:prstGeom prst="rect">
            <a:avLst/>
          </a:prstGeom>
          <a:noFill/>
          <a:ln/>
        </p:spPr>
        <p:txBody>
          <a:bodyPr wrap="square" lIns="0" tIns="0" rIns="0" bIns="0" rtlCol="0" anchor="t"/>
          <a:lstStyle/>
          <a:p>
            <a:pPr indent="0" marL="0">
              <a:buNone/>
            </a:pPr>
            <a:r>
              <a:rPr lang="en-US" sz="1500" dirty="0">
                <a:solidFill>
                  <a:schemeClr val="tx1"/>
                </a:solidFill>
              </a:rPr>
              <a:t>line coverage</a:t>
            </a:r>
            <a:endParaRPr lang="en-US" sz="1500" dirty="0"/>
          </a:p>
        </p:txBody>
      </p:sp>
      <p:sp>
        <p:nvSpPr>
          <p:cNvPr id="9" name="evidence 2"/>
          <p:cNvSpPr/>
          <p:nvPr/>
        </p:nvSpPr>
        <p:spPr>
          <a:xfrm>
            <a:off x="5077846" y="1417320"/>
            <a:ext cx="2036003" cy="2514600"/>
          </a:xfrm>
          <a:prstGeom prst="roundRect">
            <a:avLst>
              <a:gd name="adj" fmla="val 3593"/>
            </a:avLst>
          </a:prstGeom>
          <a:solidFill>
            <a:schemeClr val="bg2"/>
          </a:solidFill>
          <a:ln w="12700">
            <a:solidFill>
              <a:schemeClr val="bg2"/>
            </a:solidFill>
            <a:prstDash val="solid"/>
          </a:ln>
        </p:spPr>
      </p:sp>
      <p:sp>
        <p:nvSpPr>
          <p:cNvPr id="10" name="Text 8"/>
          <p:cNvSpPr txBox="1"/>
          <p:nvPr/>
        </p:nvSpPr>
        <p:spPr>
          <a:xfrm>
            <a:off x="5260726" y="1600200"/>
            <a:ext cx="1670243"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12</a:t>
            </a:r>
            <a:endParaRPr lang="en-US" sz="4000" dirty="0"/>
          </a:p>
        </p:txBody>
      </p:sp>
      <p:sp>
        <p:nvSpPr>
          <p:cNvPr id="11" name="Text 9"/>
          <p:cNvSpPr txBox="1"/>
          <p:nvPr/>
        </p:nvSpPr>
        <p:spPr>
          <a:xfrm>
            <a:off x="5260726" y="2606040"/>
            <a:ext cx="1670243" cy="1188720"/>
          </a:xfrm>
          <a:prstGeom prst="rect">
            <a:avLst/>
          </a:prstGeom>
          <a:noFill/>
          <a:ln/>
        </p:spPr>
        <p:txBody>
          <a:bodyPr wrap="square" lIns="0" tIns="0" rIns="0" bIns="0" rtlCol="0" anchor="t"/>
          <a:lstStyle/>
          <a:p>
            <a:pPr indent="0" marL="0">
              <a:buNone/>
            </a:pPr>
            <a:r>
              <a:rPr lang="en-US" sz="1500" dirty="0">
                <a:solidFill>
                  <a:schemeClr val="tx1"/>
                </a:solidFill>
              </a:rPr>
              <a:t>live AI conversations checked against ground truth</a:t>
            </a:r>
            <a:endParaRPr lang="en-US" sz="1500" dirty="0"/>
          </a:p>
        </p:txBody>
      </p:sp>
      <p:sp>
        <p:nvSpPr>
          <p:cNvPr id="12" name="evidence 3"/>
          <p:cNvSpPr/>
          <p:nvPr/>
        </p:nvSpPr>
        <p:spPr>
          <a:xfrm>
            <a:off x="7342449" y="1417320"/>
            <a:ext cx="2036003" cy="2514600"/>
          </a:xfrm>
          <a:prstGeom prst="roundRect">
            <a:avLst>
              <a:gd name="adj" fmla="val 3593"/>
            </a:avLst>
          </a:prstGeom>
          <a:solidFill>
            <a:schemeClr val="bg2"/>
          </a:solidFill>
          <a:ln w="12700">
            <a:solidFill>
              <a:schemeClr val="bg2"/>
            </a:solidFill>
            <a:prstDash val="solid"/>
          </a:ln>
        </p:spPr>
      </p:sp>
      <p:sp>
        <p:nvSpPr>
          <p:cNvPr id="13" name="Text 11"/>
          <p:cNvSpPr txBox="1"/>
          <p:nvPr/>
        </p:nvSpPr>
        <p:spPr>
          <a:xfrm>
            <a:off x="7525329" y="1600200"/>
            <a:ext cx="1670243"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21/25</a:t>
            </a:r>
            <a:endParaRPr lang="en-US" sz="4000" dirty="0"/>
          </a:p>
        </p:txBody>
      </p:sp>
      <p:sp>
        <p:nvSpPr>
          <p:cNvPr id="14" name="Text 12"/>
          <p:cNvSpPr txBox="1"/>
          <p:nvPr/>
        </p:nvSpPr>
        <p:spPr>
          <a:xfrm>
            <a:off x="7525329" y="2606040"/>
            <a:ext cx="1670243" cy="1188720"/>
          </a:xfrm>
          <a:prstGeom prst="rect">
            <a:avLst/>
          </a:prstGeom>
          <a:noFill/>
          <a:ln/>
        </p:spPr>
        <p:txBody>
          <a:bodyPr wrap="square" lIns="0" tIns="0" rIns="0" bIns="0" rtlCol="0" anchor="t"/>
          <a:lstStyle/>
          <a:p>
            <a:pPr indent="0" marL="0">
              <a:buNone/>
            </a:pPr>
            <a:r>
              <a:rPr lang="en-US" sz="1500" dirty="0">
                <a:solidFill>
                  <a:schemeClr val="tx1"/>
                </a:solidFill>
              </a:rPr>
              <a:t>rules verified against official sources</a:t>
            </a:r>
            <a:endParaRPr lang="en-US" sz="1500" dirty="0"/>
          </a:p>
        </p:txBody>
      </p:sp>
      <p:sp>
        <p:nvSpPr>
          <p:cNvPr id="15" name="evidence 4"/>
          <p:cNvSpPr/>
          <p:nvPr/>
        </p:nvSpPr>
        <p:spPr>
          <a:xfrm>
            <a:off x="9607052" y="1417320"/>
            <a:ext cx="2036003" cy="2514600"/>
          </a:xfrm>
          <a:prstGeom prst="roundRect">
            <a:avLst>
              <a:gd name="adj" fmla="val 3593"/>
            </a:avLst>
          </a:prstGeom>
          <a:solidFill>
            <a:schemeClr val="bg2"/>
          </a:solidFill>
          <a:ln w="12700">
            <a:solidFill>
              <a:schemeClr val="bg2"/>
            </a:solidFill>
            <a:prstDash val="solid"/>
          </a:ln>
        </p:spPr>
      </p:sp>
      <p:sp>
        <p:nvSpPr>
          <p:cNvPr id="16" name="Text 14"/>
          <p:cNvSpPr txBox="1"/>
          <p:nvPr/>
        </p:nvSpPr>
        <p:spPr>
          <a:xfrm>
            <a:off x="9789932" y="1600200"/>
            <a:ext cx="1670243" cy="91440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1</a:t>
            </a:r>
            <a:endParaRPr lang="en-US" sz="4000" dirty="0"/>
          </a:p>
        </p:txBody>
      </p:sp>
      <p:sp>
        <p:nvSpPr>
          <p:cNvPr id="17" name="Text 15"/>
          <p:cNvSpPr txBox="1"/>
          <p:nvPr/>
        </p:nvSpPr>
        <p:spPr>
          <a:xfrm>
            <a:off x="9789932" y="2606040"/>
            <a:ext cx="1670243" cy="1188720"/>
          </a:xfrm>
          <a:prstGeom prst="rect">
            <a:avLst/>
          </a:prstGeom>
          <a:noFill/>
          <a:ln/>
        </p:spPr>
        <p:txBody>
          <a:bodyPr wrap="square" lIns="0" tIns="0" rIns="0" bIns="0" rtlCol="0" anchor="t"/>
          <a:lstStyle/>
          <a:p>
            <a:pPr indent="0" marL="0">
              <a:buNone/>
            </a:pPr>
            <a:r>
              <a:rPr lang="en-US" sz="1500" dirty="0">
                <a:solidFill>
                  <a:schemeClr val="tx1"/>
                </a:solidFill>
              </a:rPr>
              <a:t>cross-customer data leak caught by the evaluations, and fixed</a:t>
            </a:r>
            <a:endParaRPr lang="en-US" sz="1500" dirty="0"/>
          </a:p>
        </p:txBody>
      </p:sp>
      <p:sp>
        <p:nvSpPr>
          <p:cNvPr id="18" name="Text 16"/>
          <p:cNvSpPr txBox="1"/>
          <p:nvPr/>
        </p:nvSpPr>
        <p:spPr>
          <a:xfrm>
            <a:off x="548640" y="4206240"/>
            <a:ext cx="11094415"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Five synthetic customers, each with its providers and life facts written down in advance.</a:t>
            </a:r>
            <a:endParaRPr lang="en-US" sz="1500" dirty="0"/>
          </a:p>
          <a:p>
            <a:pPr marL="203200" indent="-203200">
              <a:spcAft>
                <a:spcPts val="600"/>
              </a:spcAft>
              <a:buSzPct val="100000"/>
              <a:buChar char="•"/>
            </a:pPr>
            <a:r>
              <a:rPr lang="en-US" sz="1500" dirty="0">
                <a:solidFill>
                  <a:schemeClr val="tx1"/>
                </a:solidFill>
              </a:rPr>
              <a:t>Discovery must find what the payments show; the plan must mark exactly the legal duties; drafts must state no date or fee the rules do not; a changed letter must need approving again.</a:t>
            </a:r>
            <a:endParaRPr lang="en-US" sz="1500" dirty="0"/>
          </a:p>
          <a:p>
            <a:pPr marL="203200" indent="-203200">
              <a:spcAft>
                <a:spcPts val="600"/>
              </a:spcAft>
              <a:buSzPct val="100000"/>
              <a:buChar char="•"/>
            </a:pPr>
            <a:r>
              <a:rPr lang="en-US" sz="1500" dirty="0">
                <a:solidFill>
                  <a:schemeClr val="tx1"/>
                </a:solidFill>
              </a:rPr>
              <a:t>Facts are checked by keyword, judgement by an LLM judge. Lint clean: ruff and pylint 10/10.</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Why a bank, and what we would measure</a:t>
            </a:r>
            <a:endParaRPr lang="en-US" sz="3400" dirty="0"/>
          </a:p>
        </p:txBody>
      </p:sp>
      <p:sp>
        <p:nvSpPr>
          <p:cNvPr id="3" name="why bank"/>
          <p:cNvSpPr/>
          <p:nvPr/>
        </p:nvSpPr>
        <p:spPr>
          <a:xfrm>
            <a:off x="548640" y="1371600"/>
            <a:ext cx="3840480" cy="4709160"/>
          </a:xfrm>
          <a:prstGeom prst="roundRect">
            <a:avLst>
              <a:gd name="adj" fmla="val 1905"/>
            </a:avLst>
          </a:prstGeom>
          <a:solidFill>
            <a:schemeClr val="tx2"/>
          </a:solidFill>
          <a:ln w="12700">
            <a:solidFill>
              <a:schemeClr val="tx2"/>
            </a:solidFill>
            <a:prstDash val="solid"/>
          </a:ln>
        </p:spPr>
      </p:sp>
      <p:sp>
        <p:nvSpPr>
          <p:cNvPr id="4" name="Text 2"/>
          <p:cNvSpPr txBox="1"/>
          <p:nvPr/>
        </p:nvSpPr>
        <p:spPr>
          <a:xfrm>
            <a:off x="868680" y="1600200"/>
            <a:ext cx="3200400" cy="8229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Why a bank, not a moving app</a:t>
            </a:r>
            <a:endParaRPr lang="en-US" sz="2200" dirty="0"/>
          </a:p>
        </p:txBody>
      </p:sp>
      <p:sp>
        <p:nvSpPr>
          <p:cNvPr id="5" name="Text 3"/>
          <p:cNvSpPr txBox="1"/>
          <p:nvPr/>
        </p:nvSpPr>
        <p:spPr>
          <a:xfrm>
            <a:off x="868680" y="2651760"/>
            <a:ext cx="3200400" cy="310896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chemeClr val="bg1"/>
                </a:solidFill>
              </a:rPr>
              <a:t>Sees who the customer pays</a:t>
            </a:r>
            <a:endParaRPr lang="en-US" sz="1800" dirty="0"/>
          </a:p>
          <a:p>
            <a:pPr marL="203200" indent="-203200">
              <a:spcAft>
                <a:spcPts val="1400"/>
              </a:spcAft>
              <a:buSzPct val="100000"/>
              <a:buChar char="•"/>
            </a:pPr>
            <a:r>
              <a:rPr lang="en-US" sz="1800" dirty="0">
                <a:solidFill>
                  <a:schemeClr val="bg1"/>
                </a:solidFill>
              </a:rPr>
              <a:t>Knows the completion date</a:t>
            </a:r>
            <a:endParaRPr lang="en-US" sz="1800" dirty="0"/>
          </a:p>
          <a:p>
            <a:pPr marL="203200" indent="-203200">
              <a:spcAft>
                <a:spcPts val="1400"/>
              </a:spcAft>
              <a:buSzPct val="100000"/>
              <a:buChar char="•"/>
            </a:pPr>
            <a:r>
              <a:rPr lang="en-US" sz="1800" dirty="0">
                <a:solidFill>
                  <a:schemeClr val="bg1"/>
                </a:solidFill>
              </a:rPr>
              <a:t>Already trusted with the data</a:t>
            </a:r>
            <a:endParaRPr lang="en-US" sz="1800" dirty="0"/>
          </a:p>
        </p:txBody>
      </p:sp>
      <p:sp>
        <p:nvSpPr>
          <p:cNvPr id="6" name="Fewer servicing contacts circle"/>
          <p:cNvSpPr/>
          <p:nvPr/>
        </p:nvSpPr>
        <p:spPr>
          <a:xfrm>
            <a:off x="4709160" y="1463040"/>
            <a:ext cx="640080" cy="640080"/>
          </a:xfrm>
          <a:prstGeom prst="ellipse">
            <a:avLst/>
          </a:prstGeom>
          <a:solidFill>
            <a:schemeClr val="bg2"/>
          </a:solidFill>
          <a:ln w="12700">
            <a:solidFill>
              <a:schemeClr val="bg2"/>
            </a:solidFill>
            <a:prstDash val="solid"/>
          </a:ln>
        </p:spPr>
      </p:sp>
      <p:pic>
        <p:nvPicPr>
          <p:cNvPr id="7" name="Fewer servicing contacts icon" descr="Fewer servicing contacts">    </p:cNvPr>
          <p:cNvPicPr>
            <a:picLocks noChangeAspect="1"/>
          </p:cNvPicPr>
          <p:nvPr/>
        </p:nvPicPr>
        <p:blipFill>
          <a:blip r:embed="rId1"/>
          <a:stretch>
            <a:fillRect/>
          </a:stretch>
        </p:blipFill>
        <p:spPr>
          <a:xfrm>
            <a:off x="4869180" y="1623060"/>
            <a:ext cx="320040" cy="320040"/>
          </a:xfrm>
          <a:prstGeom prst="rect">
            <a:avLst/>
          </a:prstGeom>
        </p:spPr>
      </p:pic>
      <p:sp>
        <p:nvSpPr>
          <p:cNvPr id="8" name="Text 5"/>
          <p:cNvSpPr txBox="1"/>
          <p:nvPr/>
        </p:nvSpPr>
        <p:spPr>
          <a:xfrm>
            <a:off x="5532120" y="1417320"/>
            <a:ext cx="2560320" cy="411480"/>
          </a:xfrm>
          <a:prstGeom prst="rect">
            <a:avLst/>
          </a:prstGeom>
          <a:noFill/>
          <a:ln/>
        </p:spPr>
        <p:txBody>
          <a:bodyPr wrap="square" lIns="0" tIns="0" rIns="0" bIns="0" rtlCol="0" anchor="t"/>
          <a:lstStyle/>
          <a:p>
            <a:pPr indent="0" marL="0">
              <a:buNone/>
            </a:pPr>
            <a:r>
              <a:rPr lang="en-US" sz="1600" b="1" dirty="0">
                <a:solidFill>
                  <a:schemeClr val="tx2"/>
                </a:solidFill>
              </a:rPr>
              <a:t>Fewer servicing contacts</a:t>
            </a:r>
            <a:endParaRPr lang="en-US" sz="1600" dirty="0"/>
          </a:p>
        </p:txBody>
      </p:sp>
      <p:sp>
        <p:nvSpPr>
          <p:cNvPr id="9" name="Text 6"/>
          <p:cNvSpPr txBox="1"/>
          <p:nvPr/>
        </p:nvSpPr>
        <p:spPr>
          <a:xfrm>
            <a:off x="5532120" y="1828800"/>
            <a:ext cx="2560320" cy="685800"/>
          </a:xfrm>
          <a:prstGeom prst="rect">
            <a:avLst/>
          </a:prstGeom>
          <a:noFill/>
          <a:ln/>
        </p:spPr>
        <p:txBody>
          <a:bodyPr wrap="square" lIns="0" tIns="0" rIns="0" bIns="0" rtlCol="0" anchor="t"/>
          <a:lstStyle/>
          <a:p>
            <a:pPr indent="0" marL="0">
              <a:buNone/>
            </a:pPr>
            <a:r>
              <a:rPr lang="en-US" sz="1400" dirty="0">
                <a:solidFill>
                  <a:schemeClr val="tx1"/>
                </a:solidFill>
              </a:rPr>
              <a:t>address changes and moving queries</a:t>
            </a:r>
            <a:endParaRPr lang="en-US" sz="1400" dirty="0"/>
          </a:p>
        </p:txBody>
      </p:sp>
      <p:sp>
        <p:nvSpPr>
          <p:cNvPr id="10" name="Satisfaction at completion circle"/>
          <p:cNvSpPr/>
          <p:nvPr/>
        </p:nvSpPr>
        <p:spPr>
          <a:xfrm>
            <a:off x="8229600" y="1463040"/>
            <a:ext cx="640080" cy="640080"/>
          </a:xfrm>
          <a:prstGeom prst="ellipse">
            <a:avLst/>
          </a:prstGeom>
          <a:solidFill>
            <a:schemeClr val="bg2"/>
          </a:solidFill>
          <a:ln w="12700">
            <a:solidFill>
              <a:schemeClr val="bg2"/>
            </a:solidFill>
            <a:prstDash val="solid"/>
          </a:ln>
        </p:spPr>
      </p:sp>
      <p:pic>
        <p:nvPicPr>
          <p:cNvPr id="11" name="Satisfaction at completion icon" descr="Satisfaction at completion">    </p:cNvPr>
          <p:cNvPicPr>
            <a:picLocks noChangeAspect="1"/>
          </p:cNvPicPr>
          <p:nvPr/>
        </p:nvPicPr>
        <p:blipFill>
          <a:blip r:embed="rId2"/>
          <a:stretch>
            <a:fillRect/>
          </a:stretch>
        </p:blipFill>
        <p:spPr>
          <a:xfrm>
            <a:off x="8389620" y="1623060"/>
            <a:ext cx="320040" cy="320040"/>
          </a:xfrm>
          <a:prstGeom prst="rect">
            <a:avLst/>
          </a:prstGeom>
        </p:spPr>
      </p:pic>
      <p:sp>
        <p:nvSpPr>
          <p:cNvPr id="12" name="Text 8"/>
          <p:cNvSpPr txBox="1"/>
          <p:nvPr/>
        </p:nvSpPr>
        <p:spPr>
          <a:xfrm>
            <a:off x="9052560" y="1417320"/>
            <a:ext cx="2560320" cy="411480"/>
          </a:xfrm>
          <a:prstGeom prst="rect">
            <a:avLst/>
          </a:prstGeom>
          <a:noFill/>
          <a:ln/>
        </p:spPr>
        <p:txBody>
          <a:bodyPr wrap="square" lIns="0" tIns="0" rIns="0" bIns="0" rtlCol="0" anchor="t"/>
          <a:lstStyle/>
          <a:p>
            <a:pPr indent="0" marL="0">
              <a:buNone/>
            </a:pPr>
            <a:r>
              <a:rPr lang="en-US" sz="1600" b="1" dirty="0">
                <a:solidFill>
                  <a:schemeClr val="tx2"/>
                </a:solidFill>
              </a:rPr>
              <a:t>Satisfaction at completion</a:t>
            </a:r>
            <a:endParaRPr lang="en-US" sz="1600" dirty="0"/>
          </a:p>
        </p:txBody>
      </p:sp>
      <p:sp>
        <p:nvSpPr>
          <p:cNvPr id="13" name="Text 9"/>
          <p:cNvSpPr txBox="1"/>
          <p:nvPr/>
        </p:nvSpPr>
        <p:spPr>
          <a:xfrm>
            <a:off x="9052560" y="1828800"/>
            <a:ext cx="2560320" cy="685800"/>
          </a:xfrm>
          <a:prstGeom prst="rect">
            <a:avLst/>
          </a:prstGeom>
          <a:noFill/>
          <a:ln/>
        </p:spPr>
        <p:txBody>
          <a:bodyPr wrap="square" lIns="0" tIns="0" rIns="0" bIns="0" rtlCol="0" anchor="t"/>
          <a:lstStyle/>
          <a:p>
            <a:pPr indent="0" marL="0">
              <a:buNone/>
            </a:pPr>
            <a:r>
              <a:rPr lang="en-US" sz="1400" dirty="0">
                <a:solidFill>
                  <a:schemeClr val="tx1"/>
                </a:solidFill>
              </a:rPr>
              <a:t>and Consumer Duty evidence</a:t>
            </a:r>
            <a:endParaRPr lang="en-US" sz="1400" dirty="0"/>
          </a:p>
        </p:txBody>
      </p:sp>
      <p:sp>
        <p:nvSpPr>
          <p:cNvPr id="14" name="Home insurance conversion circle"/>
          <p:cNvSpPr/>
          <p:nvPr/>
        </p:nvSpPr>
        <p:spPr>
          <a:xfrm>
            <a:off x="4709160" y="2926080"/>
            <a:ext cx="640080" cy="640080"/>
          </a:xfrm>
          <a:prstGeom prst="ellipse">
            <a:avLst/>
          </a:prstGeom>
          <a:solidFill>
            <a:schemeClr val="bg2"/>
          </a:solidFill>
          <a:ln w="12700">
            <a:solidFill>
              <a:schemeClr val="bg2"/>
            </a:solidFill>
            <a:prstDash val="solid"/>
          </a:ln>
        </p:spPr>
      </p:sp>
      <p:pic>
        <p:nvPicPr>
          <p:cNvPr id="15" name="Home insurance conversion icon" descr="Home insurance conversion">    </p:cNvPr>
          <p:cNvPicPr>
            <a:picLocks noChangeAspect="1"/>
          </p:cNvPicPr>
          <p:nvPr/>
        </p:nvPicPr>
        <p:blipFill>
          <a:blip r:embed="rId3"/>
          <a:stretch>
            <a:fillRect/>
          </a:stretch>
        </p:blipFill>
        <p:spPr>
          <a:xfrm>
            <a:off x="4869180" y="3086100"/>
            <a:ext cx="320040" cy="320040"/>
          </a:xfrm>
          <a:prstGeom prst="rect">
            <a:avLst/>
          </a:prstGeom>
        </p:spPr>
      </p:pic>
      <p:sp>
        <p:nvSpPr>
          <p:cNvPr id="16" name="Text 11"/>
          <p:cNvSpPr txBox="1"/>
          <p:nvPr/>
        </p:nvSpPr>
        <p:spPr>
          <a:xfrm>
            <a:off x="5532120" y="2880360"/>
            <a:ext cx="2560320" cy="411480"/>
          </a:xfrm>
          <a:prstGeom prst="rect">
            <a:avLst/>
          </a:prstGeom>
          <a:noFill/>
          <a:ln/>
        </p:spPr>
        <p:txBody>
          <a:bodyPr wrap="square" lIns="0" tIns="0" rIns="0" bIns="0" rtlCol="0" anchor="t"/>
          <a:lstStyle/>
          <a:p>
            <a:pPr indent="0" marL="0">
              <a:buNone/>
            </a:pPr>
            <a:r>
              <a:rPr lang="en-US" sz="1600" b="1" dirty="0">
                <a:solidFill>
                  <a:schemeClr val="tx2"/>
                </a:solidFill>
              </a:rPr>
              <a:t>Home insurance conversion</a:t>
            </a:r>
            <a:endParaRPr lang="en-US" sz="1600" dirty="0"/>
          </a:p>
        </p:txBody>
      </p:sp>
      <p:sp>
        <p:nvSpPr>
          <p:cNvPr id="17" name="Text 12"/>
          <p:cNvSpPr txBox="1"/>
          <p:nvPr/>
        </p:nvSpPr>
        <p:spPr>
          <a:xfrm>
            <a:off x="5532120" y="3291840"/>
            <a:ext cx="2560320" cy="685800"/>
          </a:xfrm>
          <a:prstGeom prst="rect">
            <a:avLst/>
          </a:prstGeom>
          <a:noFill/>
          <a:ln/>
        </p:spPr>
        <p:txBody>
          <a:bodyPr wrap="square" lIns="0" tIns="0" rIns="0" bIns="0" rtlCol="0" anchor="t"/>
          <a:lstStyle/>
          <a:p>
            <a:pPr indent="0" marL="0">
              <a:buNone/>
            </a:pPr>
            <a:r>
              <a:rPr lang="en-US" sz="1400" dirty="0">
                <a:solidFill>
                  <a:schemeClr val="tx1"/>
                </a:solidFill>
              </a:rPr>
              <a:t>an opt-in offer when it is needed</a:t>
            </a:r>
            <a:endParaRPr lang="en-US" sz="1400" dirty="0"/>
          </a:p>
        </p:txBody>
      </p:sp>
      <p:sp>
        <p:nvSpPr>
          <p:cNvPr id="18" name="Tasks done before due circle"/>
          <p:cNvSpPr/>
          <p:nvPr/>
        </p:nvSpPr>
        <p:spPr>
          <a:xfrm>
            <a:off x="8229600" y="2926080"/>
            <a:ext cx="640080" cy="640080"/>
          </a:xfrm>
          <a:prstGeom prst="ellipse">
            <a:avLst/>
          </a:prstGeom>
          <a:solidFill>
            <a:schemeClr val="bg2"/>
          </a:solidFill>
          <a:ln w="12700">
            <a:solidFill>
              <a:schemeClr val="bg2"/>
            </a:solidFill>
            <a:prstDash val="solid"/>
          </a:ln>
        </p:spPr>
      </p:sp>
      <p:pic>
        <p:nvPicPr>
          <p:cNvPr id="19" name="Tasks done before due icon" descr="Tasks done before due">    </p:cNvPr>
          <p:cNvPicPr>
            <a:picLocks noChangeAspect="1"/>
          </p:cNvPicPr>
          <p:nvPr/>
        </p:nvPicPr>
        <p:blipFill>
          <a:blip r:embed="rId4"/>
          <a:stretch>
            <a:fillRect/>
          </a:stretch>
        </p:blipFill>
        <p:spPr>
          <a:xfrm>
            <a:off x="8389620" y="3086100"/>
            <a:ext cx="320040" cy="320040"/>
          </a:xfrm>
          <a:prstGeom prst="rect">
            <a:avLst/>
          </a:prstGeom>
        </p:spPr>
      </p:pic>
      <p:sp>
        <p:nvSpPr>
          <p:cNvPr id="20" name="Text 14"/>
          <p:cNvSpPr txBox="1"/>
          <p:nvPr/>
        </p:nvSpPr>
        <p:spPr>
          <a:xfrm>
            <a:off x="9052560" y="2880360"/>
            <a:ext cx="2560320" cy="411480"/>
          </a:xfrm>
          <a:prstGeom prst="rect">
            <a:avLst/>
          </a:prstGeom>
          <a:noFill/>
          <a:ln/>
        </p:spPr>
        <p:txBody>
          <a:bodyPr wrap="square" lIns="0" tIns="0" rIns="0" bIns="0" rtlCol="0" anchor="t"/>
          <a:lstStyle/>
          <a:p>
            <a:pPr indent="0" marL="0">
              <a:buNone/>
            </a:pPr>
            <a:r>
              <a:rPr lang="en-US" sz="1600" b="1" dirty="0">
                <a:solidFill>
                  <a:schemeClr val="tx2"/>
                </a:solidFill>
              </a:rPr>
              <a:t>Tasks done before due</a:t>
            </a:r>
            <a:endParaRPr lang="en-US" sz="1600" dirty="0"/>
          </a:p>
        </p:txBody>
      </p:sp>
      <p:sp>
        <p:nvSpPr>
          <p:cNvPr id="21" name="Text 15"/>
          <p:cNvSpPr txBox="1"/>
          <p:nvPr/>
        </p:nvSpPr>
        <p:spPr>
          <a:xfrm>
            <a:off x="9052560" y="3291840"/>
            <a:ext cx="2560320" cy="685800"/>
          </a:xfrm>
          <a:prstGeom prst="rect">
            <a:avLst/>
          </a:prstGeom>
          <a:noFill/>
          <a:ln/>
        </p:spPr>
        <p:txBody>
          <a:bodyPr wrap="square" lIns="0" tIns="0" rIns="0" bIns="0" rtlCol="0" anchor="t"/>
          <a:lstStyle/>
          <a:p>
            <a:pPr indent="0" marL="0">
              <a:buNone/>
            </a:pPr>
            <a:r>
              <a:rPr lang="en-US" sz="1400" dirty="0">
                <a:solidFill>
                  <a:schemeClr val="tx1"/>
                </a:solidFill>
              </a:rPr>
              <a:t>fewer missed legal obligations</a:t>
            </a:r>
            <a:endParaRPr lang="en-US" sz="1400" dirty="0"/>
          </a:p>
        </p:txBody>
      </p:sp>
      <p:sp>
        <p:nvSpPr>
          <p:cNvPr id="22" name="Customer time saved circle"/>
          <p:cNvSpPr/>
          <p:nvPr/>
        </p:nvSpPr>
        <p:spPr>
          <a:xfrm>
            <a:off x="4709160" y="4389120"/>
            <a:ext cx="640080" cy="640080"/>
          </a:xfrm>
          <a:prstGeom prst="ellipse">
            <a:avLst/>
          </a:prstGeom>
          <a:solidFill>
            <a:schemeClr val="bg2"/>
          </a:solidFill>
          <a:ln w="12700">
            <a:solidFill>
              <a:schemeClr val="bg2"/>
            </a:solidFill>
            <a:prstDash val="solid"/>
          </a:ln>
        </p:spPr>
      </p:sp>
      <p:pic>
        <p:nvPicPr>
          <p:cNvPr id="23" name="Customer time saved icon" descr="Customer time saved">    </p:cNvPr>
          <p:cNvPicPr>
            <a:picLocks noChangeAspect="1"/>
          </p:cNvPicPr>
          <p:nvPr/>
        </p:nvPicPr>
        <p:blipFill>
          <a:blip r:embed="rId5"/>
          <a:stretch>
            <a:fillRect/>
          </a:stretch>
        </p:blipFill>
        <p:spPr>
          <a:xfrm>
            <a:off x="4869180" y="4549140"/>
            <a:ext cx="320040" cy="320040"/>
          </a:xfrm>
          <a:prstGeom prst="rect">
            <a:avLst/>
          </a:prstGeom>
        </p:spPr>
      </p:pic>
      <p:sp>
        <p:nvSpPr>
          <p:cNvPr id="24" name="Text 17"/>
          <p:cNvSpPr txBox="1"/>
          <p:nvPr/>
        </p:nvSpPr>
        <p:spPr>
          <a:xfrm>
            <a:off x="5532120" y="4343400"/>
            <a:ext cx="2560320" cy="411480"/>
          </a:xfrm>
          <a:prstGeom prst="rect">
            <a:avLst/>
          </a:prstGeom>
          <a:noFill/>
          <a:ln/>
        </p:spPr>
        <p:txBody>
          <a:bodyPr wrap="square" lIns="0" tIns="0" rIns="0" bIns="0" rtlCol="0" anchor="t"/>
          <a:lstStyle/>
          <a:p>
            <a:pPr indent="0" marL="0">
              <a:buNone/>
            </a:pPr>
            <a:r>
              <a:rPr lang="en-US" sz="1600" b="1" dirty="0">
                <a:solidFill>
                  <a:schemeClr val="tx2"/>
                </a:solidFill>
              </a:rPr>
              <a:t>Customer time saved</a:t>
            </a:r>
            <a:endParaRPr lang="en-US" sz="1600" dirty="0"/>
          </a:p>
        </p:txBody>
      </p:sp>
      <p:sp>
        <p:nvSpPr>
          <p:cNvPr id="25" name="Text 18"/>
          <p:cNvSpPr txBox="1"/>
          <p:nvPr/>
        </p:nvSpPr>
        <p:spPr>
          <a:xfrm>
            <a:off x="5532120" y="4754880"/>
            <a:ext cx="2560320" cy="685800"/>
          </a:xfrm>
          <a:prstGeom prst="rect">
            <a:avLst/>
          </a:prstGeom>
          <a:noFill/>
          <a:ln/>
        </p:spPr>
        <p:txBody>
          <a:bodyPr wrap="square" lIns="0" tIns="0" rIns="0" bIns="0" rtlCol="0" anchor="t"/>
          <a:lstStyle/>
          <a:p>
            <a:pPr indent="0" marL="0">
              <a:buNone/>
            </a:pPr>
            <a:r>
              <a:rPr lang="en-US" sz="1400" dirty="0">
                <a:solidFill>
                  <a:schemeClr val="tx1"/>
                </a:solidFill>
              </a:rPr>
              <a:t>from a task-time study</a:t>
            </a:r>
            <a:endParaRPr lang="en-US" sz="1400" dirty="0"/>
          </a:p>
        </p:txBody>
      </p:sp>
      <p:sp>
        <p:nvSpPr>
          <p:cNvPr id="26" name="Retention at product transfer circle"/>
          <p:cNvSpPr/>
          <p:nvPr/>
        </p:nvSpPr>
        <p:spPr>
          <a:xfrm>
            <a:off x="8229600" y="4389120"/>
            <a:ext cx="640080" cy="640080"/>
          </a:xfrm>
          <a:prstGeom prst="ellipse">
            <a:avLst/>
          </a:prstGeom>
          <a:solidFill>
            <a:schemeClr val="bg2"/>
          </a:solidFill>
          <a:ln w="12700">
            <a:solidFill>
              <a:schemeClr val="bg2"/>
            </a:solidFill>
            <a:prstDash val="solid"/>
          </a:ln>
        </p:spPr>
      </p:sp>
      <p:pic>
        <p:nvPicPr>
          <p:cNvPr id="27" name="Retention at product transfer icon" descr="Retention at product transfer">    </p:cNvPr>
          <p:cNvPicPr>
            <a:picLocks noChangeAspect="1"/>
          </p:cNvPicPr>
          <p:nvPr/>
        </p:nvPicPr>
        <p:blipFill>
          <a:blip r:embed="rId6"/>
          <a:stretch>
            <a:fillRect/>
          </a:stretch>
        </p:blipFill>
        <p:spPr>
          <a:xfrm>
            <a:off x="8389620" y="4549140"/>
            <a:ext cx="320040" cy="320040"/>
          </a:xfrm>
          <a:prstGeom prst="rect">
            <a:avLst/>
          </a:prstGeom>
        </p:spPr>
      </p:pic>
      <p:sp>
        <p:nvSpPr>
          <p:cNvPr id="28" name="Text 20"/>
          <p:cNvSpPr txBox="1"/>
          <p:nvPr/>
        </p:nvSpPr>
        <p:spPr>
          <a:xfrm>
            <a:off x="9052560" y="4343400"/>
            <a:ext cx="2560320" cy="411480"/>
          </a:xfrm>
          <a:prstGeom prst="rect">
            <a:avLst/>
          </a:prstGeom>
          <a:noFill/>
          <a:ln/>
        </p:spPr>
        <p:txBody>
          <a:bodyPr wrap="square" lIns="0" tIns="0" rIns="0" bIns="0" rtlCol="0" anchor="t"/>
          <a:lstStyle/>
          <a:p>
            <a:pPr indent="0" marL="0">
              <a:buNone/>
            </a:pPr>
            <a:r>
              <a:rPr lang="en-US" sz="1600" b="1" dirty="0">
                <a:solidFill>
                  <a:schemeClr val="tx2"/>
                </a:solidFill>
              </a:rPr>
              <a:t>Retention at product transfer</a:t>
            </a:r>
            <a:endParaRPr lang="en-US" sz="1600" dirty="0"/>
          </a:p>
        </p:txBody>
      </p:sp>
      <p:sp>
        <p:nvSpPr>
          <p:cNvPr id="29" name="Text 21"/>
          <p:cNvSpPr txBox="1"/>
          <p:nvPr/>
        </p:nvSpPr>
        <p:spPr>
          <a:xfrm>
            <a:off x="9052560" y="4754880"/>
            <a:ext cx="2560320" cy="685800"/>
          </a:xfrm>
          <a:prstGeom prst="rect">
            <a:avLst/>
          </a:prstGeom>
          <a:noFill/>
          <a:ln/>
        </p:spPr>
        <p:txBody>
          <a:bodyPr wrap="square" lIns="0" tIns="0" rIns="0" bIns="0" rtlCol="0" anchor="t"/>
          <a:lstStyle/>
          <a:p>
            <a:pPr indent="0" marL="0">
              <a:buNone/>
            </a:pPr>
            <a:r>
              <a:rPr lang="en-US" sz="1400" dirty="0">
                <a:solidFill>
                  <a:schemeClr val="tx1"/>
                </a:solidFill>
              </a:rPr>
              <a:t>long-term relationship value</a:t>
            </a:r>
            <a:endParaRPr lang="en-US" sz="1400" dirty="0"/>
          </a:p>
        </p:txBody>
      </p:sp>
      <p:sp>
        <p:nvSpPr>
          <p:cNvPr id="30" name="Text 22"/>
          <p:cNvSpPr txBox="1"/>
          <p:nvPr/>
        </p:nvSpPr>
        <p:spPr>
          <a:xfrm>
            <a:off x="4709160" y="5760720"/>
            <a:ext cx="6858000" cy="320040"/>
          </a:xfrm>
          <a:prstGeom prst="rect">
            <a:avLst/>
          </a:prstGeom>
          <a:noFill/>
          <a:ln/>
        </p:spPr>
        <p:txBody>
          <a:bodyPr wrap="square" lIns="0" tIns="0" rIns="0" bIns="0" rtlCol="0" anchor="t"/>
          <a:lstStyle/>
          <a:p>
            <a:pPr indent="0" marL="0">
              <a:buNone/>
            </a:pPr>
            <a:r>
              <a:rPr lang="en-US" sz="1400" i="1" dirty="0">
                <a:solidFill>
                  <a:schemeClr val="accent1"/>
                </a:solidFill>
              </a:rPr>
              <a:t>Targets to measure in a pilot, not claimed results.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Roadmap</a:t>
            </a:r>
            <a:endParaRPr lang="en-US" sz="3400" dirty="0"/>
          </a:p>
        </p:txBody>
      </p:sp>
      <p:sp>
        <p:nvSpPr>
          <p:cNvPr id="3" name="roadmap line"/>
          <p:cNvSpPr/>
          <p:nvPr/>
        </p:nvSpPr>
        <p:spPr>
          <a:xfrm>
            <a:off x="1658082" y="1874520"/>
            <a:ext cx="8875532" cy="0"/>
          </a:xfrm>
          <a:prstGeom prst="line">
            <a:avLst/>
          </a:prstGeom>
          <a:noFill/>
          <a:ln w="25400">
            <a:solidFill>
              <a:srgbClr val="8AB0A8"/>
            </a:solidFill>
            <a:prstDash val="solid"/>
          </a:ln>
        </p:spPr>
      </p:sp>
      <p:sp>
        <p:nvSpPr>
          <p:cNvPr id="4" name="step 0"/>
          <p:cNvSpPr/>
          <p:nvPr/>
        </p:nvSpPr>
        <p:spPr>
          <a:xfrm>
            <a:off x="1292322" y="1508760"/>
            <a:ext cx="731520" cy="731520"/>
          </a:xfrm>
          <a:prstGeom prst="ellipse">
            <a:avLst/>
          </a:prstGeom>
          <a:solidFill>
            <a:schemeClr val="accent2"/>
          </a:solidFill>
          <a:ln w="38100">
            <a:solidFill>
              <a:schemeClr val="bg1"/>
            </a:solidFill>
            <a:prstDash val="solid"/>
          </a:ln>
        </p:spPr>
      </p:sp>
      <p:sp>
        <p:nvSpPr>
          <p:cNvPr id="5" name="Text 3"/>
          <p:cNvSpPr txBox="1"/>
          <p:nvPr/>
        </p:nvSpPr>
        <p:spPr>
          <a:xfrm>
            <a:off x="1292322" y="1508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640080" y="2468880"/>
            <a:ext cx="2036003" cy="411480"/>
          </a:xfrm>
          <a:prstGeom prst="rect">
            <a:avLst/>
          </a:prstGeom>
          <a:noFill/>
          <a:ln/>
        </p:spPr>
        <p:txBody>
          <a:bodyPr wrap="square" lIns="0" tIns="0" rIns="0" bIns="0" rtlCol="0" anchor="t"/>
          <a:lstStyle/>
          <a:p>
            <a:pPr algn="ctr" indent="0" marL="0">
              <a:buNone/>
            </a:pPr>
            <a:r>
              <a:rPr lang="en-US" sz="1800" b="1" dirty="0">
                <a:solidFill>
                  <a:schemeClr val="tx2"/>
                </a:solidFill>
              </a:rPr>
              <a:t>Open Banking</a:t>
            </a:r>
            <a:endParaRPr lang="en-US" sz="1800" dirty="0"/>
          </a:p>
        </p:txBody>
      </p:sp>
      <p:sp>
        <p:nvSpPr>
          <p:cNvPr id="7" name="Text 5"/>
          <p:cNvSpPr txBox="1"/>
          <p:nvPr/>
        </p:nvSpPr>
        <p:spPr>
          <a:xfrm>
            <a:off x="685800" y="2926080"/>
            <a:ext cx="1944563" cy="1371600"/>
          </a:xfrm>
          <a:prstGeom prst="rect">
            <a:avLst/>
          </a:prstGeom>
          <a:noFill/>
          <a:ln/>
        </p:spPr>
        <p:txBody>
          <a:bodyPr wrap="square" lIns="0" tIns="0" rIns="0" bIns="0" rtlCol="0" anchor="t"/>
          <a:lstStyle/>
          <a:p>
            <a:pPr algn="ctr" indent="0" marL="0">
              <a:buNone/>
            </a:pPr>
            <a:r>
              <a:rPr lang="en-US" sz="1400" dirty="0">
                <a:solidFill>
                  <a:schemeClr val="tx1"/>
                </a:solidFill>
              </a:rPr>
              <a:t>Transactions and Direct Debits from any UK bank, with consent</a:t>
            </a:r>
            <a:endParaRPr lang="en-US" sz="1400" dirty="0"/>
          </a:p>
        </p:txBody>
      </p:sp>
      <p:sp>
        <p:nvSpPr>
          <p:cNvPr id="8" name="step 1"/>
          <p:cNvSpPr/>
          <p:nvPr/>
        </p:nvSpPr>
        <p:spPr>
          <a:xfrm>
            <a:off x="3511205" y="1508760"/>
            <a:ext cx="731520" cy="731520"/>
          </a:xfrm>
          <a:prstGeom prst="ellipse">
            <a:avLst/>
          </a:prstGeom>
          <a:solidFill>
            <a:schemeClr val="accent1"/>
          </a:solidFill>
          <a:ln w="38100">
            <a:solidFill>
              <a:schemeClr val="bg1"/>
            </a:solidFill>
            <a:prstDash val="solid"/>
          </a:ln>
        </p:spPr>
      </p:sp>
      <p:sp>
        <p:nvSpPr>
          <p:cNvPr id="9" name="Text 7"/>
          <p:cNvSpPr txBox="1"/>
          <p:nvPr/>
        </p:nvSpPr>
        <p:spPr>
          <a:xfrm>
            <a:off x="3511205" y="1508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8"/>
          <p:cNvSpPr txBox="1"/>
          <p:nvPr/>
        </p:nvSpPr>
        <p:spPr>
          <a:xfrm>
            <a:off x="2858963" y="2468880"/>
            <a:ext cx="2036003" cy="411480"/>
          </a:xfrm>
          <a:prstGeom prst="rect">
            <a:avLst/>
          </a:prstGeom>
          <a:noFill/>
          <a:ln/>
        </p:spPr>
        <p:txBody>
          <a:bodyPr wrap="square" lIns="0" tIns="0" rIns="0" bIns="0" rtlCol="0" anchor="t"/>
          <a:lstStyle/>
          <a:p>
            <a:pPr algn="ctr" indent="0" marL="0">
              <a:buNone/>
            </a:pPr>
            <a:r>
              <a:rPr lang="en-US" sz="1800" b="1" dirty="0">
                <a:solidFill>
                  <a:schemeClr val="tx2"/>
                </a:solidFill>
              </a:rPr>
              <a:t>Pilot</a:t>
            </a:r>
            <a:endParaRPr lang="en-US" sz="1800" dirty="0"/>
          </a:p>
        </p:txBody>
      </p:sp>
      <p:sp>
        <p:nvSpPr>
          <p:cNvPr id="11" name="Text 9"/>
          <p:cNvSpPr txBox="1"/>
          <p:nvPr/>
        </p:nvSpPr>
        <p:spPr>
          <a:xfrm>
            <a:off x="2904683" y="2926080"/>
            <a:ext cx="1944563" cy="1371600"/>
          </a:xfrm>
          <a:prstGeom prst="rect">
            <a:avLst/>
          </a:prstGeom>
          <a:noFill/>
          <a:ln/>
        </p:spPr>
        <p:txBody>
          <a:bodyPr wrap="square" lIns="0" tIns="0" rIns="0" bIns="0" rtlCol="0" anchor="t"/>
          <a:lstStyle/>
          <a:p>
            <a:pPr algn="ctr" indent="0" marL="0">
              <a:buNone/>
            </a:pPr>
            <a:r>
              <a:rPr lang="en-US" sz="1400" dirty="0">
                <a:solidFill>
                  <a:schemeClr val="tx1"/>
                </a:solidFill>
              </a:rPr>
              <a:t>Consenting mortgage customers; address update and home insurance live</a:t>
            </a:r>
            <a:endParaRPr lang="en-US" sz="1400" dirty="0"/>
          </a:p>
        </p:txBody>
      </p:sp>
      <p:sp>
        <p:nvSpPr>
          <p:cNvPr id="12" name="step 2"/>
          <p:cNvSpPr/>
          <p:nvPr/>
        </p:nvSpPr>
        <p:spPr>
          <a:xfrm>
            <a:off x="5730088" y="1508760"/>
            <a:ext cx="731520" cy="731520"/>
          </a:xfrm>
          <a:prstGeom prst="ellipse">
            <a:avLst/>
          </a:prstGeom>
          <a:solidFill>
            <a:schemeClr val="accent1"/>
          </a:solidFill>
          <a:ln w="38100">
            <a:solidFill>
              <a:schemeClr val="bg1"/>
            </a:solidFill>
            <a:prstDash val="solid"/>
          </a:ln>
        </p:spPr>
      </p:sp>
      <p:sp>
        <p:nvSpPr>
          <p:cNvPr id="13" name="Text 11"/>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Text 12"/>
          <p:cNvSpPr txBox="1"/>
          <p:nvPr/>
        </p:nvSpPr>
        <p:spPr>
          <a:xfrm>
            <a:off x="5077846" y="2468880"/>
            <a:ext cx="2036003" cy="411480"/>
          </a:xfrm>
          <a:prstGeom prst="rect">
            <a:avLst/>
          </a:prstGeom>
          <a:noFill/>
          <a:ln/>
        </p:spPr>
        <p:txBody>
          <a:bodyPr wrap="square" lIns="0" tIns="0" rIns="0" bIns="0" rtlCol="0" anchor="t"/>
          <a:lstStyle/>
          <a:p>
            <a:pPr algn="ctr" indent="0" marL="0">
              <a:buNone/>
            </a:pPr>
            <a:r>
              <a:rPr lang="en-US" sz="1800" b="1" dirty="0">
                <a:solidFill>
                  <a:schemeClr val="tx2"/>
                </a:solidFill>
              </a:rPr>
              <a:t>Partner APIs</a:t>
            </a:r>
            <a:endParaRPr lang="en-US" sz="1800" dirty="0"/>
          </a:p>
        </p:txBody>
      </p:sp>
      <p:sp>
        <p:nvSpPr>
          <p:cNvPr id="15" name="Text 13"/>
          <p:cNvSpPr txBox="1"/>
          <p:nvPr/>
        </p:nvSpPr>
        <p:spPr>
          <a:xfrm>
            <a:off x="5123566" y="2926080"/>
            <a:ext cx="1944563" cy="1371600"/>
          </a:xfrm>
          <a:prstGeom prst="rect">
            <a:avLst/>
          </a:prstGeom>
          <a:noFill/>
          <a:ln/>
        </p:spPr>
        <p:txBody>
          <a:bodyPr wrap="square" lIns="0" tIns="0" rIns="0" bIns="0" rtlCol="0" anchor="t"/>
          <a:lstStyle/>
          <a:p>
            <a:pPr algn="ctr" indent="0" marL="0">
              <a:buNone/>
            </a:pPr>
            <a:r>
              <a:rPr lang="en-US" sz="1400" dirty="0">
                <a:solidFill>
                  <a:schemeClr val="tx1"/>
                </a:solidFill>
              </a:rPr>
              <a:t>Energy, water and broadband providers</a:t>
            </a:r>
            <a:endParaRPr lang="en-US" sz="1400" dirty="0"/>
          </a:p>
        </p:txBody>
      </p:sp>
      <p:sp>
        <p:nvSpPr>
          <p:cNvPr id="16" name="step 3"/>
          <p:cNvSpPr/>
          <p:nvPr/>
        </p:nvSpPr>
        <p:spPr>
          <a:xfrm>
            <a:off x="7948971" y="1508760"/>
            <a:ext cx="731520" cy="731520"/>
          </a:xfrm>
          <a:prstGeom prst="ellipse">
            <a:avLst/>
          </a:prstGeom>
          <a:solidFill>
            <a:schemeClr val="accent1"/>
          </a:solidFill>
          <a:ln w="38100">
            <a:solidFill>
              <a:schemeClr val="bg1"/>
            </a:solidFill>
            <a:prstDash val="solid"/>
          </a:ln>
        </p:spPr>
      </p:sp>
      <p:sp>
        <p:nvSpPr>
          <p:cNvPr id="17" name="Text 15"/>
          <p:cNvSpPr txBox="1"/>
          <p:nvPr/>
        </p:nvSpPr>
        <p:spPr>
          <a:xfrm>
            <a:off x="7948971" y="1508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8" name="Text 16"/>
          <p:cNvSpPr txBox="1"/>
          <p:nvPr/>
        </p:nvSpPr>
        <p:spPr>
          <a:xfrm>
            <a:off x="7296729" y="2468880"/>
            <a:ext cx="2036003" cy="411480"/>
          </a:xfrm>
          <a:prstGeom prst="rect">
            <a:avLst/>
          </a:prstGeom>
          <a:noFill/>
          <a:ln/>
        </p:spPr>
        <p:txBody>
          <a:bodyPr wrap="square" lIns="0" tIns="0" rIns="0" bIns="0" rtlCol="0" anchor="t"/>
          <a:lstStyle/>
          <a:p>
            <a:pPr algn="ctr" indent="0" marL="0">
              <a:buNone/>
            </a:pPr>
            <a:r>
              <a:rPr lang="en-US" sz="1800" b="1" dirty="0">
                <a:solidFill>
                  <a:schemeClr val="tx2"/>
                </a:solidFill>
              </a:rPr>
              <a:t>gov.uk links</a:t>
            </a:r>
            <a:endParaRPr lang="en-US" sz="1800" dirty="0"/>
          </a:p>
        </p:txBody>
      </p:sp>
      <p:sp>
        <p:nvSpPr>
          <p:cNvPr id="19" name="Text 17"/>
          <p:cNvSpPr txBox="1"/>
          <p:nvPr/>
        </p:nvSpPr>
        <p:spPr>
          <a:xfrm>
            <a:off x="7342449" y="2926080"/>
            <a:ext cx="1944563" cy="1371600"/>
          </a:xfrm>
          <a:prstGeom prst="rect">
            <a:avLst/>
          </a:prstGeom>
          <a:noFill/>
          <a:ln/>
        </p:spPr>
        <p:txBody>
          <a:bodyPr wrap="square" lIns="0" tIns="0" rIns="0" bIns="0" rtlCol="0" anchor="t"/>
          <a:lstStyle/>
          <a:p>
            <a:pPr algn="ctr" indent="0" marL="0">
              <a:buNone/>
            </a:pPr>
            <a:r>
              <a:rPr lang="en-US" sz="1400" dirty="0">
                <a:solidFill>
                  <a:schemeClr val="tx1"/>
                </a:solidFill>
              </a:rPr>
              <a:t>Official change-of-address services as they open up</a:t>
            </a:r>
            <a:endParaRPr lang="en-US" sz="1400" dirty="0"/>
          </a:p>
        </p:txBody>
      </p:sp>
      <p:sp>
        <p:nvSpPr>
          <p:cNvPr id="20" name="step 4"/>
          <p:cNvSpPr/>
          <p:nvPr/>
        </p:nvSpPr>
        <p:spPr>
          <a:xfrm>
            <a:off x="10167854" y="1508760"/>
            <a:ext cx="731520" cy="731520"/>
          </a:xfrm>
          <a:prstGeom prst="ellipse">
            <a:avLst/>
          </a:prstGeom>
          <a:solidFill>
            <a:schemeClr val="accent1"/>
          </a:solidFill>
          <a:ln w="38100">
            <a:solidFill>
              <a:schemeClr val="bg1"/>
            </a:solidFill>
            <a:prstDash val="solid"/>
          </a:ln>
        </p:spPr>
      </p:sp>
      <p:sp>
        <p:nvSpPr>
          <p:cNvPr id="21" name="Text 19"/>
          <p:cNvSpPr txBox="1"/>
          <p:nvPr/>
        </p:nvSpPr>
        <p:spPr>
          <a:xfrm>
            <a:off x="10167854" y="15087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2" name="Text 20"/>
          <p:cNvSpPr txBox="1"/>
          <p:nvPr/>
        </p:nvSpPr>
        <p:spPr>
          <a:xfrm>
            <a:off x="9515612" y="2468880"/>
            <a:ext cx="2036003" cy="411480"/>
          </a:xfrm>
          <a:prstGeom prst="rect">
            <a:avLst/>
          </a:prstGeom>
          <a:noFill/>
          <a:ln/>
        </p:spPr>
        <p:txBody>
          <a:bodyPr wrap="square" lIns="0" tIns="0" rIns="0" bIns="0" rtlCol="0" anchor="t"/>
          <a:lstStyle/>
          <a:p>
            <a:pPr algn="ctr" indent="0" marL="0">
              <a:buNone/>
            </a:pPr>
            <a:r>
              <a:rPr lang="en-US" sz="1800" b="1" dirty="0">
                <a:solidFill>
                  <a:schemeClr val="tx2"/>
                </a:solidFill>
              </a:rPr>
              <a:t>New journeys</a:t>
            </a:r>
            <a:endParaRPr lang="en-US" sz="1800" dirty="0"/>
          </a:p>
        </p:txBody>
      </p:sp>
      <p:sp>
        <p:nvSpPr>
          <p:cNvPr id="23" name="Text 21"/>
          <p:cNvSpPr txBox="1"/>
          <p:nvPr/>
        </p:nvSpPr>
        <p:spPr>
          <a:xfrm>
            <a:off x="9561332" y="2926080"/>
            <a:ext cx="1944563" cy="1371600"/>
          </a:xfrm>
          <a:prstGeom prst="rect">
            <a:avLst/>
          </a:prstGeom>
          <a:noFill/>
          <a:ln/>
        </p:spPr>
        <p:txBody>
          <a:bodyPr wrap="square" lIns="0" tIns="0" rIns="0" bIns="0" rtlCol="0" anchor="t"/>
          <a:lstStyle/>
          <a:p>
            <a:pPr algn="ctr" indent="0" marL="0">
              <a:buNone/>
            </a:pPr>
            <a:r>
              <a:rPr lang="en-US" sz="1400" dirty="0">
                <a:solidFill>
                  <a:schemeClr val="tx1"/>
                </a:solidFill>
              </a:rPr>
              <a:t>Business premises moves, bereavement, marriage, a new baby</a:t>
            </a:r>
            <a:endParaRPr lang="en-US" sz="1400" dirty="0"/>
          </a:p>
        </p:txBody>
      </p:sp>
      <p:sp>
        <p:nvSpPr>
          <p:cNvPr id="24" name="production"/>
          <p:cNvSpPr/>
          <p:nvPr/>
        </p:nvSpPr>
        <p:spPr>
          <a:xfrm>
            <a:off x="548640" y="4709160"/>
            <a:ext cx="11094415" cy="1280160"/>
          </a:xfrm>
          <a:prstGeom prst="roundRect">
            <a:avLst>
              <a:gd name="adj" fmla="val 5714"/>
            </a:avLst>
          </a:prstGeom>
          <a:solidFill>
            <a:schemeClr val="bg2"/>
          </a:solidFill>
          <a:ln w="12700">
            <a:solidFill>
              <a:schemeClr val="bg2"/>
            </a:solidFill>
            <a:prstDash val="solid"/>
          </a:ln>
        </p:spPr>
      </p:sp>
      <p:sp>
        <p:nvSpPr>
          <p:cNvPr id="25" name="Text 23"/>
          <p:cNvSpPr txBox="1"/>
          <p:nvPr/>
        </p:nvSpPr>
        <p:spPr>
          <a:xfrm>
            <a:off x="868680" y="4709160"/>
            <a:ext cx="10454335" cy="1280160"/>
          </a:xfrm>
          <a:prstGeom prst="rect">
            <a:avLst/>
          </a:prstGeom>
          <a:noFill/>
          <a:ln/>
        </p:spPr>
        <p:txBody>
          <a:bodyPr wrap="square" lIns="0" tIns="0" rIns="0" bIns="0" rtlCol="0" anchor="ctr"/>
          <a:lstStyle/>
          <a:p>
            <a:pPr indent="0" marL="0">
              <a:buNone/>
            </a:pPr>
            <a:r>
              <a:rPr lang="en-US" sz="1600" b="1" dirty="0">
                <a:solidFill>
                  <a:schemeClr val="tx2"/>
                </a:solidFill>
              </a:rPr>
              <a:t>Production work:  </a:t>
            </a:r>
            <a:pPr indent="0" marL="0">
              <a:buNone/>
            </a:pPr>
            <a:r>
              <a:rPr lang="en-US" sz="1600" dirty="0">
                <a:solidFill>
                  <a:schemeClr val="tx1"/>
                </a:solidFill>
              </a:rPr>
              <a:t>Consumer Duty review, authority to act for the customer, data-sharing agreements, managed encryption keys, short-lived sessions kept out of server logs, and model risk governance.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9494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Let's see it</a:t>
            </a:r>
            <a:endParaRPr lang="en-US" sz="5400" dirty="0"/>
          </a:p>
        </p:txBody>
      </p:sp>
      <p:sp>
        <p:nvSpPr>
          <p:cNvPr id="3" name="Text 0"/>
          <p:cNvSpPr/>
          <p:nvPr>
            <p:ph idx="101" type="body" hasCustomPrompt="1"/>
          </p:nvPr>
        </p:nvSpPr>
        <p:spPr>
          <a:xfrm>
            <a:off x="548640" y="3200400"/>
            <a:ext cx="6949440" cy="914400"/>
          </a:xfrm>
          <a:prstGeom prst="rect">
            <a:avLst/>
          </a:prstGeom>
          <a:noFill/>
          <a:ln/>
        </p:spPr>
        <p:txBody>
          <a:bodyPr wrap="square" lIns="0" tIns="0" rIns="0" bIns="0" rtlCol="0" anchor="t"/>
          <a:lstStyle/>
          <a:p>
            <a:pPr algn="l" indent="0" marL="0">
              <a:buNone/>
            </a:pPr>
            <a:r>
              <a:rPr lang="en-US" sz="2200" dirty="0">
                <a:solidFill>
                  <a:schemeClr val="bg2"/>
                </a:solidFill>
              </a:rPr>
              <a:t>Live demo: the House Move app and nsflow</a:t>
            </a:r>
            <a:endParaRPr lang="en-US" sz="2200" dirty="0"/>
          </a:p>
        </p:txBody>
      </p:sp>
      <p:sp>
        <p:nvSpPr>
          <p:cNvPr id="4" name="Text 2"/>
          <p:cNvSpPr txBox="1"/>
          <p:nvPr/>
        </p:nvSpPr>
        <p:spPr>
          <a:xfrm>
            <a:off x="548640" y="4297680"/>
            <a:ext cx="6400800" cy="54864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Thank you</a:t>
            </a:r>
            <a:endParaRPr lang="en-US" sz="2600" dirty="0"/>
          </a:p>
        </p:txBody>
      </p:sp>
      <p:sp>
        <p:nvSpPr>
          <p:cNvPr id="5" name="Text 3"/>
          <p:cNvSpPr txBox="1"/>
          <p:nvPr/>
        </p:nvSpPr>
        <p:spPr>
          <a:xfrm>
            <a:off x="548640" y="5943600"/>
            <a:ext cx="10058400" cy="320040"/>
          </a:xfrm>
          <a:prstGeom prst="rect">
            <a:avLst/>
          </a:prstGeom>
          <a:noFill/>
          <a:ln/>
        </p:spPr>
        <p:txBody>
          <a:bodyPr wrap="square" lIns="0" tIns="0" rIns="0" bIns="0" rtlCol="0" anchor="t"/>
          <a:lstStyle/>
          <a:p>
            <a:pPr indent="0" marL="0">
              <a:buNone/>
            </a:pPr>
            <a:r>
              <a:rPr lang="en-US" sz="1200" dirty="0">
                <a:solidFill>
                  <a:schemeClr val="accent5"/>
                </a:solidFill>
              </a:rPr>
              <a:t>EMEA Hackathon 2026  ·  Entry by associate 110737  ·  Varadaraj.pandurangan@cognizant.com  ·  BFS UK</a:t>
            </a:r>
            <a:endParaRPr lang="en-US" sz="1200" dirty="0"/>
          </a:p>
        </p:txBody>
      </p:sp>
      <p:sp>
        <p:nvSpPr>
          <p:cNvPr id="6" name="close circle"/>
          <p:cNvSpPr/>
          <p:nvPr/>
        </p:nvSpPr>
        <p:spPr>
          <a:xfrm>
            <a:off x="8366760" y="1417320"/>
            <a:ext cx="3108960" cy="3108960"/>
          </a:xfrm>
          <a:prstGeom prst="ellipse">
            <a:avLst/>
          </a:prstGeom>
          <a:solidFill>
            <a:schemeClr val="accent1"/>
          </a:solidFill>
          <a:ln w="12700">
            <a:solidFill>
              <a:schemeClr val="accent1"/>
            </a:solidFill>
            <a:prstDash val="solid"/>
          </a:ln>
        </p:spPr>
      </p:sp>
      <p:pic>
        <p:nvPicPr>
          <p:cNvPr id="7" name="close icon" descr="Keys to a new home">    </p:cNvPr>
          <p:cNvPicPr>
            <a:picLocks noChangeAspect="1"/>
          </p:cNvPicPr>
          <p:nvPr/>
        </p:nvPicPr>
        <p:blipFill>
          <a:blip r:embed="rId1"/>
          <a:stretch>
            <a:fillRect/>
          </a:stretch>
        </p:blipFill>
        <p:spPr>
          <a:xfrm>
            <a:off x="9098280" y="2148840"/>
            <a:ext cx="1645920" cy="1645920"/>
          </a:xfrm>
          <a:prstGeom prst="rect">
            <a:avLst/>
          </a:prstGeom>
        </p:spPr>
      </p:pic>
    </p:spTree>
  </p:cSld>
  <p:clrMapOvr>
    <a:masterClrMapping/>
  </p:clrMapOvr>
</p:sld>
</file>

<file path=ppt/theme/theme1.xml><?xml version="1.0" encoding="utf-8"?>
<a:theme xmlns:a="http://schemas.openxmlformats.org/drawingml/2006/main" name="House Move">
  <a:themeElements>
    <a:clrScheme name="House Move">
      <a:dk1>
        <a:srgbClr val="1B2B2E"/>
      </a:dk1>
      <a:lt1>
        <a:srgbClr val="FFFFFF"/>
      </a:lt1>
      <a:dk2>
        <a:srgbClr val="17403C"/>
      </a:dk2>
      <a:lt2>
        <a:srgbClr val="EDF3F1"/>
      </a:lt2>
      <a:accent1>
        <a:srgbClr val="1F6F66"/>
      </a:accent1>
      <a:accent2>
        <a:srgbClr val="D9694B"/>
      </a:accent2>
      <a:accent3>
        <a:srgbClr val="E9A93B"/>
      </a:accent3>
      <a:accent4>
        <a:srgbClr val="3D5A80"/>
      </a:accent4>
      <a:accent5>
        <a:srgbClr val="8AB0A8"/>
      </a:accent5>
      <a:accent6>
        <a:srgbClr val="B23A48"/>
      </a:accent6>
      <a:hlink>
        <a:srgbClr val="1F6F66"/>
      </a:hlink>
      <a:folHlink>
        <a:srgbClr val="3D5A80"/>
      </a:folHlink>
    </a:clrScheme>
    <a:fontScheme name="House Mo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Move Agent</dc:title>
  <dc:subject>PptxGenJS Presentation</dc:subject>
  <dc:creator>Varadaraj Pandurangan</dc:creator>
  <cp:lastModifiedBy>Varadaraj Pandurangan</cp:lastModifiedBy>
  <cp:revision>1</cp:revision>
  <dcterms:created xsi:type="dcterms:W3CDTF">2026-10-23T17:35:24Z</dcterms:created>
  <dcterms:modified xsi:type="dcterms:W3CDTF">2026-10-23T17:35:24Z</dcterms:modified>
</cp:coreProperties>
</file>